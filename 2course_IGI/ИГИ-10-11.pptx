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221"/>
  </p:notesMasterIdLst>
  <p:handoutMasterIdLst>
    <p:handoutMasterId r:id="rId222"/>
  </p:handoutMasterIdLst>
  <p:sldIdLst>
    <p:sldId id="280" r:id="rId2"/>
    <p:sldId id="433" r:id="rId3"/>
    <p:sldId id="624" r:id="rId4"/>
    <p:sldId id="626" r:id="rId5"/>
    <p:sldId id="625" r:id="rId6"/>
    <p:sldId id="627" r:id="rId7"/>
    <p:sldId id="628" r:id="rId8"/>
    <p:sldId id="629" r:id="rId9"/>
    <p:sldId id="630" r:id="rId10"/>
    <p:sldId id="631" r:id="rId11"/>
    <p:sldId id="632" r:id="rId12"/>
    <p:sldId id="634" r:id="rId13"/>
    <p:sldId id="633" r:id="rId14"/>
    <p:sldId id="635" r:id="rId15"/>
    <p:sldId id="636" r:id="rId16"/>
    <p:sldId id="637" r:id="rId17"/>
    <p:sldId id="638" r:id="rId18"/>
    <p:sldId id="639" r:id="rId19"/>
    <p:sldId id="640" r:id="rId20"/>
    <p:sldId id="641" r:id="rId21"/>
    <p:sldId id="642" r:id="rId22"/>
    <p:sldId id="643" r:id="rId23"/>
    <p:sldId id="644" r:id="rId24"/>
    <p:sldId id="645" r:id="rId25"/>
    <p:sldId id="646" r:id="rId26"/>
    <p:sldId id="647" r:id="rId27"/>
    <p:sldId id="649" r:id="rId28"/>
    <p:sldId id="648" r:id="rId29"/>
    <p:sldId id="650" r:id="rId30"/>
    <p:sldId id="652" r:id="rId31"/>
    <p:sldId id="792" r:id="rId32"/>
    <p:sldId id="793" r:id="rId33"/>
    <p:sldId id="654" r:id="rId34"/>
    <p:sldId id="655" r:id="rId35"/>
    <p:sldId id="657" r:id="rId36"/>
    <p:sldId id="658" r:id="rId37"/>
    <p:sldId id="656" r:id="rId38"/>
    <p:sldId id="653" r:id="rId39"/>
    <p:sldId id="659" r:id="rId40"/>
    <p:sldId id="795" r:id="rId41"/>
    <p:sldId id="660" r:id="rId42"/>
    <p:sldId id="662" r:id="rId43"/>
    <p:sldId id="661" r:id="rId44"/>
    <p:sldId id="663" r:id="rId45"/>
    <p:sldId id="664" r:id="rId46"/>
    <p:sldId id="665" r:id="rId47"/>
    <p:sldId id="666" r:id="rId48"/>
    <p:sldId id="667" r:id="rId49"/>
    <p:sldId id="668" r:id="rId50"/>
    <p:sldId id="671" r:id="rId51"/>
    <p:sldId id="673" r:id="rId52"/>
    <p:sldId id="672" r:id="rId53"/>
    <p:sldId id="674" r:id="rId54"/>
    <p:sldId id="675" r:id="rId55"/>
    <p:sldId id="676" r:id="rId56"/>
    <p:sldId id="677" r:id="rId57"/>
    <p:sldId id="678" r:id="rId58"/>
    <p:sldId id="679" r:id="rId59"/>
    <p:sldId id="680" r:id="rId60"/>
    <p:sldId id="681" r:id="rId61"/>
    <p:sldId id="682" r:id="rId62"/>
    <p:sldId id="683" r:id="rId63"/>
    <p:sldId id="684" r:id="rId64"/>
    <p:sldId id="685" r:id="rId65"/>
    <p:sldId id="686" r:id="rId66"/>
    <p:sldId id="687" r:id="rId67"/>
    <p:sldId id="688" r:id="rId68"/>
    <p:sldId id="689" r:id="rId69"/>
    <p:sldId id="690" r:id="rId70"/>
    <p:sldId id="692" r:id="rId71"/>
    <p:sldId id="696" r:id="rId72"/>
    <p:sldId id="697" r:id="rId73"/>
    <p:sldId id="698" r:id="rId74"/>
    <p:sldId id="691" r:id="rId75"/>
    <p:sldId id="695" r:id="rId76"/>
    <p:sldId id="693" r:id="rId77"/>
    <p:sldId id="694" r:id="rId78"/>
    <p:sldId id="699" r:id="rId79"/>
    <p:sldId id="700" r:id="rId80"/>
    <p:sldId id="701" r:id="rId81"/>
    <p:sldId id="703" r:id="rId82"/>
    <p:sldId id="704" r:id="rId83"/>
    <p:sldId id="705" r:id="rId84"/>
    <p:sldId id="706" r:id="rId85"/>
    <p:sldId id="707" r:id="rId86"/>
    <p:sldId id="708" r:id="rId87"/>
    <p:sldId id="709" r:id="rId88"/>
    <p:sldId id="710" r:id="rId89"/>
    <p:sldId id="711" r:id="rId90"/>
    <p:sldId id="761" r:id="rId91"/>
    <p:sldId id="796" r:id="rId92"/>
    <p:sldId id="712" r:id="rId93"/>
    <p:sldId id="714" r:id="rId94"/>
    <p:sldId id="716" r:id="rId95"/>
    <p:sldId id="715" r:id="rId96"/>
    <p:sldId id="717" r:id="rId97"/>
    <p:sldId id="718" r:id="rId98"/>
    <p:sldId id="719" r:id="rId99"/>
    <p:sldId id="721" r:id="rId100"/>
    <p:sldId id="720" r:id="rId101"/>
    <p:sldId id="723" r:id="rId102"/>
    <p:sldId id="763" r:id="rId103"/>
    <p:sldId id="722" r:id="rId104"/>
    <p:sldId id="725" r:id="rId105"/>
    <p:sldId id="726" r:id="rId106"/>
    <p:sldId id="727" r:id="rId107"/>
    <p:sldId id="728" r:id="rId108"/>
    <p:sldId id="729" r:id="rId109"/>
    <p:sldId id="730" r:id="rId110"/>
    <p:sldId id="731" r:id="rId111"/>
    <p:sldId id="732" r:id="rId112"/>
    <p:sldId id="733" r:id="rId113"/>
    <p:sldId id="734" r:id="rId114"/>
    <p:sldId id="762" r:id="rId115"/>
    <p:sldId id="736" r:id="rId116"/>
    <p:sldId id="748" r:id="rId117"/>
    <p:sldId id="737" r:id="rId118"/>
    <p:sldId id="739" r:id="rId119"/>
    <p:sldId id="738" r:id="rId120"/>
    <p:sldId id="749" r:id="rId121"/>
    <p:sldId id="750" r:id="rId122"/>
    <p:sldId id="751" r:id="rId123"/>
    <p:sldId id="753" r:id="rId124"/>
    <p:sldId id="754" r:id="rId125"/>
    <p:sldId id="752" r:id="rId126"/>
    <p:sldId id="755" r:id="rId127"/>
    <p:sldId id="756" r:id="rId128"/>
    <p:sldId id="757" r:id="rId129"/>
    <p:sldId id="764" r:id="rId130"/>
    <p:sldId id="758" r:id="rId131"/>
    <p:sldId id="759" r:id="rId132"/>
    <p:sldId id="760" r:id="rId133"/>
    <p:sldId id="740" r:id="rId134"/>
    <p:sldId id="741" r:id="rId135"/>
    <p:sldId id="743" r:id="rId136"/>
    <p:sldId id="744" r:id="rId137"/>
    <p:sldId id="745" r:id="rId138"/>
    <p:sldId id="746" r:id="rId139"/>
    <p:sldId id="747" r:id="rId140"/>
    <p:sldId id="765" r:id="rId141"/>
    <p:sldId id="766" r:id="rId142"/>
    <p:sldId id="767" r:id="rId143"/>
    <p:sldId id="808" r:id="rId144"/>
    <p:sldId id="840" r:id="rId145"/>
    <p:sldId id="809" r:id="rId146"/>
    <p:sldId id="807" r:id="rId147"/>
    <p:sldId id="810" r:id="rId148"/>
    <p:sldId id="811" r:id="rId149"/>
    <p:sldId id="812" r:id="rId150"/>
    <p:sldId id="813" r:id="rId151"/>
    <p:sldId id="814" r:id="rId152"/>
    <p:sldId id="815" r:id="rId153"/>
    <p:sldId id="816" r:id="rId154"/>
    <p:sldId id="817" r:id="rId155"/>
    <p:sldId id="818" r:id="rId156"/>
    <p:sldId id="819" r:id="rId157"/>
    <p:sldId id="820" r:id="rId158"/>
    <p:sldId id="821" r:id="rId159"/>
    <p:sldId id="841" r:id="rId160"/>
    <p:sldId id="842" r:id="rId161"/>
    <p:sldId id="822" r:id="rId162"/>
    <p:sldId id="823" r:id="rId163"/>
    <p:sldId id="825" r:id="rId164"/>
    <p:sldId id="826" r:id="rId165"/>
    <p:sldId id="827" r:id="rId166"/>
    <p:sldId id="828" r:id="rId167"/>
    <p:sldId id="824" r:id="rId168"/>
    <p:sldId id="829" r:id="rId169"/>
    <p:sldId id="831" r:id="rId170"/>
    <p:sldId id="832" r:id="rId171"/>
    <p:sldId id="833" r:id="rId172"/>
    <p:sldId id="834" r:id="rId173"/>
    <p:sldId id="835" r:id="rId174"/>
    <p:sldId id="836" r:id="rId175"/>
    <p:sldId id="830" r:id="rId176"/>
    <p:sldId id="843" r:id="rId177"/>
    <p:sldId id="837" r:id="rId178"/>
    <p:sldId id="838" r:id="rId179"/>
    <p:sldId id="839" r:id="rId180"/>
    <p:sldId id="768" r:id="rId181"/>
    <p:sldId id="769" r:id="rId182"/>
    <p:sldId id="770" r:id="rId183"/>
    <p:sldId id="771" r:id="rId184"/>
    <p:sldId id="772" r:id="rId185"/>
    <p:sldId id="773" r:id="rId186"/>
    <p:sldId id="774" r:id="rId187"/>
    <p:sldId id="775" r:id="rId188"/>
    <p:sldId id="777" r:id="rId189"/>
    <p:sldId id="778" r:id="rId190"/>
    <p:sldId id="779" r:id="rId191"/>
    <p:sldId id="776" r:id="rId192"/>
    <p:sldId id="780" r:id="rId193"/>
    <p:sldId id="781" r:id="rId194"/>
    <p:sldId id="783" r:id="rId195"/>
    <p:sldId id="782" r:id="rId196"/>
    <p:sldId id="784" r:id="rId197"/>
    <p:sldId id="785" r:id="rId198"/>
    <p:sldId id="786" r:id="rId199"/>
    <p:sldId id="787" r:id="rId200"/>
    <p:sldId id="788" r:id="rId201"/>
    <p:sldId id="789" r:id="rId202"/>
    <p:sldId id="790" r:id="rId203"/>
    <p:sldId id="791" r:id="rId204"/>
    <p:sldId id="844" r:id="rId205"/>
    <p:sldId id="845" r:id="rId206"/>
    <p:sldId id="846" r:id="rId207"/>
    <p:sldId id="670" r:id="rId208"/>
    <p:sldId id="713" r:id="rId209"/>
    <p:sldId id="794" r:id="rId210"/>
    <p:sldId id="797" r:id="rId211"/>
    <p:sldId id="798" r:id="rId212"/>
    <p:sldId id="799" r:id="rId213"/>
    <p:sldId id="800" r:id="rId214"/>
    <p:sldId id="801" r:id="rId215"/>
    <p:sldId id="802" r:id="rId216"/>
    <p:sldId id="803" r:id="rId217"/>
    <p:sldId id="804" r:id="rId218"/>
    <p:sldId id="805" r:id="rId219"/>
    <p:sldId id="806" r:id="rId220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9BA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57" autoAdjust="0"/>
    <p:restoredTop sz="76661" autoAdjust="0"/>
  </p:normalViewPr>
  <p:slideViewPr>
    <p:cSldViewPr snapToGrid="0">
      <p:cViewPr varScale="1">
        <p:scale>
          <a:sx n="57" d="100"/>
          <a:sy n="57" d="100"/>
        </p:scale>
        <p:origin x="159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notesMaster" Target="notesMasters/notesMaster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handoutMaster" Target="handoutMasters/handout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presProps" Target="pres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viewProps" Target="view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1%80%D0%BE%D1%81%D1%82%D1%80%D0%B0%D0%BD%D1%81%D1%82%D0%B2%D0%BE_%D0%B8%D0%BC%D1%91%D0%BD_(%D0%BF%D1%80%D0%BE%D0%B3%D1%80%D0%B0%D0%BC%D0%BC%D0%B8%D1%80%D0%BE%D0%B2%D0%B0%D0%BD%D0%B8%D0%B5)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ll-python.ru/osnovy/os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93%D0%B5%D0%BE%D0%BC%D0%B5%D1%82%D1%80%D0%B8%D1%87%D0%B5%D1%81%D0%BA%D0%B8%D0%B9_%D1%86%D0%B5%D0%BD%D1%82%D1%80" TargetMode="External"/><Relationship Id="rId3" Type="http://schemas.openxmlformats.org/officeDocument/2006/relationships/hyperlink" Target="https://docs.python.org/3/library/statistics.html" TargetMode="External"/><Relationship Id="rId7" Type="http://schemas.openxmlformats.org/officeDocument/2006/relationships/hyperlink" Target="https://ru.wikipedia.org/wiki/%D0%90%D0%B1%D1%81%D0%BE%D0%BB%D1%8E%D1%82%D0%BD%D0%B0%D1%8F_%D0%B2%D0%B5%D0%BB%D0%B8%D1%87%D0%B8%D0%BD%D0%B0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C%D0%B5%D0%B4%D0%B8%D0%B0%D0%BD%D0%B0_(%D1%81%D1%82%D0%B0%D1%82%D0%B8%D1%81%D1%82%D0%B8%D0%BA%D0%B0)#cite_note-1" TargetMode="External"/><Relationship Id="rId5" Type="http://schemas.openxmlformats.org/officeDocument/2006/relationships/hyperlink" Target="https://ru.wiktionary.org/wiki/en:mediana#Latin" TargetMode="External"/><Relationship Id="rId10" Type="http://schemas.openxmlformats.org/officeDocument/2006/relationships/hyperlink" Target="https://ru.wikipedia.org/wiki/%D0%A1%D1%80%D0%B5%D0%B4%D0%BD%D0%B8%D0%B5_%D0%B2%D0%B5%D0%BB%D0%B8%D1%87%D0%B8%D0%BD%D1%8B" TargetMode="External"/><Relationship Id="rId4" Type="http://schemas.openxmlformats.org/officeDocument/2006/relationships/hyperlink" Target="https://ru.wikipedia.org/wiki/%D0%9B%D0%B0%D1%82%D0%B8%D0%BD%D1%81%D0%BA%D0%B8%D0%B9_%D1%8F%D0%B7%D1%8B%D0%BA" TargetMode="External"/><Relationship Id="rId9" Type="http://schemas.openxmlformats.org/officeDocument/2006/relationships/hyperlink" Target="https://ru.wikipedia.org/wiki/%D0%9D%D0%BE%D1%80%D0%BC%D0%B0%D0%BB%D1%8C%D0%BD%D0%BE%D0%B5_%D1%80%D0%B0%D1%81%D0%BF%D1%80%D0%B5%D0%B4%D0%B5%D0%BB%D0%B5%D0%BD%D0%B8%D0%B5" TargetMode="Externa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7%D0%B0%D1%81%D0%BE%D0%B2%D0%BE%D0%B9_%D0%BF%D0%BE%D1%8F%D1%81" TargetMode="External"/><Relationship Id="rId13" Type="http://schemas.openxmlformats.org/officeDocument/2006/relationships/hyperlink" Target="https://ru.wikipedia.org/wiki/%D0%9F%D1%80%D0%BE%D0%B3%D1%80%D0%B0%D0%BC%D0%BC%D0%BD%D0%BE%D0%B5_%D0%BE%D0%B1%D0%B5%D1%81%D0%BF%D0%B5%D1%87%D0%B5%D0%BD%D0%B8%D0%B5" TargetMode="External"/><Relationship Id="rId3" Type="http://schemas.openxmlformats.org/officeDocument/2006/relationships/hyperlink" Target="https://ru.wikipedia.org/wiki/%D0%96%D0%B0%D1%80%D0%B3%D0%BE%D0%BD" TargetMode="External"/><Relationship Id="rId7" Type="http://schemas.openxmlformats.org/officeDocument/2006/relationships/hyperlink" Target="https://ru.wikipedia.org/wiki/%D0%A1%D1%82%D1%80%D0%B0%D0%BD%D0%B0" TargetMode="External"/><Relationship Id="rId12" Type="http://schemas.openxmlformats.org/officeDocument/2006/relationships/hyperlink" Target="https://ru.wikipedia.org/wiki/%D0%9F%D0%BE%D0%BB%D1%8C%D0%B7%D0%BE%D0%B2%D0%B0%D1%82%D0%B5%D0%BB%D1%8C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F%D0%BE%D0%BB%D1%8C%D0%B7%D0%BE%D0%B2%D0%B0%D1%82%D0%B5%D0%BB%D1%8C%D1%81%D0%BA%D0%B8%D0%B9_%D0%B8%D0%BD%D1%82%D0%B5%D1%80%D1%84%D0%B5%D0%B9%D1%81" TargetMode="External"/><Relationship Id="rId11" Type="http://schemas.openxmlformats.org/officeDocument/2006/relationships/hyperlink" Target="https://ru.wikipedia.org/wiki/%D0%9B%D0%BE%D0%BA%D0%B0%D0%BB%D0%B8%D0%B7%D0%B0%D1%86%D0%B8%D1%8F_%D0%BF%D1%80%D0%BE%D0%B3%D1%80%D0%B0%D0%BC%D0%BC%D0%BD%D0%BE%D0%B3%D0%BE_%D0%BE%D0%B1%D0%B5%D1%81%D0%BF%D0%B5%D1%87%D0%B5%D0%BD%D0%B8%D1%8F" TargetMode="External"/><Relationship Id="rId5" Type="http://schemas.openxmlformats.org/officeDocument/2006/relationships/hyperlink" Target="https://ru.wikipedia.org/wiki/%D0%9C%D0%B5%D0%B6%D0%B4%D1%83%D0%BD%D0%B0%D1%80%D0%BE%D0%B4%D0%BD%D1%8B%D0%B9_%D1%84%D0%BE%D0%BD%D0%B5%D1%82%D0%B8%D1%87%D0%B5%D1%81%D0%BA%D0%B8%D0%B9_%D0%B0%D0%BB%D1%84%D0%B0%D0%B2%D0%B8%D1%82" TargetMode="External"/><Relationship Id="rId10" Type="http://schemas.openxmlformats.org/officeDocument/2006/relationships/hyperlink" Target="https://ru.wikipedia.org/wiki/%D0%94%D0%B5%D0%BD%D0%B5%D0%B6%D0%BD%D0%B0%D1%8F_%D0%B5%D0%B4%D0%B8%D0%BD%D0%B8%D1%86%D0%B0" TargetMode="External"/><Relationship Id="rId4" Type="http://schemas.openxmlformats.org/officeDocument/2006/relationships/hyperlink" Target="https://ru.wikipedia.org/wiki/%D0%90%D0%BD%D0%B3%D0%BB%D0%B8%D0%B9%D1%81%D0%BA%D0%B8%D0%B9_%D1%8F%D0%B7%D1%8B%D0%BA" TargetMode="External"/><Relationship Id="rId9" Type="http://schemas.openxmlformats.org/officeDocument/2006/relationships/hyperlink" Target="https://ru.wikipedia.org/wiki/%D0%9D%D0%B0%D0%B1%D0%BE%D1%80_%D1%81%D0%B8%D0%BC%D0%B2%D0%BE%D0%BB%D0%BE%D0%B2" TargetMode="Externa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nu.org/software/libc/manual/html_node/Formatting-Calendar-Time.html" TargetMode="External"/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UNIX-%D0%B2%D1%80%D0%B5%D0%BC%D1%8F" TargetMode="External"/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u.wikipedia.org/wiki/%D0%9F%D1%80%D0%BE%D0%B1%D0%BB%D0%B5%D0%BC%D0%B0_2000_%D0%B3%D0%BE%D0%B4%D0%B0" TargetMode="External"/><Relationship Id="rId4" Type="http://schemas.openxmlformats.org/officeDocument/2006/relationships/hyperlink" Target="https://ru.wikipedia.org/wiki/%D0%9F%D1%80%D0%BE%D0%B1%D0%BB%D0%B5%D0%BC%D0%B0_2038_%D0%B3%D0%BE%D0%B4%D0%B0" TargetMode="External"/></Relationships>
</file>

<file path=ppt/notesSlides/_rels/notes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UNIX-%D0%B2%D1%80%D0%B5%D0%BC%D1%8F" TargetMode="External"/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u.wikipedia.org/wiki/%D0%9F%D1%80%D0%BE%D0%B1%D0%BB%D0%B5%D0%BC%D0%B0_2000_%D0%B3%D0%BE%D0%B4%D0%B0" TargetMode="External"/><Relationship Id="rId4" Type="http://schemas.openxmlformats.org/officeDocument/2006/relationships/hyperlink" Target="https://ru.wikipedia.org/wiki/%D0%9F%D1%80%D0%BE%D0%B1%D0%BB%D0%B5%D0%BC%D0%B0_2038_%D0%B3%D0%BE%D0%B4%D0%B0" TargetMode="External"/></Relationships>
</file>

<file path=ppt/notesSlides/_rels/notesSlide88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Tz_database#cite_note-2" TargetMode="External"/><Relationship Id="rId13" Type="http://schemas.openxmlformats.org/officeDocument/2006/relationships/hyperlink" Target="https://ru.wikipedia.org/wiki/Tz_database#cite_note-6" TargetMode="External"/><Relationship Id="rId3" Type="http://schemas.openxmlformats.org/officeDocument/2006/relationships/hyperlink" Target="https://pytz.sourceforge.net/" TargetMode="External"/><Relationship Id="rId7" Type="http://schemas.openxmlformats.org/officeDocument/2006/relationships/hyperlink" Target="https://ru.wikipedia.org/wiki/%D0%9F%D1%80%D0%BE%D0%B3%D1%80%D0%B0%D0%BC%D0%BC%D0%B8%D1%80%D0%BE%D0%B2%D0%B0%D0%BD%D0%B8%D0%B5" TargetMode="External"/><Relationship Id="rId12" Type="http://schemas.openxmlformats.org/officeDocument/2006/relationships/hyperlink" Target="https://ru.wikipedia.org/wiki/UNIX-%D0%B2%D1%80%D0%B5%D0%BC%D1%8F" TargetMode="External"/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E%D0%BF%D0%B5%D1%80%D0%B0%D1%86%D0%B8%D0%BE%D0%BD%D0%BD%D0%B0%D1%8F_%D1%81%D0%B8%D1%81%D1%82%D0%B5%D0%BC%D0%B0" TargetMode="External"/><Relationship Id="rId11" Type="http://schemas.openxmlformats.org/officeDocument/2006/relationships/hyperlink" Target="https://ru.wikipedia.org/wiki/Tz_database#cite_note-5" TargetMode="External"/><Relationship Id="rId5" Type="http://schemas.openxmlformats.org/officeDocument/2006/relationships/hyperlink" Target="https://ru.wikipedia.org/wiki/%D0%A7%D0%B0%D1%81%D0%BE%D0%B2%D0%BE%D0%B9_%D0%BF%D0%BE%D1%8F%D1%81" TargetMode="External"/><Relationship Id="rId10" Type="http://schemas.openxmlformats.org/officeDocument/2006/relationships/hyperlink" Target="https://ru.wikipedia.org/wiki/Tz_database#cite_note-4" TargetMode="External"/><Relationship Id="rId4" Type="http://schemas.openxmlformats.org/officeDocument/2006/relationships/hyperlink" Target="https://ru.wikipedia.org/wiki/%D0%90%D0%BD%D0%B3%D0%BB%D0%B8%D0%B9%D1%81%D0%BA%D0%B8%D0%B9_%D1%8F%D0%B7%D1%8B%D0%BA" TargetMode="External"/><Relationship Id="rId9" Type="http://schemas.openxmlformats.org/officeDocument/2006/relationships/hyperlink" Target="https://ru.wikipedia.org/wiki/Tz_database#cite_note-3" TargetMode="External"/><Relationship Id="rId14" Type="http://schemas.openxmlformats.org/officeDocument/2006/relationships/hyperlink" Target="https://ru.wikipedia.org/wiki/Tz_database#cite_note-7" TargetMode="Externa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11_01.html#re.compile" TargetMode="External"/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B%D0%B8%D1%86%D0%B5%D0%BD%D0%B7%D0%B8%D1%8F_BSD" TargetMode="External"/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u.wikipedia.org/wiki/MATLAB" TargetMode="External"/><Relationship Id="rId4" Type="http://schemas.openxmlformats.org/officeDocument/2006/relationships/hyperlink" Target="http://matplotlib.org/users/license.html" TargetMode="Externa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A%D0%BE%D0%BD%D0%B5%D1%87%D0%BD%D1%8B%D0%B9_%D0%B0%D0%B2%D1%82%D0%BE%D0%BC%D0%B0%D1%82" TargetMode="External"/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3_01.html#range" TargetMode="External"/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TeX" TargetMode="External"/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TeX" TargetMode="External"/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https://pyneng.readthedocs.io/ru/latest/book/01_intro/pip.html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43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из основных целей использования как модулей, так и пакетов - реализация модели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пространства имен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позволяющей логически группировать и в то же время изолировать различные идентификаторы. Например, при наличии глобальной переменной </a:t>
            </a:r>
            <a:r>
              <a:rPr lang="ru-RU" sz="1000" dirty="0" err="1" smtClean="0">
                <a:effectLst/>
              </a:rPr>
              <a:t>author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модуле </a:t>
            </a:r>
            <a:r>
              <a:rPr lang="ru-RU" sz="1000" dirty="0" smtClean="0">
                <a:effectLst/>
              </a:rPr>
              <a:t>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smtClean="0">
                <a:effectLst/>
              </a:rPr>
              <a:t>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произойдет конфликта, т.к. они находятся в разном пространстве имен: </a:t>
            </a:r>
            <a:r>
              <a:rPr lang="ru-RU" sz="1000" dirty="0" err="1" smtClean="0">
                <a:effectLst/>
              </a:rPr>
              <a:t>A.author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err="1" smtClean="0">
                <a:effectLst/>
              </a:rPr>
              <a:t>B.author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соответственно.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09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52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96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0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входит в состав дистрибутива </a:t>
            </a:r>
            <a:r>
              <a:rPr lang="en-US" sz="10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endParaRPr lang="en-US" sz="10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даёт следующую информацию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Какая версия Питона запущена.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Путь к интерпретатору Python, исполняющему текущий скрипт.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 командной строки, используемые при запуске на выполнение скрипта.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Флаги, установленные интерпретатором.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Представление значений с плавающей точкой.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Многое другое.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часто используют с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модулем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 помощью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получают нужную информацию об операционной системе, чтобы избежать непредвиденных ошибок, а с помощью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взаимодействуют с ней (работа с файлами, запуск программ на выполнение, обработка путей и так далее).</a:t>
            </a:r>
          </a:p>
          <a:p>
            <a:endParaRPr lang="en-US" sz="10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https://pythonim.ru/moduli/sys-python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all-python.ru/osnovy/sys.html#:~:text=%D1%81%D0%BE%D1%81%D1%82%D0%B0%D0%B2%20%D0%B4%D0%B8%D1%81%D1%82%D1%80%D0%B8%D0%B1%D1%83%D1%82%D0%B8%D0%B2%D0%B0%20Python.-,%D0%A7%D1%82%D0%BE%20%D1%82%D0%B0%D0%BA%D0%BE%D0%B5%20%D0%BC%D0%BE%D0%B4%D1%83%D0%BB%D1%8C%20sys,%D0%B8%D0%BD%D1%82%D0%B5%D1%80%D0%BF%D1%80%D0%B5%D1%82%D0%B0%D1%82%D0%BE%D1%80%D1%83%20Python%2C%20%D0%B8%D1%81%D0%BF%D0%BE%D0%BB%D0%BD%D1%8F%D1%8E%D1%89%D0%B5%D0%BC%D1%83%20%D1%82%D0%B5%D0%BA%D1%83%D1%89%D0%B8%D0%B9%20%D1%81%D0%BA%D1%80%D0%B8%D0%BF%D1%82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82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60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45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библиотека языка Python, добавляющая поддержку больших многомерных массивов и матриц, вместе с большой библиотекой высокоуровневых (и очень быстрых) математических функций для операций с этими массивами.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https://pythonworld.ru/numpy/1.html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71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73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использования модуля или пакета в коде необходимо его предварительно подключить (импортировать).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63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9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34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Пакет подключается аналогичным образом. Кроме того, имеется возможность импорта отдельных модулей из пакета, если нет необходимости использовать весь пакет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09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88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37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76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62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714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05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95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231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570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48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27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421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20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825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21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72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796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496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361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943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380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713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076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реализует генератор псевдослучайных чисел (ГПСЧ).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Случайность - проблема для компьютерной техники, поскольку все компьютеры являются цифровыми, и как следствие, детерминированы. Если дать компьютеру одни и те же инструкции, будет получаться один и тот же результат. Получается, что математически невозможно сгенерировать по-настоящему случайные числа, используя компьютер, однако довольно просто сгенерировать псевдослучайные числа. В отличие от случайных чисел одни и те же псевдослучайные могут быть сгенерированы раз за разом.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Псевдослучайные числа обладают определенными характеристиками: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сгенерированная последовательность не должна повторяться;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 в последовательности должны быть равномерно распределены на определенном промежутке.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 последовательностей: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плохие последовательности: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3 3 3 3 3 3 3 3 3 3 3 3 3 3 3 3 3 3 3 (все числа одинаковы);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1 2 3 4 5 6 7 8 9 0 1 2 3 4 5 6 7 8 9 (отсутствует случайность);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3 2 5 3 9 1 2 4 2 5 1 1 2 8 1 5 2 3 4 (неравномерно распределена);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8 4 6 0 9 8 2 4 8 6 4 2 2 5 1 4 8 6 2 (много четных чисел);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хорошие последовательности: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9 1 2 0 4 2 8 5 7 2 9 1 9 2 5 3 1 9 2;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2 5 3 4 1 9 7 8 0 2 1 6 4 5 8 9 5 0 9;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8 5 2 3 4 5 7 9 5 2 1 0 2 1 0 9 7 6 4;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9 0 6 4 8 3 1 5 2 7 6 1 4 6 0 1 9 7 5 6.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инициализации ГПСЧ требует определенное целое число (т.н. инициализатор), определяющее будущую генерируемую последовательность. При этом в целом нет возможности узнать зависимость между этим числом и получаемой последовательностью.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Практически все функции модуля основаны на функции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 Для генерации чисел используется алгоритм «Вихрь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Мерсенна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», который лишен многих недостатков, присущих другим алгоритмам генерации (малый период, предсказуемость, легко выявляемая статистическая зависимость и др.). При этом данный алгоритм не является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криптостойким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(в данном случае, теоретически возможно «предсказать» их генерацию), поэтому не должен использоваться для задач, связанных с информационной безопасностью (например, для криптографии, шифрования и т.д.).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109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05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590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565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94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882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statistics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содержит функции для осуществления статистических операций. Как правило, все функции поддерживают целые и вещественные типы.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Медиа́на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Латинский язык"/>
              </a:rPr>
              <a:t>лат.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wikt:en:mediana"/>
              </a:rPr>
              <a:t>mediāna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«середина») или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серединное значение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набора чисел — число, которое находится в середине этого набора, если его упорядочить по возрастанию, то есть такое число, что половина из элементов набора не меньше него, а другая половина не больше. Другое равносильное определение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[1]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набора чисел — это число, сумма расстояний (или, если более строго,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Абсолютная величина"/>
              </a:rPr>
              <a:t>модулей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от которого до всех чисел из набора минимальна. Это определение естественным образом обобщается на многомерные наборы данных и называется 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Геометрический центр"/>
              </a:rPr>
              <a:t>1-медианой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медианой набора {11, 9, 3, 5, 5} является число 5, так как оно стоит в середине этого набора после его упорядочивания: {3, 5, 5, 9, 11}. Если в выборке чётное число элементов, медиана может быть не определена однозначно: тогда для числовых данных чаще всего используют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полусумму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двух соседних значений (то есть медиану набора {1, 3, 5, 7} принимают равной 4)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Мо́да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значение во множестве наблюдений, которое встречается наиболее часто (мода = типичность). Иногда в совокупности встречается более чем одна мода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(например: 6, 2, 6, 6, 8, 9, 9, 9, 0; мода — 6 и 9)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этом случае можно сказать, что совокупность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мультимодальна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Из структурных средних величин только мода обладает таким уникальным свойством. Как правило,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мультимодальность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указывает на то, что набор данных не подчиняется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Нормальное распределение"/>
              </a:rPr>
              <a:t>нормальному распределению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Мода как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Средние величины"/>
              </a:rPr>
              <a:t>средняя величина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употребляется чаще для данных, имеющих нечисловую природу. Среди перечисленных цветов автомобилей —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белый, чёрный, синий металлик, белый, синий металлик, белый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мода будет равна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белому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цвету. При экспертной оценке с её помощью определяют наиболее популярные типы продукта, что учитывается при прогнозе продаж или планировании их производства.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750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726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96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поддерживает работу с датой и временем  и предоставляет соответствующие модули и пакеты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Лока́ль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Региональные настройки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региональный стандарт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региональные параметры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 региона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(проф.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Жаргон"/>
              </a:rPr>
              <a:t>жарг.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лока́ль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lɔ.kal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ləuˈkɑ:l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Международный фонетический алфавит"/>
              </a:rPr>
              <a:t>/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набор параметров, определяющий региональные настройки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Пользовательский интерфейс"/>
              </a:rPr>
              <a:t>пользовательского интерфейса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такие как язык,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Страна"/>
              </a:rPr>
              <a:t>страна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Часовой пояс"/>
              </a:rPr>
              <a:t>часовой пояс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Набор символов"/>
              </a:rPr>
              <a:t>набор символов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формат вывода даты, времени, используемая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Денежная единица"/>
              </a:rPr>
              <a:t>денежная единица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пр.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Установка региональных параметров является частью большого процесса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Локализация программного обеспечения"/>
              </a:rPr>
              <a:t>локализации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При этом изменение региональных настроек часто доступно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Пользователь"/>
              </a:rPr>
              <a:t>конечному пользователю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системы без перепрограммирования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Программное обеспечение"/>
              </a:rPr>
              <a:t>программного обеспечения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(ПО), в отличие от перевода сообщений пользовательского интерфейса, который часто требует изменения программного кода разработчиками ПО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479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Ключевым модулем для работы с датой/временем является модуль </a:t>
            </a:r>
            <a:r>
              <a:rPr lang="ru-RU" dirty="0" err="1" smtClean="0">
                <a:effectLst/>
              </a:rPr>
              <a:t>datetime</a:t>
            </a:r>
            <a:endParaRPr lang="ru-RU" dirty="0" smtClean="0">
              <a:effectLst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экземпляры данных классов являются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немутирующими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(неизменяемыми).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Классы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могут быть «наивными» или «осведомленными»: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«наивный»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Naive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или «неосведомленный»: не содержит информацию о часовых поясах (временных зонах), летнем/зимнем времени и представляет «чистую» дату/время, которую можно интерпретировать так, как это понадобится в приложении;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«осведомленный»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знает и содержит информацию о часовых поясах (временных зонах), летнем/зимнем времени, однозначно определяя дату/время.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Naive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-вариант проще в использовании и может использоваться в приложении, если нет необходимости учитывать часовые пояса или летнее/зимнее время.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925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669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Нередко при работе с датами возникает необходимость добавить к какой-либо дате определенный промежуток времени или, наоборот, вычесть некоторый период. И специально для таких операций в модуле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определен класс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timedelta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Фактически этот класс определяет некоторый период времени. Для определения промежутка времени можно использовать конструктор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timedelta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542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648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507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189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738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7960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514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0652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881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645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ttps://www.geeksforgeeks.org/python-datetime-tzname-method-with-example/?ref=rp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хорошие примеры использования разных функций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027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03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214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81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394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 SQL устанавливает, что «В определении „литерала типа дата-время“, „значения типа дата-время“ ограничены естественными правилами, касающимися дат и времени согласно григорианскому календарю». Следуя стандарту SQL,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подсчитывает даты исключительно в григорианском календаре, включая годы, когда этот календарь ещё не использовался. Это правило известно как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пролептический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григорианский календарь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Юлианский календарь был введён Юлием Цезарем в 45 г. до н. э. Он широко использовался западной цивилизацией до 1582 года, когда страны начали переходить на григорианский календарь. В юлианском календаре тропический год длится приблизительно 365 1/4 дня = 365,25 дня. Каждые 128 лет накапливается примерно 1 день.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12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970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0477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Всеми́рное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координи́рованное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вре́мя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(англ.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Coordinated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фр.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Universel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Coordonné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UTC) —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стандарт, по которому общество регулирует часы и время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Отличается на целое количество секунд от атомного времени и на дробное количество секунд от всемирного времени UT1.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чего необходимо время UTC?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помощью шкалы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ведется точное летоисчисление без каких-либо серьезных погрешностей. Этот стандарт времени не зависит от вращения Земли или Солнца.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регулирует 24 мировых часовых поясов, а в качестве точки отсчета используется Гринвичский меридиан —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0.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101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 SQL устанавливает, что «В определении „литерала типа дата-время“, „значения типа дата-время“ ограничены естественными правилами, касающимися дат и времени согласно григорианскому календарю». Следуя стандарту SQL,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подсчитывает даты исключительно в григорианском календаре, включая годы, когда этот календарь ещё не использовался. Это правило известно как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пролептический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григорианский календарь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Юлианский календарь был введён Юлием Цезарем в 45 г. до н. э. Он широко использовался западной цивилизацией до 1582 года, когда страны начали переходить на григорианский календарь. В юлианском календаре тропический год длится приблизительно 365 1/4 дня = 365,25 дня. Каждые 128 лет накапливается примерно 1 день.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015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223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882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6299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6665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Классы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date,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поддерживают гибкое преобразование в строку с помощью функции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r>
              <a:rPr lang="en-US" sz="1000" i="1" dirty="0" smtClean="0">
                <a:effectLst/>
              </a:rPr>
              <a:t>Class</a:t>
            </a:r>
            <a:r>
              <a:rPr lang="ru-RU" sz="1000" i="1" dirty="0" smtClean="0">
                <a:effectLst/>
              </a:rPr>
              <a:t> </a:t>
            </a:r>
            <a:r>
              <a:rPr lang="en-US" sz="1000" dirty="0" err="1" smtClean="0"/>
              <a:t>datetime.datetime</a:t>
            </a:r>
            <a:endParaRPr lang="ru-RU" sz="1000" dirty="0" smtClean="0"/>
          </a:p>
          <a:p>
            <a:r>
              <a:rPr lang="en-US" sz="1000" dirty="0" err="1" smtClean="0"/>
              <a:t>strftime</a:t>
            </a:r>
            <a:r>
              <a:rPr lang="en-US" sz="1000" dirty="0" smtClean="0">
                <a:effectLst/>
              </a:rPr>
              <a:t>(</a:t>
            </a:r>
            <a:r>
              <a:rPr lang="en-US" sz="1000" i="1" dirty="0" smtClean="0">
                <a:effectLst/>
              </a:rPr>
              <a:t>format</a:t>
            </a:r>
            <a:r>
              <a:rPr lang="en-US" sz="1000" dirty="0" smtClean="0">
                <a:effectLst/>
              </a:rPr>
              <a:t>)</a:t>
            </a:r>
            <a:r>
              <a:rPr lang="ru-RU" sz="1000" dirty="0" smtClean="0">
                <a:effectLst/>
              </a:rPr>
              <a:t>Возвращает строку по формату </a:t>
            </a:r>
            <a:r>
              <a:rPr lang="en-US" sz="1000" dirty="0" smtClean="0">
                <a:effectLst/>
              </a:rPr>
              <a:t>format </a:t>
            </a:r>
            <a:r>
              <a:rPr lang="ru-RU" sz="1000" dirty="0" smtClean="0">
                <a:effectLst/>
              </a:rPr>
              <a:t>для заданного объекта.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экземпляр класса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используя «обратную» функцию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strptime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():</a:t>
            </a:r>
          </a:p>
          <a:p>
            <a:r>
              <a:rPr lang="en-US" sz="1000" i="1" dirty="0" smtClean="0">
                <a:effectLst/>
              </a:rPr>
              <a:t>Class</a:t>
            </a:r>
            <a:r>
              <a:rPr lang="ru-RU" sz="1000" i="1" dirty="0" smtClean="0">
                <a:effectLst/>
              </a:rPr>
              <a:t> </a:t>
            </a:r>
            <a:r>
              <a:rPr lang="en-US" sz="1000" dirty="0" err="1" smtClean="0"/>
              <a:t>datetime.datetime</a:t>
            </a:r>
            <a:endParaRPr lang="ru-RU" sz="1000" dirty="0" smtClean="0"/>
          </a:p>
          <a:p>
            <a:r>
              <a:rPr lang="en-US" sz="1000" i="1" dirty="0" err="1" smtClean="0">
                <a:effectLst/>
              </a:rPr>
              <a:t>Classmethod</a:t>
            </a:r>
            <a:r>
              <a:rPr lang="ru-RU" sz="1000" i="1" dirty="0" smtClean="0">
                <a:effectLst/>
              </a:rPr>
              <a:t> </a:t>
            </a:r>
            <a:r>
              <a:rPr lang="en-US" sz="1000" dirty="0" err="1" smtClean="0"/>
              <a:t>strptime</a:t>
            </a:r>
            <a:r>
              <a:rPr lang="en-US" sz="1000" dirty="0" smtClean="0">
                <a:effectLst/>
              </a:rPr>
              <a:t>(</a:t>
            </a:r>
            <a:r>
              <a:rPr lang="en-US" sz="1000" i="1" dirty="0" err="1" smtClean="0">
                <a:effectLst/>
              </a:rPr>
              <a:t>date_string</a:t>
            </a:r>
            <a:r>
              <a:rPr lang="en-US" sz="1000" dirty="0" smtClean="0"/>
              <a:t>, </a:t>
            </a:r>
            <a:r>
              <a:rPr lang="en-US" sz="1000" i="1" dirty="0" smtClean="0">
                <a:effectLst/>
              </a:rPr>
              <a:t>format</a:t>
            </a:r>
            <a:r>
              <a:rPr lang="en-US" sz="1000" dirty="0" smtClean="0">
                <a:effectLst/>
              </a:rPr>
              <a:t>)</a:t>
            </a:r>
            <a:r>
              <a:rPr lang="ru-RU" sz="1000" dirty="0" smtClean="0">
                <a:effectLst/>
              </a:rPr>
              <a:t>Возвращает </a:t>
            </a:r>
            <a:r>
              <a:rPr lang="en-US" sz="1000" dirty="0" err="1" smtClean="0">
                <a:effectLst/>
              </a:rPr>
              <a:t>datetime</a:t>
            </a:r>
            <a:r>
              <a:rPr lang="en-US" sz="1000" dirty="0" smtClean="0">
                <a:effectLst/>
              </a:rPr>
              <a:t>-</a:t>
            </a:r>
            <a:r>
              <a:rPr lang="ru-RU" sz="1000" dirty="0" smtClean="0">
                <a:effectLst/>
              </a:rPr>
              <a:t>объект, составленный из строки </a:t>
            </a:r>
            <a:r>
              <a:rPr lang="en-US" sz="1000" dirty="0" err="1" smtClean="0">
                <a:effectLst/>
              </a:rPr>
              <a:t>date_string</a:t>
            </a:r>
            <a:r>
              <a:rPr lang="en-US" sz="1000" dirty="0" smtClean="0">
                <a:effectLst/>
              </a:rPr>
              <a:t> </a:t>
            </a:r>
            <a:r>
              <a:rPr lang="ru-RU" sz="1000" dirty="0" smtClean="0">
                <a:effectLst/>
              </a:rPr>
              <a:t>по формату </a:t>
            </a:r>
            <a:r>
              <a:rPr lang="en-US" sz="1000" dirty="0" smtClean="0">
                <a:effectLst/>
              </a:rPr>
              <a:t>format.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базируется на аналогичной функции языка Си 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strftime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()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поддерживает соответствующие спецификаторы (коды) формата.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799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strptime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date_string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Возвращает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-объект, составленный из строки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date_string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формату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(см. Функции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strptime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()).</a:t>
            </a:r>
            <a:endParaRPr lang="en-US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150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Возвращает строковое представление даты/времени в заданном формате </a:t>
            </a:r>
            <a:r>
              <a:rPr lang="ru-RU" sz="1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</a:t>
            </a:r>
            <a:r>
              <a:rPr lang="ru-RU" sz="1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9823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Экземпляр класса-потомка </a:t>
            </a:r>
            <a:r>
              <a:rPr lang="ru-RU" sz="1000" dirty="0" err="1" smtClean="0">
                <a:effectLst/>
              </a:rPr>
              <a:t>tzinfo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может быть передан в конструктор объектов типа </a:t>
            </a:r>
            <a:r>
              <a:rPr lang="ru-RU" sz="1000" dirty="0" err="1" smtClean="0">
                <a:effectLst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err="1" smtClean="0">
                <a:effectLst/>
              </a:rPr>
              <a:t>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при этом атрибуты объектов находятся в местном времени, а </a:t>
            </a:r>
            <a:r>
              <a:rPr lang="ru-RU" sz="1000" dirty="0" err="1" smtClean="0">
                <a:effectLst/>
              </a:rPr>
              <a:t>tzinfo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позволяет найти отклонение от заданного часового пояса.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041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246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7102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6723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33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545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5058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4971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термины и особенности: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эра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Unix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Epoch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количество секунд, прошедших с полуночи (00:00:00 UTC) 1 января 1970 года (четверг) 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 могут не работать с датами вне промежутка от начала эпохи до 2038 г.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проблема 2038 года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отсутствует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проблема 2000 года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4815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термины и особенности: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эра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Unix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Epoch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количество секунд, прошедших с полуночи (00:00:00 UTC) 1 января 1970 года (четверг) 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функции могут не работать с датами вне промежутка от начала эпохи до 2038 г.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проблема 2038 года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отсутствует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проблема 2000 года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()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ввод данных с клавиатура. Позволяет производить ввод данных в консоли. Синтаксис: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Параметры: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строка подсказки. Возвращаемое значение: строка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даже если вводятся цифровые значения. Описание: Функция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() позволяет обеспечить ввод пользовательских данных из консоли. Если передан необязательный аргумент подсказки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он записывается в стандартный вывод без завершающей строки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735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 err="1" smtClean="0">
                <a:hlinkClick r:id="rId3"/>
              </a:rPr>
              <a:t>pytz</a:t>
            </a:r>
            <a:r>
              <a:rPr lang="ru-RU" sz="1000" dirty="0" smtClean="0">
                <a:hlinkClick r:id="rId3"/>
              </a:rPr>
              <a:t> - Определения мирового часового пояса для </a:t>
            </a:r>
            <a:r>
              <a:rPr lang="ru-RU" sz="1000" dirty="0" err="1" smtClean="0">
                <a:hlinkClick r:id="rId3"/>
              </a:rPr>
              <a:t>Python</a:t>
            </a:r>
            <a:r>
              <a:rPr lang="ru-RU" sz="1000" dirty="0" smtClean="0">
                <a:hlinkClick r:id="rId3"/>
              </a:rPr>
              <a:t> — документация по </a:t>
            </a:r>
            <a:r>
              <a:rPr lang="ru-RU" sz="1000" dirty="0" err="1" smtClean="0">
                <a:hlinkClick r:id="rId3"/>
              </a:rPr>
              <a:t>pytz</a:t>
            </a:r>
            <a:r>
              <a:rPr lang="ru-RU" sz="1000" dirty="0" smtClean="0">
                <a:hlinkClick r:id="rId3"/>
              </a:rPr>
              <a:t> 2014.10 (sourceforge.net)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tz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(с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база данных часовых поясов) или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IANA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(база данных информации о зонах) — совместно собираемая информация о мировых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Часовой пояс"/>
              </a:rPr>
              <a:t>часовых зонах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предназначенная для использования в первую очередь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Операционная система"/>
              </a:rPr>
              <a:t>операционными системами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Программирование"/>
              </a:rPr>
              <a:t>компьютерными программами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[2]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Иногда она упоминается как «база данных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Олсона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Olson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так как была основана Артуром Дэвидом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Олсоном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Arthur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David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Olson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[3]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Редактором и хранителем базы является Пол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Эггерт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Paul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Eggert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[4]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Её самая известная возможность — унифицированное именование часовых поясов, разработанное Полом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Эггертом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такое, как «Америка/Нью-Йорк» и «Европа/Париж»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/>
              </a:rPr>
              <a:t>[5]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базе данных пытаются собрать информацию обо всех исторических часовых поясах и всех их гражданских изменениях начиная с 1970 года,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UNIX-время"/>
              </a:rPr>
              <a:t>эпохи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UNIX-время"/>
              </a:rPr>
              <a:t>юникс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/>
              </a:rPr>
              <a:t>[6]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Она также включает в себя информацию о переходе на летнее время, и даже запись високосных секунд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/>
              </a:rPr>
              <a:t>[7]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4567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7136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Библиотека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предоставляет функцию </a:t>
            </a:r>
            <a:r>
              <a:rPr lang="ru-RU" dirty="0" err="1" smtClean="0"/>
              <a:t>localize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позволяющую сделать «наивный» объект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«осведомленным». Теперь объекты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можно сравнивать без возникновения ошибки.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3.9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существовало встроенного в стандартную библиотеку модуля для преобразований значений даты и времени, связанных с часовыми поясами. Поэтому все пользовались модулем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теперь в стандартной библиотеке имеется модуль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# pip install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(2022, 6, 4)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pytz.timezone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("America/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New_York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nyc.localize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{localized},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localized.tzname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()}, TZ Info: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}")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По-новому: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("America/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New_York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 =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(2022, 6, 4,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{localized},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localized.tzname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()}, TZ Info: {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localized.tzinfo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}")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2022-06-04 00:00:00-04:00,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Timezone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EDT, TZ Info: America/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New_York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делегирует все манипуляции с часовыми поясами абстрактному базовому классу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datetime.tzinfo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абстрактный базовый класс нуждается в конкретной реализации. До выхода этого модуля такую реализацию, по всей вероятности, брали из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теперь, когда в стандартной библиотеке есть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модуль можно использовать вместо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pytz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использования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zoneinfo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правда, есть один нюанс: модуль предполагает, что в системе имеются сведения о часовых поясах. 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подобных системах это так. Если же в вашей системе таких данных нет — тогда вам понадобится пакет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tzdata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— библиотека, поддержкой которой занимаются основные разработчики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CPython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ней имеется база данных часовых поясов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IANA.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239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600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конструктор выражений (например, онлайн-сервисом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https://regex101.com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9721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конструктор выражений (например, онлайн-сервисом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https://regex101.com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2818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3422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Большинство символов могут использоваться как литералы, однако некоторые имеют «специальное назначение» в языке регулярных выражений и потому должны экранироваться символом обратного слеша </a:t>
            </a:r>
            <a:r>
              <a:rPr lang="ru-RU" sz="1000" dirty="0" smtClean="0">
                <a:effectLst/>
              </a:rPr>
              <a:t>'\'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когда они используются как литералы.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dirty="0" smtClean="0"/>
              <a:t>символы-джокеры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https://ru.wikipedia.org/wiki/%D0%A1%D0%B8%D0%BC%D0%B2%D0%BE%D0%BB%D1%8B-%D0%B4%D0%B6%D0%BE%D0%BA%D0%B5%D1%80%D1%8B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8346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4755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3885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использовании онлайн-сервисов будьте внимательны - некоторые не поддерживает Юникод в полном объеме, поэтому, например, выражение </a:t>
            </a:r>
            <a:r>
              <a:rPr lang="ru-RU" sz="1000" dirty="0" smtClean="0">
                <a:effectLst/>
              </a:rPr>
              <a:t>'\w'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может не находить кириллицу в тексте.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данной проблемы нет.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1103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Зачастую требуется не только найти слово по символам или группе символов, но и указать количество возможных повторений, для чего в регулярных выражениях используются квантификаторы.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Квантификаторы записываются после символа/строки/множества.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квантификатор может быть: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жадный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greedy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находит как можно больше подходящих символов;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ленивый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находит как можно меньше подходящих символов.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умолчанию, все квантификаторы являются жадными; для включения «ленивого» режима необходимо поставить знак '?' после квантификатора.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5761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9962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4525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5145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3616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8532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8949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 - </a:t>
            </a:r>
            <a:r>
              <a:rPr lang="ru-RU" sz="10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91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 регулярных выражений в языке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предоставляет возможность устанавливать флаги, влияющие на работу регулярных выражений. Обычно флаги устанавливаются при вызове функции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e.compile"/>
              </a:rPr>
              <a:t>re.compile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e.compile"/>
              </a:rPr>
              <a:t>()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7750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8889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1758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3190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re.compile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(pattern, flags=0)</a:t>
            </a: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Компилирует регулярное выражение 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pattern,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используя флаги 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flags (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re.MULTILINE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возвращая объект класса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re.regex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</a:t>
            </a: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regex = </a:t>
            </a:r>
            <a:r>
              <a:rPr lang="en-US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re.compile</a:t>
            </a:r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("^.+?(\d)")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3623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4250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1715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1471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4159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4284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961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678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2924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методы </a:t>
            </a:r>
            <a:r>
              <a:rPr lang="ru-RU" sz="1000" dirty="0" err="1" smtClean="0"/>
              <a:t>start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000" dirty="0" err="1" smtClean="0"/>
              <a:t>end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того, чтобы узнать начальную и конечную позицию найденной строки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4837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90532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Возвращает список всех найденных совпадений. У метода </a:t>
            </a:r>
            <a:r>
              <a:rPr lang="ru-RU" sz="1000" dirty="0" err="1" smtClean="0"/>
              <a:t>findall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нет ограничений на поиск в начале или конце строки. Если мы будем искать 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в нашей строке, он вернет все вхождения «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Для поиска рекомендуется использовать именно </a:t>
            </a:r>
            <a:r>
              <a:rPr lang="ru-RU" sz="1000" dirty="0" err="1" smtClean="0"/>
              <a:t>findall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 как он может работать и как </a:t>
            </a:r>
            <a:r>
              <a:rPr lang="ru-RU" sz="1000" dirty="0" err="1" smtClean="0"/>
              <a:t>re.search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как </a:t>
            </a:r>
            <a:r>
              <a:rPr lang="ru-RU" sz="1000" dirty="0" err="1" smtClean="0"/>
              <a:t>re.match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8538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 разделяет строку по заданному шаблону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 </a:t>
            </a:r>
            <a:r>
              <a:rPr lang="ru-RU" sz="1000" dirty="0" err="1" smtClean="0"/>
              <a:t>split</a:t>
            </a:r>
            <a:r>
              <a:rPr lang="ru-RU" sz="1000" dirty="0" smtClean="0"/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принимает также аргумент </a:t>
            </a:r>
            <a:r>
              <a:rPr lang="ru-RU" sz="1000" dirty="0" err="1" smtClean="0"/>
              <a:t>maxsplit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 значением по умолчанию, равным 0. В данном случае он разделит строку столько раз, сколько возможно, но если указать этот аргумент, то разделение будет произведено не более указанного коли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чества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раз. 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установили параметр </a:t>
            </a:r>
            <a:r>
              <a:rPr lang="ru-RU" sz="1000" dirty="0" err="1" smtClean="0"/>
              <a:t>maxsplit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равным 1, и в результате строка была разделена на две части вместо трех.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5637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Ищет шаблон в строке и заменяет его на указанную подстроку. Если шаблон не найден, строка остается неизменной.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6241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также избавляет от переписывания одного и того же выражения.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039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 err="1" smtClean="0"/>
              <a:t>re.findall</a:t>
            </a:r>
            <a:r>
              <a:rPr lang="ru-RU" sz="1000" dirty="0" smtClean="0"/>
              <a:t>(</a:t>
            </a:r>
            <a:r>
              <a:rPr lang="ru-RU" sz="1000" b="1" dirty="0" smtClean="0"/>
              <a:t>r'.', </a:t>
            </a:r>
            <a:r>
              <a:rPr lang="en-US" sz="1000" b="1" dirty="0" smtClean="0"/>
              <a:t>…) – </a:t>
            </a:r>
            <a:r>
              <a:rPr lang="ru-RU" sz="1000" b="1" dirty="0" smtClean="0"/>
              <a:t>вытащить каждый символ</a:t>
            </a:r>
          </a:p>
          <a:p>
            <a:r>
              <a:rPr lang="en-US" sz="1000" dirty="0" err="1" smtClean="0"/>
              <a:t>re.findall</a:t>
            </a:r>
            <a:r>
              <a:rPr lang="en-US" sz="1000" dirty="0" smtClean="0"/>
              <a:t>(</a:t>
            </a:r>
            <a:r>
              <a:rPr lang="en-US" sz="1000" b="1" dirty="0" smtClean="0"/>
              <a:t>r'\w', </a:t>
            </a:r>
            <a:r>
              <a:rPr lang="ru-RU" sz="1000" b="1" dirty="0" smtClean="0"/>
              <a:t>….) – вытащить каждый символ кроме пробела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5014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956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1223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4818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9585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5681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709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9645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6535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6967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0145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5414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5587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437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9777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04694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https://docs.python.org/3/library/re.html</a:t>
            </a:r>
          </a:p>
          <a:p>
            <a:endParaRPr lang="en-US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https://tproger.ru/translations/regular-expression-python/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1535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модуль для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предоставляет общие математические и числовые операции в виде пре-скомпилированных, быстрых функций. Они объединяются в высокоуровневые пакеты.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Обеспечивают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функционал, который можно сравнить с функционалом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предоставляет базовые методы для манипуляции с большими массивами и матрицами.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расширяет функционал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огромной коллекцией полезных алгоритмов, таких как минимизация, преобразование Фурье, регрессия, и другие прикладные математические техники.</a:t>
            </a:r>
            <a:endParaRPr lang="ru-RU" sz="8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9576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модуль для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предоставляет общие математические и числовые операции в виде пре-скомпилированных, быстрых функций. Они объединяются в высокоуровневые пакеты.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Обеспечивают 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функционал, который можно сравнить с функционалом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предоставляет базовые методы для манипуляции с большими массивами и матрицами.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Python) расширяет функционал </a:t>
            </a:r>
            <a:r>
              <a:rPr lang="ru-RU" sz="10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огромной коллекцией полезных алгоритмов, таких как минимизация, преобразование Фурье, регрессия, и другие прикладные математические техники.</a:t>
            </a:r>
            <a:endParaRPr lang="ru-RU" sz="8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81913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https://pythonru.com/biblioteki/biblioteka-numpy-ndarray-sozdanie-massiva-i-tipy-dannyh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1585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38387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1807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8241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0940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40402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6641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5207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4498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46056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8893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37360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05127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5309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0510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5052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22798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14290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2121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0482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85800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4510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49169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12436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09013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9200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34846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99648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63309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81694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86674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9783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https://pythonru.com/biblioteki/scipy-python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73309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https://pythonru.com/biblioteki/scipy-python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8396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https://pythonru.com/biblioteki/scipy-python</a:t>
            </a:r>
            <a:r>
              <a:rPr lang="ru-RU" sz="10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90457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http://matplotlib.org/users/screenshots.html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matplotlib.org/gallery.html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https://spapas.github.io/2021/02/08/django-matplotlib/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https://www.youtube.com/watch?v=f1EYHGiaUEs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https://www.youtube.com/watch?v=04L0BbAcCpQ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распространяется на условиях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BSD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-подобной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лицензии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Библиотека поддерживает двумерную (2D) и трехмерную (3D) графику, а также анимированные рисунки.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Создаваемые изображения могут быть использованы в мультимедийных приложениях, научных проектах, а также различных документах, публикациях и веб-приложениях. Исторически библиотека формировалась под влиянием математического пакета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Matlab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являлась и является независимым от него проектом. Построенная на принципах ООП, библиотека также имеет процедурный интерфейс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предоставляет аналоги команд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Последняя стабильная версия библиотеки поддерживает Python 2.6 и выше.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29808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7057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http://matplotlib.org/users/installing.html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 объекты организованы в единую иерархию: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вершине иерархии находится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конечный автомат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(модель, число возможных внутренних состояний которой конечно), предоставляемый модулем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matplotlib.pyplot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На данном уровне все функции, используемые для рисования диаграмм (линии, рисунки, текст и т.д.) применяются к текущему изображению.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ниже располагается объектно-ориентированный интерфейс, используемый для создания изображений, где объектами являются само изображение, оси координат, графические примитивы и т.д.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1456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фундаментальный пакет для научных вычислений на Python, который содержит: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мощный объект - многомерный массив (в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т.ч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матрицы);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высокоуровневые функции для работы с массивами, линейной алгеброй и а также быстрого создания набора данных (примерный аналог - функция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ange"/>
              </a:rPr>
              <a:t>range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ange"/>
              </a:rPr>
              <a:t>()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инструменты для интеграции кода на C/C++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Fortran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76879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18315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16068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92355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29285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3206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4464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08383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06935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637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38818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54623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6864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6371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80059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2819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поддерживает известный научный формат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(произносится как «тех»), позволяющий записывать сложные математические выражения.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46220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поддерживает известный научный формат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(произносится как «тех»), позволяющий записывать сложные математические выражения.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54042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2864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__name__ == "__main__":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x =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arange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(-8, 3, 0.1) 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x -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массив 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np.array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y1 =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(x**2 + 4*x - 5)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y2 = [9] *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fig, (ax1, ax2) =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subplots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ncols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=2) 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диаграммы по горизонтали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1) 1-й график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Настройки диаграммы и осей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set_title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Графики функций: экстремум")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set_xlabel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 абсцисс")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set_ylabel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 ординат")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(True)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y1, 'r', linewidth=3,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y2,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Аннотации и текст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Экстремум функции = $\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{-b}{2a} = \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{-4}{2} = -2$",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=(-2, 9),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=(-4.8, 15.5),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arrowprops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facecolor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="black", shrink=0.05))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(-7, 24.5, 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2 графика:\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 и линия экстремума")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Легенда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ax1.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legend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2) 2-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й график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Настройки диаграммы и осей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set_title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Графики функций: корни уравнения")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 графика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y2 =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(-20, 21))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x2 = [-5] *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(y2)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x3 = [1] *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(y2)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y1, linewidth=3,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(x2, y2,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1")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(x3, y2, label="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2")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Аннотации и текст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(-2, 27, 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3 графика:\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парабола и корни",</a:t>
            </a: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horizontalalignment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="center")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1 = -5",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=(-5, -1.5),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=(-10, -5),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arrowprops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facecolor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="black",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="angle3",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="-&gt;"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Корень 2 = 1",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=(1, -1.5),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xytext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=(2, -8),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arrowprops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facecolor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="black",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="angle3",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arrowstyle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="-&gt;"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))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set_xlim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10)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set_ylim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(-10, 10)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ax2.spines["left"].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set_position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("center")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ax2.spines["bottom"].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set_position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("center")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ax2.spines['top'].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set_visible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(False)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ax2.spines['right'].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set_visible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(False)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Легенда</a:t>
            </a: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ax2.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legend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="best")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5561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96415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32872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67120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2877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45870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0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91836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5233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64392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79479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29332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57840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20319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50326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68665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23089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76680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72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6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5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C%D0%BE%D0%B4%D1%83%D0%BB%D1%8C%D0%BD%D0%BE%D0%B5_%D0%BF%D1%80%D0%BE%D0%B3%D1%80%D0%B0%D0%BC%D0%BC%D0%B8%D1%80%D0%BE%D0%B2%D0%B0%D0%BD%D0%B8%D0%B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wikipedia.org/wiki/%D0%9F%D1%80%D0%BE%D1%81%D1%82%D1%80%D0%B0%D0%BD%D1%81%D1%82%D0%B2%D0%BE_%D0%B8%D0%BC%D1%91%D0%BD_(%D0%BF%D1%80%D0%BE%D0%B3%D1%80%D0%B0%D0%BC%D0%BC%D0%B8%D1%80%D0%BE%D0%B2%D0%B0%D0%BD%D0%B8%D0%B5)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0%B0%D0%BA%D0%B5%D1%82_%D0%BF%D1%80%D0%B8%D0%BA%D0%BB%D0%B0%D0%B4%D0%BD%D1%8B%D1%85_%D0%BF%D1%80%D0%BE%D0%B3%D1%80%D0%B0%D0%BC%D0%B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wikipedia.org/wiki/%D0%9F%D1%80%D0%B5%D0%B4%D0%BC%D0%B5%D1%82%D0%BD%D0%B0%D1%8F_%D0%BE%D0%B1%D0%BB%D0%B0%D1%81%D1%82%D1%8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library/xml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8_01.html#module-js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uripetrov.ru/edu/python/ch_11_01.html#module-7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python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uripetrov.ru/edu/python/ch_08_01.html#module-json" TargetMode="External"/><Relationship Id="rId4" Type="http://schemas.openxmlformats.org/officeDocument/2006/relationships/hyperlink" Target="https://www.yuripetrov.ru/edu/python/ch_11_01.html#sys.path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uripetrov.ru/edu/python/ch_01_01.html#ch-01-01-translator-type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4%D0%B5%D0%BA%D0%BE%D0%BC%D0%BF%D0%B8%D0%BB%D1%8F%D1%82%D0%BE%D1%80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uripetrov.ru/edu/python/ch_05_01.html#ch-05-05-01-docstrings" TargetMode="External"/><Relationship Id="rId4" Type="http://schemas.openxmlformats.org/officeDocument/2006/relationships/hyperlink" Target="https://ru.wikipedia.org/wiki/Snake_cas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9_01.html#import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atistics.html#statistics.StatisticsError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4%D0%B8%D1%81%D0%BF%D0%B5%D1%80%D1%81%D0%B8%D1%8F_%D1%81%D0%BB%D1%83%D1%87%D0%B0%D0%B9%D0%BD%D0%BE%D0%B9_%D0%B2%D0%B5%D0%BB%D0%B8%D1%87%D0%B8%D0%BD%D1%8B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A1%D1%80%D0%B5%D0%B4%D0%BD%D0%B5%D0%BA%D0%B2%D0%B0%D0%B4%D1%80%D0%B0%D1%82%D0%B8%D1%87%D0%B5%D1%81%D0%BA%D0%BE%D0%B5_%D0%BE%D1%82%D0%BA%D0%BB%D0%BE%D0%BD%D0%B5%D0%BD%D0%B8%D0%B5" TargetMode="External"/><Relationship Id="rId5" Type="http://schemas.openxmlformats.org/officeDocument/2006/relationships/hyperlink" Target="https://ru.wikipedia.org/wiki/%D0%93%D0%B5%D0%BD%D0%B5%D1%80%D0%B0%D0%BB%D1%8C%D0%BD%D0%B0%D1%8F_%D1%81%D0%BE%D0%B2%D0%BE%D0%BA%D1%83%D0%BF%D0%BD%D0%BE%D1%81%D1%82%D1%8C" TargetMode="External"/><Relationship Id="rId4" Type="http://schemas.openxmlformats.org/officeDocument/2006/relationships/hyperlink" Target="https://ru.wikipedia.org/wiki/%D0%92%D1%8B%D0%B1%D0%BE%D1%80%D0%BA%D0%B0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locale.html" TargetMode="External"/><Relationship Id="rId3" Type="http://schemas.openxmlformats.org/officeDocument/2006/relationships/hyperlink" Target="https://docs.python.org/3/library/datetime.html" TargetMode="External"/><Relationship Id="rId7" Type="http://schemas.openxmlformats.org/officeDocument/2006/relationships/hyperlink" Target="https://ru.wikipedia.org/wiki/Tz_database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pytz.sourceforge.net/" TargetMode="External"/><Relationship Id="rId5" Type="http://schemas.openxmlformats.org/officeDocument/2006/relationships/hyperlink" Target="https://docs.python.org/3/library/calendar.html" TargetMode="External"/><Relationship Id="rId4" Type="http://schemas.openxmlformats.org/officeDocument/2006/relationships/hyperlink" Target="https://docs.python.org/3/library/time.html" TargetMode="External"/><Relationship Id="rId9" Type="http://schemas.openxmlformats.org/officeDocument/2006/relationships/hyperlink" Target="https://ru.wikipedia.org/wiki/%D0%9B%D0%BE%D0%BA%D0%B0%D0%BB%D1%8C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datetime.html#tzinfo-objects" TargetMode="External"/><Relationship Id="rId3" Type="http://schemas.openxmlformats.org/officeDocument/2006/relationships/hyperlink" Target="https://docs.python.org/3/library/datetime.html#time-objects" TargetMode="External"/><Relationship Id="rId7" Type="http://schemas.openxmlformats.org/officeDocument/2006/relationships/hyperlink" Target="https://docs.python.org/3/library/datetime.html#timedelta-objects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datetime.html#datetime-objects" TargetMode="External"/><Relationship Id="rId5" Type="http://schemas.openxmlformats.org/officeDocument/2006/relationships/hyperlink" Target="https://ru.wikipedia.org/wiki/%D0%93%D1%80%D0%B8%D0%B3%D0%BE%D1%80%D0%B8%D0%B0%D0%BD%D1%81%D0%BA%D0%B8%D0%B9_%D0%BA%D0%B0%D0%BB%D0%B5%D0%BD%D0%B4%D0%B0%D1%80%D1%8C" TargetMode="External"/><Relationship Id="rId10" Type="http://schemas.openxmlformats.org/officeDocument/2006/relationships/hyperlink" Target="https://ru.wikipedia.org/wiki/%D0%92%D1%81%D0%B5%D0%BC%D0%B8%D1%80%D0%BD%D0%BE%D0%B5_%D0%BA%D0%BE%D0%BE%D1%80%D0%B4%D0%B8%D0%BD%D0%B8%D1%80%D0%BE%D0%B2%D0%B0%D0%BD%D0%BD%D0%BE%D0%B5_%D0%B2%D1%80%D0%B5%D0%BC%D1%8F" TargetMode="External"/><Relationship Id="rId4" Type="http://schemas.openxmlformats.org/officeDocument/2006/relationships/hyperlink" Target="https://docs.python.org/3/library/datetime.html#date-objects" TargetMode="External"/><Relationship Id="rId9" Type="http://schemas.openxmlformats.org/officeDocument/2006/relationships/hyperlink" Target="https://docs.python.org/3/library/datetime.html#timezone-objects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tm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tmp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tmp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tmp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ISO_8601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tmp"/><Relationship Id="rId4" Type="http://schemas.openxmlformats.org/officeDocument/2006/relationships/image" Target="../media/image37.tmp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tmp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scow_Time" TargetMode="Externa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u.wikipedia.org/wiki/%D0%A1%D0%B5%D0%B2%D0%B5%D1%80%D0%BE%D0%B0%D0%BC%D0%B5%D1%80%D0%B8%D0%BA%D0%B0%D0%BD%D1%81%D0%BA%D0%BE%D0%B5_%D0%B2%D0%BE%D1%81%D1%82%D0%BE%D1%87%D0%BD%D0%BE%D0%B5_%D0%B2%D1%80%D0%B5%D0%BC%D1%8F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tmp"/><Relationship Id="rId4" Type="http://schemas.openxmlformats.org/officeDocument/2006/relationships/image" Target="../media/image43.tmp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B%D0%BE%D0%BA%D0%B0%D0%BB%D1%8C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tmp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tmp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tmp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Tz_database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tmp"/><Relationship Id="rId4" Type="http://schemas.openxmlformats.org/officeDocument/2006/relationships/image" Target="../media/image49.tmp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mp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tmp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mp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tmp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tmp"/><Relationship Id="rId3" Type="http://schemas.openxmlformats.org/officeDocument/2006/relationships/image" Target="../media/image56.tmp"/><Relationship Id="rId7" Type="http://schemas.openxmlformats.org/officeDocument/2006/relationships/image" Target="../media/image60.tmp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tmp"/><Relationship Id="rId5" Type="http://schemas.openxmlformats.org/officeDocument/2006/relationships/image" Target="../media/image58.tmp"/><Relationship Id="rId4" Type="http://schemas.openxmlformats.org/officeDocument/2006/relationships/image" Target="../media/image57.tmp"/><Relationship Id="rId9" Type="http://schemas.openxmlformats.org/officeDocument/2006/relationships/image" Target="../media/image62.tmp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tmp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tmp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tmp"/><Relationship Id="rId5" Type="http://schemas.openxmlformats.org/officeDocument/2006/relationships/image" Target="../media/image66.tmp"/><Relationship Id="rId4" Type="http://schemas.openxmlformats.org/officeDocument/2006/relationships/image" Target="../media/image65.tmp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tmp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tmp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tmp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11_01.html#id104" TargetMode="Externa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tmp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tmp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tmp"/><Relationship Id="rId3" Type="http://schemas.openxmlformats.org/officeDocument/2006/relationships/image" Target="../media/image73.tmp"/><Relationship Id="rId7" Type="http://schemas.openxmlformats.org/officeDocument/2006/relationships/image" Target="../media/image77.tmp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tmp"/><Relationship Id="rId5" Type="http://schemas.openxmlformats.org/officeDocument/2006/relationships/image" Target="../media/image75.tmp"/><Relationship Id="rId4" Type="http://schemas.openxmlformats.org/officeDocument/2006/relationships/image" Target="../media/image74.tmp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tmp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tmp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tmp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tmp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tmp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tmp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tmp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tmp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tmp"/><Relationship Id="rId5" Type="http://schemas.openxmlformats.org/officeDocument/2006/relationships/image" Target="../media/image88.tmp"/><Relationship Id="rId4" Type="http://schemas.openxmlformats.org/officeDocument/2006/relationships/image" Target="../media/image87.tmp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tmp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tmp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tmp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tmp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tmp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tmp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tmp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tmp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tmp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tmp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tmp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tmp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tmp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tmp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tmp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tmp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tmp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tmp"/><Relationship Id="rId5" Type="http://schemas.openxmlformats.org/officeDocument/2006/relationships/image" Target="../media/image106.tmp"/><Relationship Id="rId4" Type="http://schemas.openxmlformats.org/officeDocument/2006/relationships/image" Target="../media/image105.tmp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tmp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tmp"/><Relationship Id="rId4" Type="http://schemas.openxmlformats.org/officeDocument/2006/relationships/image" Target="../media/image109.tmp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tmp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br.com/ru/companies/rosbank/articles/765538/" TargetMode="Externa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tmp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tmp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tmp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tmp"/><Relationship Id="rId4" Type="http://schemas.openxmlformats.org/officeDocument/2006/relationships/image" Target="../media/image115.tmp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tmp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tmp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tmp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tmp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tmp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tmp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tmp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tmp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tmp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tmp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tmp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tmp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tmp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tmp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tmp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tmp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tmp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tmp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tmp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.tmp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tmp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tmp"/><Relationship Id="rId4" Type="http://schemas.openxmlformats.org/officeDocument/2006/relationships/image" Target="../media/image138.tmp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tmp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tmp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tmp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tmp"/><Relationship Id="rId5" Type="http://schemas.openxmlformats.org/officeDocument/2006/relationships/image" Target="../media/image144.tmp"/><Relationship Id="rId4" Type="http://schemas.openxmlformats.org/officeDocument/2006/relationships/image" Target="../media/image143.tmp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tmp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7.tmp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tmp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tmp"/><Relationship Id="rId4" Type="http://schemas.openxmlformats.org/officeDocument/2006/relationships/image" Target="../media/image149.tmp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tmp"/><Relationship Id="rId7" Type="http://schemas.openxmlformats.org/officeDocument/2006/relationships/image" Target="../media/image155.tmp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tmp"/><Relationship Id="rId5" Type="http://schemas.openxmlformats.org/officeDocument/2006/relationships/image" Target="../media/image153.tmp"/><Relationship Id="rId4" Type="http://schemas.openxmlformats.org/officeDocument/2006/relationships/image" Target="../media/image152.tmp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tmp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7.tmp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tmp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9.tmp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tmp"/><Relationship Id="rId7" Type="http://schemas.openxmlformats.org/officeDocument/2006/relationships/image" Target="../media/image164.tmp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tmp"/><Relationship Id="rId5" Type="http://schemas.openxmlformats.org/officeDocument/2006/relationships/image" Target="../media/image162.tmp"/><Relationship Id="rId4" Type="http://schemas.openxmlformats.org/officeDocument/2006/relationships/image" Target="../media/image161.tmp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tmp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tmp"/><Relationship Id="rId5" Type="http://schemas.openxmlformats.org/officeDocument/2006/relationships/image" Target="../media/image167.tmp"/><Relationship Id="rId4" Type="http://schemas.openxmlformats.org/officeDocument/2006/relationships/image" Target="../media/image166.tmp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tmp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tmp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tmp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tmp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tmp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3.tmp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cipy.org/doc/scipy/reference/tutorial/" TargetMode="External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tmp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tplotlib.org/2.0.2/mpl_examples/images_contours_and_fields/streamplot_demo_features.py" TargetMode="External"/><Relationship Id="rId4" Type="http://schemas.openxmlformats.org/officeDocument/2006/relationships/hyperlink" Target="http://matplotlib.org/users/screenshots.html" TargetMode="Externa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tmp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tmp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tmp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tmp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api/pyplot_api.html#matplotlib.pyplot.subplots" TargetMode="External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atplotlib.org/2.0.2/api/pyplot_api.html" TargetMode="Externa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Dpi" TargetMode="External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uripetrov.ru/edu/python/ch_03_01.html#id41" TargetMode="External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tmp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tmp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8" Type="http://schemas.openxmlformats.org/officeDocument/2006/relationships/hyperlink" Target="http://matplotlib.org/api/spines_api.html#matplotlib.spines.Spine.set_position" TargetMode="External"/><Relationship Id="rId3" Type="http://schemas.openxmlformats.org/officeDocument/2006/relationships/hyperlink" Target="http://matplotlib.org/api/_as_gen/matplotlib.axes.Axes.grid.html#matplotlib.axes.Axes.grid" TargetMode="External"/><Relationship Id="rId7" Type="http://schemas.openxmlformats.org/officeDocument/2006/relationships/hyperlink" Target="http://matplotlib.org/api/spines_api.html#module-matplotlib.spines" TargetMode="External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atplotlib.org/api/_as_gen/matplotlib.axes.Axes.set_ylim.html#matplotlib.axes.Axes.set_ylim" TargetMode="External"/><Relationship Id="rId5" Type="http://schemas.openxmlformats.org/officeDocument/2006/relationships/hyperlink" Target="http://matplotlib.org/api/_as_gen/matplotlib.axes.Axes.set_xlim.html#matplotlib.axes.Axes.set_xlim" TargetMode="External"/><Relationship Id="rId4" Type="http://schemas.openxmlformats.org/officeDocument/2006/relationships/hyperlink" Target="http://matplotlib.org/api/_as_gen/matplotlib.axes.Axes.set_aspect.html#matplotlib.axes.Axes.set_aspect" TargetMode="Externa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api/_as_gen/matplotlib.axes.Axes.legend.html#matplotlib.axes.Axes.legend" TargetMode="External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2.tmp"/><Relationship Id="rId4" Type="http://schemas.openxmlformats.org/officeDocument/2006/relationships/image" Target="../media/image181.tmp"/></Relationships>
</file>

<file path=ppt/slides/_rels/slide19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uripetrov.ru/edu/python/ch_03_01.html#id64" TargetMode="External"/><Relationship Id="rId3" Type="http://schemas.openxmlformats.org/officeDocument/2006/relationships/hyperlink" Target="https://ru.wikipedia.org/wiki/TeX" TargetMode="External"/><Relationship Id="rId7" Type="http://schemas.openxmlformats.org/officeDocument/2006/relationships/hyperlink" Target="https://www.yuripetrov.ru/edu/python/ch_03_01.html#id41" TargetMode="External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matplotlib.org/api/text_api.html#matplotlib.text.Text" TargetMode="External"/><Relationship Id="rId5" Type="http://schemas.openxmlformats.org/officeDocument/2006/relationships/hyperlink" Target="http://matplotlib.org/api/_as_gen/matplotlib.axes.Axes.annotate.html#matplotlib.axes.Axes.annotate" TargetMode="External"/><Relationship Id="rId4" Type="http://schemas.openxmlformats.org/officeDocument/2006/relationships/hyperlink" Target="http://matplotlib.org/api/_as_gen/matplotlib.axes.Axes.text.html#matplotlib.axes.Axes.text" TargetMode="Externa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tmp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4.tmp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tmp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tmp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tmp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8.tmp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tmp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glob.html" TargetMode="External"/><Relationship Id="rId3" Type="http://schemas.openxmlformats.org/officeDocument/2006/relationships/hyperlink" Target="https://docs.python.org/3/library/sys.html" TargetMode="External"/><Relationship Id="rId7" Type="http://schemas.openxmlformats.org/officeDocument/2006/relationships/hyperlink" Target="https://docs.python.org/3/library/subprocess.html" TargetMode="External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shutil.html" TargetMode="External"/><Relationship Id="rId5" Type="http://schemas.openxmlformats.org/officeDocument/2006/relationships/hyperlink" Target="https://docs.python.org/3/library/os.html" TargetMode="External"/><Relationship Id="rId4" Type="http://schemas.openxmlformats.org/officeDocument/2006/relationships/hyperlink" Target="https://docs.python.org/3/library/platform.html" TargetMode="Externa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tmp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.tmp"/><Relationship Id="rId5" Type="http://schemas.openxmlformats.org/officeDocument/2006/relationships/image" Target="../media/image193.tmp"/><Relationship Id="rId4" Type="http://schemas.openxmlformats.org/officeDocument/2006/relationships/image" Target="../media/image192.tmp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python.org/pypi/pypng/" TargetMode="External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6.tmp"/><Relationship Id="rId4" Type="http://schemas.openxmlformats.org/officeDocument/2006/relationships/image" Target="../media/image195.tmp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tmp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8.tmp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tmp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tmp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tmp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tmp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tmp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4.tmp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tmp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tmp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472081"/>
            <a:ext cx="10058400" cy="3566160"/>
          </a:xfrm>
        </p:spPr>
        <p:txBody>
          <a:bodyPr/>
          <a:lstStyle/>
          <a:p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</a:t>
            </a:r>
            <a:r>
              <a:rPr lang="ru-RU" dirty="0" smtClean="0"/>
              <a:t>10 - 11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00051" y="1136993"/>
            <a:ext cx="10058400" cy="22363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Избранные главы информатики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Модули, пакеты, стандартная библиотека. Визуализация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1"/>
            <a:ext cx="10058400" cy="461772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/>
              <a:t>Модули.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Пакеты</a:t>
            </a:r>
            <a:r>
              <a:rPr lang="ru-RU" sz="3600" dirty="0"/>
              <a:t>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Классификация</a:t>
            </a:r>
            <a:r>
              <a:rPr lang="ru-RU" sz="3600" dirty="0"/>
              <a:t>. </a:t>
            </a:r>
            <a:r>
              <a:rPr lang="ru-RU" sz="3600" dirty="0" smtClean="0"/>
              <a:t>Подключение </a:t>
            </a:r>
            <a:r>
              <a:rPr lang="ru-RU" sz="3600" dirty="0"/>
              <a:t>и использование модулей и пакетов.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Специальные </a:t>
            </a:r>
            <a:r>
              <a:rPr lang="ru-RU" sz="3600" dirty="0"/>
              <a:t>атрибуты.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Стандартная </a:t>
            </a:r>
            <a:r>
              <a:rPr lang="ru-RU" sz="3600" dirty="0"/>
              <a:t>библиотека Python.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Регулярные </a:t>
            </a:r>
            <a:r>
              <a:rPr lang="ru-RU" sz="3600" dirty="0"/>
              <a:t>выражения. </a:t>
            </a:r>
            <a:endParaRPr lang="ru-RU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Визуализация </a:t>
            </a:r>
            <a:r>
              <a:rPr lang="ru-RU" sz="3600" dirty="0"/>
              <a:t>данных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9457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94387" y="1195331"/>
            <a:ext cx="10727474" cy="224676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3"/>
              </a:rPr>
              <a:t>Модуль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- специальное средство языка программирования, позволяющее объединить вместе данные и функции и использовать их как одну функционально-законченную единицу (например, математический модуль, содержащий тригонометрические и прочие функции, константы π, ϵ и т.д.)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94387" y="3665519"/>
            <a:ext cx="11697613" cy="27439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отдельный файл с кодом на Python, содержащий функции и данные;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имеет расширение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*.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(имя файла является именем модуля);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может быть импортирован (подключен) (директива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import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 ...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);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Char char="‒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может быть многократно использован;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alibri" panose="020F0502020204030204" pitchFamily="34" charset="0"/>
              <a:buChar char="‒"/>
            </a:pPr>
            <a:r>
              <a:rPr lang="ru-RU" sz="2800" dirty="0"/>
              <a:t>реализация модели </a:t>
            </a:r>
            <a:r>
              <a:rPr lang="ru-RU" sz="2800" dirty="0">
                <a:hlinkClick r:id="rId4"/>
              </a:rPr>
              <a:t>пространства имен</a:t>
            </a:r>
            <a:r>
              <a:rPr lang="ru-RU" sz="2800" dirty="0"/>
              <a:t>, позволяющей логически группировать и в то же время изолировать различные идентификаторы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911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5031152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2652" y="1254133"/>
            <a:ext cx="11780874" cy="1815882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3"/>
              </a:rPr>
              <a:t>Пакеты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- 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набор взаимосвязанных модулей, предназначенных для решения задач определенного класса некоторой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4"/>
              </a:rPr>
              <a:t>предметной области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(например, пакет для решения систем уравнений, который может включать математический модуль, модуль со специальными типами данных и т.д.)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2652" y="3274636"/>
            <a:ext cx="11780874" cy="31085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способ структуризации модулей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ru-RU" altLang="ru-RU" sz="2800" dirty="0">
                <a:solidFill>
                  <a:srgbClr val="404040"/>
                </a:solidFill>
                <a:latin typeface="+mn-lt"/>
              </a:rPr>
              <a:t>п</a:t>
            </a:r>
            <a:r>
              <a:rPr lang="ru-RU" altLang="ru-RU" sz="2800" dirty="0" smtClean="0">
                <a:solidFill>
                  <a:srgbClr val="404040"/>
                </a:solidFill>
                <a:latin typeface="+mn-lt"/>
              </a:rPr>
              <a:t>редставляет собой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папку, в которой содержатся модули и другие пакеты и обязательный файл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__init.py__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отвечающий за инициализацию пакета</a:t>
            </a:r>
          </a:p>
          <a:p>
            <a:pPr marL="457200" lvl="0" indent="-457200" algn="just">
              <a:buFontTx/>
              <a:buChar char="-"/>
            </a:pPr>
            <a:r>
              <a:rPr lang="ru-RU" sz="2800" dirty="0">
                <a:latin typeface="+mn-lt"/>
              </a:rPr>
              <a:t>каждый модуль (или вложенный пакет) отвечает за свою часть реализации </a:t>
            </a:r>
            <a:r>
              <a:rPr lang="ru-RU" sz="2800" dirty="0" smtClean="0">
                <a:latin typeface="+mn-lt"/>
              </a:rPr>
              <a:t>работы, </a:t>
            </a:r>
            <a:r>
              <a:rPr lang="ru-RU" sz="2800" dirty="0">
                <a:latin typeface="+mn-lt"/>
              </a:rPr>
              <a:t>однако рассматривается как единое целое в виде пакета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503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6345" y="148856"/>
            <a:ext cx="4635795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</a:t>
            </a:r>
            <a:endParaRPr lang="ru-RU" dirty="0"/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75498" cy="690101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949680" y="2738375"/>
            <a:ext cx="2815531" cy="2953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пакет </a:t>
            </a:r>
            <a:r>
              <a:rPr lang="ru-RU" dirty="0" err="1">
                <a:hlinkClick r:id="rId4"/>
              </a:rPr>
              <a:t>xml</a:t>
            </a:r>
            <a:r>
              <a:rPr lang="ru-RU" dirty="0"/>
              <a:t> имеет следующую структуру</a:t>
            </a:r>
            <a:r>
              <a:rPr lang="en-US" dirty="0"/>
              <a:t>, </a:t>
            </a:r>
            <a:r>
              <a:rPr lang="ru-RU" dirty="0"/>
              <a:t>где каждый модуль (или вложенный пакет) отвечает за свою часть реализации работы с XML-форматом, однако рассматривается как единое целое в виде пакета</a:t>
            </a:r>
          </a:p>
        </p:txBody>
      </p:sp>
    </p:spTree>
    <p:extLst>
      <p:ext uri="{BB962C8B-B14F-4D97-AF65-F5344CB8AC3E}">
        <p14:creationId xmlns:p14="http://schemas.microsoft.com/office/powerpoint/2010/main" val="236544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37954" y="2351199"/>
            <a:ext cx="1073888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404040"/>
                </a:solidFill>
              </a:rPr>
              <a:t>1. </a:t>
            </a:r>
            <a:r>
              <a:rPr lang="ru-RU" sz="2800" b="1" dirty="0" smtClean="0">
                <a:solidFill>
                  <a:srgbClr val="404040"/>
                </a:solidFill>
              </a:rPr>
              <a:t>Встроенные</a:t>
            </a:r>
            <a:r>
              <a:rPr lang="ru-RU" sz="2800" dirty="0" smtClean="0">
                <a:solidFill>
                  <a:srgbClr val="404040"/>
                </a:solidFill>
              </a:rPr>
              <a:t> </a:t>
            </a:r>
            <a:r>
              <a:rPr lang="en-US" sz="2800" dirty="0" smtClean="0">
                <a:solidFill>
                  <a:srgbClr val="404040"/>
                </a:solidFill>
              </a:rPr>
              <a:t>(Built-in) </a:t>
            </a:r>
            <a:r>
              <a:rPr lang="ru-RU" sz="2800" dirty="0" smtClean="0">
                <a:solidFill>
                  <a:srgbClr val="404040"/>
                </a:solidFill>
              </a:rPr>
              <a:t>- </a:t>
            </a:r>
            <a:r>
              <a:rPr lang="ru-RU" sz="2800" dirty="0"/>
              <a:t>встроенные в язык и предоставляющие базовые возможности языка (написаны на языке Си</a:t>
            </a:r>
            <a:r>
              <a:rPr lang="ru-RU" sz="2800" dirty="0" smtClean="0"/>
              <a:t>):</a:t>
            </a:r>
            <a:endParaRPr lang="en-US" sz="2800" dirty="0" smtClean="0"/>
          </a:p>
          <a:p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Модули общего назначения (</a:t>
            </a:r>
            <a:r>
              <a:rPr lang="en-US" sz="2800" dirty="0" smtClean="0"/>
              <a:t>math, random ….</a:t>
            </a:r>
            <a:r>
              <a:rPr lang="ru-RU" sz="2800" dirty="0" smtClean="0"/>
              <a:t>)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 smtClean="0"/>
              <a:t>Платформозависимые</a:t>
            </a:r>
            <a:r>
              <a:rPr lang="ru-RU" sz="2800" dirty="0" smtClean="0"/>
              <a:t> модули (</a:t>
            </a:r>
            <a:r>
              <a:rPr lang="en-US" sz="2800" dirty="0" err="1" smtClean="0"/>
              <a:t>winreg</a:t>
            </a:r>
            <a:r>
              <a:rPr lang="en-US" sz="2800" dirty="0" smtClean="0"/>
              <a:t> – </a:t>
            </a:r>
            <a:r>
              <a:rPr lang="ru-RU" sz="2800" dirty="0" smtClean="0"/>
              <a:t>реестр ОС</a:t>
            </a:r>
            <a:r>
              <a:rPr lang="en-US" sz="2800" dirty="0" smtClean="0"/>
              <a:t> Windows</a:t>
            </a:r>
            <a:r>
              <a:rPr lang="ru-RU" sz="2800" dirty="0" smtClean="0"/>
              <a:t>)</a:t>
            </a:r>
            <a:endParaRPr lang="en-US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4078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69863"/>
            <a:ext cx="10058400" cy="728662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31627" y="1015804"/>
            <a:ext cx="10738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Список установленных встроенных </a:t>
            </a:r>
            <a:r>
              <a:rPr lang="ru-RU" sz="2800" dirty="0" smtClean="0"/>
              <a:t>модулей</a:t>
            </a:r>
            <a:r>
              <a:rPr lang="en-US" sz="2800" dirty="0"/>
              <a:t>: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27" y="1656964"/>
            <a:ext cx="7409237" cy="8579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12652" y="2514876"/>
            <a:ext cx="119793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3659BA"/>
                </a:solidFill>
              </a:rPr>
              <a:t>('_</a:t>
            </a:r>
            <a:r>
              <a:rPr lang="ru-RU" sz="2800" dirty="0" err="1">
                <a:solidFill>
                  <a:srgbClr val="3659BA"/>
                </a:solidFill>
              </a:rPr>
              <a:t>abc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ast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bisect</a:t>
            </a:r>
            <a:r>
              <a:rPr lang="ru-RU" sz="2800" dirty="0">
                <a:solidFill>
                  <a:srgbClr val="3659BA"/>
                </a:solidFill>
              </a:rPr>
              <a:t>', '_blake2', '_</a:t>
            </a:r>
            <a:r>
              <a:rPr lang="ru-RU" sz="2800" dirty="0" err="1">
                <a:solidFill>
                  <a:srgbClr val="3659BA"/>
                </a:solidFill>
              </a:rPr>
              <a:t>codecs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codecs_cn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codecs_hk</a:t>
            </a:r>
            <a:r>
              <a:rPr lang="ru-RU" sz="2800" dirty="0">
                <a:solidFill>
                  <a:srgbClr val="3659BA"/>
                </a:solidFill>
              </a:rPr>
              <a:t>', '_codecs_iso2022', '_</a:t>
            </a:r>
            <a:r>
              <a:rPr lang="ru-RU" sz="2800" dirty="0" err="1">
                <a:solidFill>
                  <a:srgbClr val="3659BA"/>
                </a:solidFill>
              </a:rPr>
              <a:t>codecs_jp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codecs_kr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codecs_tw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collections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contextvars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csv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datetime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functools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heapq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imp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io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json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locale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lsprof</a:t>
            </a:r>
            <a:r>
              <a:rPr lang="ru-RU" sz="2800" dirty="0">
                <a:solidFill>
                  <a:srgbClr val="3659BA"/>
                </a:solidFill>
              </a:rPr>
              <a:t>', '_md5', '_</a:t>
            </a:r>
            <a:r>
              <a:rPr lang="ru-RU" sz="2800" dirty="0" err="1">
                <a:solidFill>
                  <a:srgbClr val="3659BA"/>
                </a:solidFill>
              </a:rPr>
              <a:t>multibytecodec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opcode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operator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pickle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random</a:t>
            </a:r>
            <a:r>
              <a:rPr lang="ru-RU" sz="2800" dirty="0">
                <a:solidFill>
                  <a:srgbClr val="3659BA"/>
                </a:solidFill>
              </a:rPr>
              <a:t>', '_sha1', '_sha256', '_sha3', '_sha512', '_</a:t>
            </a:r>
            <a:r>
              <a:rPr lang="ru-RU" sz="2800" dirty="0" err="1">
                <a:solidFill>
                  <a:srgbClr val="3659BA"/>
                </a:solidFill>
              </a:rPr>
              <a:t>signal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sre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stat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statistics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string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struct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symtable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thread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tokenize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tracemalloc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typing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warnings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weakref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winapi</a:t>
            </a:r>
            <a:r>
              <a:rPr lang="ru-RU" sz="2800" dirty="0">
                <a:solidFill>
                  <a:srgbClr val="3659BA"/>
                </a:solidFill>
              </a:rPr>
              <a:t>', '_</a:t>
            </a:r>
            <a:r>
              <a:rPr lang="ru-RU" sz="2800" dirty="0" err="1">
                <a:solidFill>
                  <a:srgbClr val="3659BA"/>
                </a:solidFill>
              </a:rPr>
              <a:t>xxsubinterpreters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array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atexit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audioop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binascii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builtins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cmath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errno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faulthandler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gc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itertools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marshal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math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mmap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msvcrt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nt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sys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time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winreg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xxsubtype</a:t>
            </a:r>
            <a:r>
              <a:rPr lang="ru-RU" sz="2800" dirty="0">
                <a:solidFill>
                  <a:srgbClr val="3659BA"/>
                </a:solidFill>
              </a:rPr>
              <a:t>', '</a:t>
            </a:r>
            <a:r>
              <a:rPr lang="ru-RU" sz="2800" dirty="0" err="1">
                <a:solidFill>
                  <a:srgbClr val="3659BA"/>
                </a:solidFill>
              </a:rPr>
              <a:t>zlib</a:t>
            </a:r>
            <a:r>
              <a:rPr lang="ru-RU" sz="2800" dirty="0">
                <a:solidFill>
                  <a:srgbClr val="3659BA"/>
                </a:solidFill>
              </a:rPr>
              <a:t>')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855081" y="427827"/>
            <a:ext cx="223992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Модуль </a:t>
            </a:r>
            <a:r>
              <a:rPr lang="ru-RU" sz="1100" dirty="0" err="1"/>
              <a:t>sys</a:t>
            </a:r>
            <a:r>
              <a:rPr lang="ru-RU" sz="1100" dirty="0"/>
              <a:t> предоставляет программисту набор функций, которые дают информацию о том, как интерпретатор Python взаимодействует с операционной системой</a:t>
            </a:r>
            <a:r>
              <a:rPr lang="en-US" sz="1100" dirty="0"/>
              <a:t> </a:t>
            </a:r>
            <a:r>
              <a:rPr lang="ru-RU" sz="1100" dirty="0"/>
              <a:t>и позволяют напрямую взаимодействовать нам с </a:t>
            </a:r>
            <a:r>
              <a:rPr lang="ru-RU" sz="1100" dirty="0" smtClean="0"/>
              <a:t>интерпретатором</a:t>
            </a:r>
          </a:p>
          <a:p>
            <a:r>
              <a:rPr lang="ru-RU" sz="1100" dirty="0" smtClean="0"/>
              <a:t>Предоставляет инфо о версии Питона, пути к интерпретатору, параметрах командной строки, флагах интерпретатора…….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31820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92347" y="1958779"/>
            <a:ext cx="11137652" cy="1882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ru-RU" sz="2800" dirty="0" smtClean="0"/>
              <a:t>2.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Стандартная библиотека 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Standard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Library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Модули и пакеты, написанные на Python, предоставляющие расширенные возможности, например, 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hlinkClick r:id="rId3" tooltip="json"/>
              </a:rPr>
              <a:t>json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или 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hlinkClick r:id="rId4" tooltip="os"/>
              </a:rPr>
              <a:t>os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409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62275" y="897864"/>
            <a:ext cx="10655547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3.</a:t>
            </a:r>
            <a:r>
              <a:rPr kumimoji="0" lang="en-US" altLang="ru-RU" sz="2800" b="0" i="0" u="none" strike="noStrike" cap="none" normalizeH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Сторонние 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3rd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Party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Модули и пакеты, которые не входят в дистрибутив Python, и могут быть установлены из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hlinkClick r:id="rId3"/>
              </a:rPr>
              <a:t>каталога пакетов Python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 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PyPI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Python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Package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Index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более 90.000 пакетов) с помощью утилиты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pip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 smtClean="0"/>
              <a:t>python </a:t>
            </a:r>
            <a:r>
              <a:rPr lang="en-US" sz="2800" i="1" dirty="0"/>
              <a:t>-m pip install -U pip</a:t>
            </a:r>
            <a:endParaRPr kumimoji="0" lang="ru-RU" altLang="ru-RU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3" y="3144633"/>
            <a:ext cx="12167607" cy="353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16064" y="1113598"/>
            <a:ext cx="10655547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3.</a:t>
            </a:r>
            <a:r>
              <a:rPr kumimoji="0" lang="en-US" altLang="ru-RU" sz="2800" b="0" i="0" u="none" strike="noStrike" cap="none" normalizeH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Сторонние (</a:t>
            </a: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англ.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3rd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Party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Установка с помощью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pip:       </a:t>
            </a:r>
            <a:r>
              <a:rPr kumimoji="0" lang="en-US" altLang="ru-RU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pip</a:t>
            </a:r>
            <a:r>
              <a:rPr kumimoji="0" lang="en-US" altLang="ru-RU" sz="2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install &lt;</a:t>
            </a:r>
            <a:r>
              <a:rPr kumimoji="0" lang="en-US" altLang="ru-RU" sz="2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packageName</a:t>
            </a:r>
            <a:r>
              <a:rPr kumimoji="0" lang="en-US" altLang="ru-RU" sz="2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endParaRPr kumimoji="0" lang="ru-RU" altLang="ru-RU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4632"/>
            <a:ext cx="12055930" cy="185767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41034" y="5648345"/>
            <a:ext cx="114056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</a:rPr>
              <a:t>При установке пакета автоматически устанавливаются зависимые пакеты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8818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2" y="170121"/>
            <a:ext cx="10058400" cy="727743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- классификация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2958" y="1490116"/>
            <a:ext cx="10655547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dirty="0" smtClean="0">
                <a:solidFill>
                  <a:srgbClr val="404040"/>
                </a:solidFill>
              </a:rPr>
              <a:t>4. </a:t>
            </a:r>
            <a:r>
              <a:rPr lang="ru-RU" sz="2800" dirty="0"/>
              <a:t>Пользовательские (собственные</a:t>
            </a:r>
            <a:r>
              <a:rPr lang="ru-RU" sz="2800" dirty="0" smtClean="0"/>
              <a:t>)</a:t>
            </a:r>
            <a:endParaRPr lang="en-US" sz="2800" dirty="0" smtClean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800" dirty="0"/>
              <a:t>Модули и пакеты, создаваемые разработчиком</a:t>
            </a:r>
            <a:endParaRPr kumimoji="0" lang="ru-RU" altLang="ru-RU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150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47" y="197016"/>
            <a:ext cx="9654988" cy="932537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4699" y="2238976"/>
            <a:ext cx="9818854" cy="1877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 smtClean="0">
                <a:solidFill>
                  <a:srgbClr val="404040"/>
                </a:solidFill>
              </a:rPr>
              <a:t>Порядок импортирования модулей/пакетов: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 smtClean="0">
                <a:solidFill>
                  <a:srgbClr val="404040"/>
                </a:solidFill>
              </a:rPr>
              <a:t>от встроенных до собственных</a:t>
            </a:r>
            <a:r>
              <a:rPr lang="en-US" altLang="ru-RU" sz="2800" dirty="0" smtClean="0">
                <a:solidFill>
                  <a:srgbClr val="404040"/>
                </a:solidFill>
              </a:rPr>
              <a:t> (</a:t>
            </a:r>
            <a:r>
              <a:rPr lang="ru-RU" altLang="ru-RU" sz="2800" dirty="0" smtClean="0">
                <a:solidFill>
                  <a:srgbClr val="404040"/>
                </a:solidFill>
              </a:rPr>
              <a:t>инструкция в начале файла</a:t>
            </a:r>
            <a:r>
              <a:rPr lang="en-US" altLang="ru-RU" sz="2800" dirty="0" smtClean="0">
                <a:solidFill>
                  <a:srgbClr val="404040"/>
                </a:solidFill>
              </a:rPr>
              <a:t>)</a:t>
            </a:r>
            <a:endParaRPr lang="ru-RU" altLang="ru-RU" sz="2800" dirty="0" smtClean="0">
              <a:solidFill>
                <a:srgbClr val="404040"/>
              </a:solidFill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800" b="0" i="1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3200" b="1" i="1" dirty="0" smtClean="0">
                <a:solidFill>
                  <a:srgbClr val="404040"/>
                </a:solidFill>
              </a:rPr>
              <a:t>import &lt;</a:t>
            </a:r>
            <a:r>
              <a:rPr lang="en-US" altLang="ru-RU" sz="3200" b="1" i="1" dirty="0" err="1" smtClean="0">
                <a:solidFill>
                  <a:srgbClr val="404040"/>
                </a:solidFill>
              </a:rPr>
              <a:t>packageName</a:t>
            </a:r>
            <a:r>
              <a:rPr lang="en-US" altLang="ru-RU" sz="3200" b="1" i="1" dirty="0" smtClean="0">
                <a:solidFill>
                  <a:srgbClr val="404040"/>
                </a:solidFill>
              </a:rPr>
              <a:t>&gt;</a:t>
            </a:r>
            <a:endParaRPr kumimoji="0" lang="ru-RU" altLang="ru-RU" sz="32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694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47" y="0"/>
            <a:ext cx="9654988" cy="717384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– подключение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1498" y="717384"/>
            <a:ext cx="120550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Способ </a:t>
            </a:r>
            <a:r>
              <a:rPr lang="ru-RU" sz="2800" b="1" dirty="0"/>
              <a:t>№</a:t>
            </a:r>
            <a:r>
              <a:rPr lang="ru-RU" sz="2800" b="1" dirty="0" smtClean="0"/>
              <a:t>1 -  </a:t>
            </a:r>
            <a:r>
              <a:rPr lang="ru-RU" sz="2800" b="1" dirty="0"/>
              <a:t>В данном способе обратиться к </a:t>
            </a:r>
            <a:r>
              <a:rPr lang="ru-RU" sz="2800" b="1" dirty="0" smtClean="0"/>
              <a:t>элементу модуля </a:t>
            </a:r>
            <a:r>
              <a:rPr lang="ru-RU" sz="2800" b="1" dirty="0"/>
              <a:t>можно с указанием модуля</a:t>
            </a:r>
            <a:r>
              <a:rPr lang="ru-RU" sz="2800" b="1" dirty="0" smtClean="0"/>
              <a:t>,  </a:t>
            </a:r>
            <a:r>
              <a:rPr lang="ru-RU" sz="2800" b="1" dirty="0"/>
              <a:t>например, module_1.object_1</a:t>
            </a:r>
          </a:p>
          <a:p>
            <a:endParaRPr lang="ru-RU" sz="2800" dirty="0"/>
          </a:p>
          <a:p>
            <a:r>
              <a:rPr lang="ru-RU" sz="2800" i="1" dirty="0"/>
              <a:t># Импортирует модуль 'module_1'</a:t>
            </a:r>
          </a:p>
          <a:p>
            <a:r>
              <a:rPr lang="ru-RU" sz="2800" dirty="0" err="1"/>
              <a:t>import</a:t>
            </a:r>
            <a:r>
              <a:rPr lang="ru-RU" sz="2800" dirty="0"/>
              <a:t> module_1</a:t>
            </a:r>
          </a:p>
          <a:p>
            <a:endParaRPr lang="ru-RU" sz="2800" dirty="0"/>
          </a:p>
          <a:p>
            <a:r>
              <a:rPr lang="ru-RU" sz="2800" i="1" dirty="0"/>
              <a:t># Импортирует модули 'module_1', 'module_2',..., '</a:t>
            </a:r>
            <a:r>
              <a:rPr lang="ru-RU" sz="2800" i="1" dirty="0" err="1"/>
              <a:t>module_n</a:t>
            </a:r>
            <a:r>
              <a:rPr lang="ru-RU" sz="2800" i="1" dirty="0"/>
              <a:t>'</a:t>
            </a:r>
          </a:p>
          <a:p>
            <a:r>
              <a:rPr lang="ru-RU" sz="2800" dirty="0" err="1"/>
              <a:t>import</a:t>
            </a:r>
            <a:r>
              <a:rPr lang="ru-RU" sz="2800" dirty="0"/>
              <a:t> module_1, module_2, ..., </a:t>
            </a:r>
            <a:r>
              <a:rPr lang="ru-RU" sz="2800" dirty="0" err="1"/>
              <a:t>module_n</a:t>
            </a:r>
            <a:endParaRPr lang="ru-RU" sz="2800" dirty="0"/>
          </a:p>
          <a:p>
            <a:endParaRPr lang="ru-RU" sz="2800" dirty="0"/>
          </a:p>
          <a:p>
            <a:r>
              <a:rPr lang="ru-RU" sz="2800" i="1" dirty="0"/>
              <a:t># Импортирует модуль 'module_1' под псевдонимом '</a:t>
            </a:r>
            <a:r>
              <a:rPr lang="ru-RU" sz="2800" i="1" dirty="0" err="1"/>
              <a:t>preferred_name</a:t>
            </a:r>
            <a:r>
              <a:rPr lang="ru-RU" sz="2800" i="1" dirty="0"/>
              <a:t>'</a:t>
            </a:r>
          </a:p>
          <a:p>
            <a:r>
              <a:rPr lang="ru-RU" sz="2800" dirty="0" err="1"/>
              <a:t>import</a:t>
            </a:r>
            <a:r>
              <a:rPr lang="ru-RU" sz="2800" dirty="0"/>
              <a:t> module_1 </a:t>
            </a:r>
            <a:r>
              <a:rPr lang="ru-RU" sz="2800" dirty="0" err="1"/>
              <a:t>as</a:t>
            </a:r>
            <a:r>
              <a:rPr lang="ru-RU" sz="2800" dirty="0"/>
              <a:t> </a:t>
            </a:r>
            <a:r>
              <a:rPr lang="ru-RU" sz="2800" dirty="0" err="1"/>
              <a:t>preferred_name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7237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47" y="0"/>
            <a:ext cx="9654988" cy="717384"/>
          </a:xfrm>
        </p:spPr>
        <p:txBody>
          <a:bodyPr>
            <a:normAutofit/>
          </a:bodyPr>
          <a:lstStyle/>
          <a:p>
            <a:r>
              <a:rPr lang="ru-RU" dirty="0" smtClean="0"/>
              <a:t>Модули  – подключение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717384"/>
            <a:ext cx="1219199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Способ </a:t>
            </a:r>
            <a:r>
              <a:rPr lang="ru-RU" sz="2800" b="1" dirty="0"/>
              <a:t>№2 - В данном способе обратиться к члену модуля можно без указания модуля, например, </a:t>
            </a:r>
            <a:r>
              <a:rPr lang="en-US" sz="2800" b="1" dirty="0"/>
              <a:t>object_1</a:t>
            </a:r>
          </a:p>
          <a:p>
            <a:endParaRPr lang="en-US" sz="2800" b="1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'</a:t>
            </a:r>
            <a:r>
              <a:rPr lang="en-US" sz="2800" i="1" dirty="0"/>
              <a:t>object' </a:t>
            </a:r>
            <a:r>
              <a:rPr lang="ru-RU" sz="2800" i="1" dirty="0"/>
              <a:t>под псевдонимом '</a:t>
            </a:r>
            <a:r>
              <a:rPr lang="en-US" sz="2800" i="1" dirty="0" err="1"/>
              <a:t>preferred_name</a:t>
            </a:r>
            <a:r>
              <a:rPr lang="en-US" sz="2800" i="1" dirty="0"/>
              <a:t>' </a:t>
            </a:r>
            <a:r>
              <a:rPr lang="ru-RU" sz="2400" i="1" dirty="0"/>
              <a:t>из модуля '</a:t>
            </a:r>
            <a:r>
              <a:rPr lang="en-US" sz="2400" i="1" dirty="0"/>
              <a:t>module_1'</a:t>
            </a:r>
          </a:p>
          <a:p>
            <a:r>
              <a:rPr lang="en-US" sz="2800" dirty="0"/>
              <a:t>from module_1 import object as </a:t>
            </a:r>
            <a:r>
              <a:rPr lang="en-US" sz="2800" dirty="0" err="1"/>
              <a:t>preferred_name</a:t>
            </a:r>
            <a:endParaRPr lang="en-US" sz="2800" dirty="0"/>
          </a:p>
          <a:p>
            <a:endParaRPr lang="en-US" sz="2800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объекты '</a:t>
            </a:r>
            <a:r>
              <a:rPr lang="en-US" sz="2800" i="1" dirty="0"/>
              <a:t>object_1', ..., '</a:t>
            </a:r>
            <a:r>
              <a:rPr lang="en-US" sz="2800" i="1" dirty="0" err="1"/>
              <a:t>object_n</a:t>
            </a:r>
            <a:r>
              <a:rPr lang="en-US" sz="2800" i="1" dirty="0"/>
              <a:t>' </a:t>
            </a:r>
            <a:r>
              <a:rPr lang="ru-RU" sz="2800" i="1" dirty="0"/>
              <a:t>из модуля '</a:t>
            </a:r>
            <a:r>
              <a:rPr lang="en-US" sz="2800" i="1" dirty="0"/>
              <a:t>module_1'</a:t>
            </a:r>
          </a:p>
          <a:p>
            <a:r>
              <a:rPr lang="en-US" sz="2800" dirty="0"/>
              <a:t>from module_1 import object_1, object_2, ..., </a:t>
            </a:r>
            <a:r>
              <a:rPr lang="en-US" sz="2800" dirty="0" err="1"/>
              <a:t>object_n</a:t>
            </a:r>
            <a:endParaRPr lang="en-US" sz="2800" dirty="0"/>
          </a:p>
          <a:p>
            <a:endParaRPr lang="en-US" sz="2800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все объекты из модуля '</a:t>
            </a:r>
            <a:r>
              <a:rPr lang="en-US" sz="2800" i="1" dirty="0"/>
              <a:t>module_1'</a:t>
            </a:r>
          </a:p>
          <a:p>
            <a:r>
              <a:rPr lang="en-US" sz="2800" dirty="0"/>
              <a:t>from module_1 import *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207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738" y="415637"/>
            <a:ext cx="9654988" cy="717384"/>
          </a:xfrm>
        </p:spPr>
        <p:txBody>
          <a:bodyPr>
            <a:normAutofit/>
          </a:bodyPr>
          <a:lstStyle/>
          <a:p>
            <a:r>
              <a:rPr lang="ru-RU" dirty="0" smtClean="0"/>
              <a:t>Пакеты – подключение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28738" y="2546184"/>
            <a:ext cx="95873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i="1" dirty="0"/>
              <a:t># Импортирует пакет '</a:t>
            </a:r>
            <a:r>
              <a:rPr lang="en-US" sz="2800" i="1" dirty="0"/>
              <a:t>package_1'</a:t>
            </a:r>
          </a:p>
          <a:p>
            <a:r>
              <a:rPr lang="en-US" sz="2800" dirty="0"/>
              <a:t>import package_1</a:t>
            </a:r>
          </a:p>
          <a:p>
            <a:endParaRPr lang="en-US" sz="2800" dirty="0"/>
          </a:p>
          <a:p>
            <a:r>
              <a:rPr lang="en-US" sz="2800" i="1" dirty="0"/>
              <a:t># </a:t>
            </a:r>
            <a:r>
              <a:rPr lang="ru-RU" sz="2800" i="1" dirty="0"/>
              <a:t>Импортирует модуль '</a:t>
            </a:r>
            <a:r>
              <a:rPr lang="en-US" sz="2800" i="1" dirty="0"/>
              <a:t>module_1' </a:t>
            </a:r>
            <a:r>
              <a:rPr lang="ru-RU" sz="2800" i="1" dirty="0"/>
              <a:t>из пакета '</a:t>
            </a:r>
            <a:r>
              <a:rPr lang="en-US" sz="2800" i="1" dirty="0"/>
              <a:t>package_1'</a:t>
            </a:r>
          </a:p>
          <a:p>
            <a:r>
              <a:rPr lang="en-US" sz="2800" dirty="0"/>
              <a:t>import package_1.module_1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6579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1673" y="1936584"/>
            <a:ext cx="116932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smtClean="0"/>
              <a:t># </a:t>
            </a:r>
            <a:r>
              <a:rPr lang="ru-RU" sz="2800" i="1" dirty="0" smtClean="0"/>
              <a:t>Использование любого элемента модуля </a:t>
            </a:r>
            <a:r>
              <a:rPr lang="en-US" sz="2800" i="1" dirty="0" smtClean="0"/>
              <a:t>math </a:t>
            </a:r>
            <a:r>
              <a:rPr lang="ru-RU" sz="2800" i="1" dirty="0" smtClean="0"/>
              <a:t>возможно через</a:t>
            </a:r>
          </a:p>
          <a:p>
            <a:r>
              <a:rPr lang="ru-RU" sz="2800" i="1" dirty="0" smtClean="0"/>
              <a:t># предварительное указание его имени: </a:t>
            </a:r>
            <a:r>
              <a:rPr lang="en-US" sz="2800" i="1" dirty="0" smtClean="0"/>
              <a:t>math.&lt;...&gt;</a:t>
            </a:r>
          </a:p>
          <a:p>
            <a:r>
              <a:rPr lang="en-US" sz="2800" i="1" dirty="0" smtClean="0"/>
              <a:t>#</a:t>
            </a:r>
          </a:p>
          <a:p>
            <a:r>
              <a:rPr lang="en-US" sz="2800" i="1" dirty="0" smtClean="0"/>
              <a:t># </a:t>
            </a:r>
            <a:r>
              <a:rPr lang="ru-RU" sz="2800" i="1" dirty="0" smtClean="0"/>
              <a:t>Это - рекомендуемый способ импортирования модуля</a:t>
            </a:r>
          </a:p>
          <a:p>
            <a:endParaRPr lang="ru-RU" sz="2800" i="1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3" y="4183353"/>
            <a:ext cx="11475809" cy="10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3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800" y="1659493"/>
            <a:ext cx="116932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i="1" dirty="0" smtClean="0"/>
              <a:t># </a:t>
            </a:r>
            <a:r>
              <a:rPr lang="ru-RU" sz="2800" i="1" dirty="0"/>
              <a:t>Доступ к функции </a:t>
            </a:r>
            <a:r>
              <a:rPr lang="ru-RU" sz="2800" i="1" dirty="0" err="1"/>
              <a:t>sin</a:t>
            </a:r>
            <a:r>
              <a:rPr lang="ru-RU" sz="2800" i="1" dirty="0"/>
              <a:t>() возможен без указания модуля, а</a:t>
            </a:r>
          </a:p>
          <a:p>
            <a:r>
              <a:rPr lang="ru-RU" sz="2800" i="1" dirty="0"/>
              <a:t># к функции </a:t>
            </a:r>
            <a:r>
              <a:rPr lang="ru-RU" sz="2800" i="1" dirty="0" err="1"/>
              <a:t>radians</a:t>
            </a:r>
            <a:r>
              <a:rPr lang="ru-RU" sz="2800" i="1" dirty="0"/>
              <a:t>() только с указанием</a:t>
            </a:r>
          </a:p>
          <a:p>
            <a:r>
              <a:rPr lang="ru-RU" sz="2800" i="1" dirty="0"/>
              <a:t>#</a:t>
            </a:r>
          </a:p>
          <a:p>
            <a:r>
              <a:rPr lang="ru-RU" sz="2800" i="1" dirty="0"/>
              <a:t># Данный способ рекомендуется использовать:</a:t>
            </a:r>
          </a:p>
          <a:p>
            <a:r>
              <a:rPr lang="ru-RU" sz="2800" i="1" dirty="0"/>
              <a:t># - для повышения читаемости кода;</a:t>
            </a:r>
          </a:p>
          <a:p>
            <a:r>
              <a:rPr lang="ru-RU" sz="2800" i="1" dirty="0"/>
              <a:t># - если вероятность конфликта имен с другими участками кода </a:t>
            </a:r>
            <a:r>
              <a:rPr lang="ru-RU" sz="2800" i="1" dirty="0" smtClean="0"/>
              <a:t>мала</a:t>
            </a:r>
            <a:endParaRPr lang="ru-RU" sz="2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633710"/>
            <a:ext cx="10442222" cy="137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2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783288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700" i="1" dirty="0"/>
              <a:t># Любую функцию из модуля </a:t>
            </a:r>
            <a:r>
              <a:rPr lang="ru-RU" sz="2700" i="1" dirty="0" err="1"/>
              <a:t>math</a:t>
            </a:r>
            <a:r>
              <a:rPr lang="ru-RU" sz="2700" i="1" dirty="0"/>
              <a:t> можно указывать без ссылки на модуль</a:t>
            </a:r>
          </a:p>
          <a:p>
            <a:r>
              <a:rPr lang="ru-RU" sz="2700" i="1" dirty="0"/>
              <a:t>#</a:t>
            </a:r>
          </a:p>
          <a:p>
            <a:r>
              <a:rPr lang="ru-RU" sz="2700" i="1" dirty="0"/>
              <a:t># Данный способ, хотя и экономит место, НЕ рекомендуется в виду</a:t>
            </a:r>
          </a:p>
          <a:p>
            <a:r>
              <a:rPr lang="ru-RU" sz="2700" i="1" dirty="0"/>
              <a:t># высокой вероятности конфликта имен (импортированные таким образом</a:t>
            </a:r>
          </a:p>
          <a:p>
            <a:r>
              <a:rPr lang="ru-RU" sz="2700" i="1" dirty="0"/>
              <a:t># члены модуля могут совпасть по имени с другими объектами) </a:t>
            </a:r>
            <a:r>
              <a:rPr lang="ru-RU" sz="2700" i="1" dirty="0" smtClean="0"/>
              <a:t>и</a:t>
            </a:r>
            <a:endParaRPr lang="ru-RU" sz="2700" i="1" dirty="0"/>
          </a:p>
          <a:p>
            <a:r>
              <a:rPr lang="ru-RU" sz="2700" i="1" dirty="0" smtClean="0"/>
              <a:t>#</a:t>
            </a:r>
            <a:r>
              <a:rPr lang="en-US" sz="2700" i="1" dirty="0" smtClean="0"/>
              <a:t> </a:t>
            </a:r>
            <a:r>
              <a:rPr lang="ru-RU" sz="2700" i="1" dirty="0"/>
              <a:t>неоднозначности</a:t>
            </a:r>
            <a:r>
              <a:rPr lang="ru-RU" sz="2700" i="1" dirty="0" smtClean="0"/>
              <a:t> </a:t>
            </a:r>
            <a:r>
              <a:rPr lang="ru-RU" sz="2700" i="1" dirty="0"/>
              <a:t>поиска идентификатора (откуда импортирован </a:t>
            </a:r>
            <a:r>
              <a:rPr lang="ru-RU" sz="2700" i="1" dirty="0" err="1"/>
              <a:t>sin</a:t>
            </a:r>
            <a:r>
              <a:rPr lang="ru-RU" sz="2700" i="1" dirty="0"/>
              <a:t>?)</a:t>
            </a:r>
            <a:endParaRPr lang="ru-RU" sz="27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74" y="4661689"/>
            <a:ext cx="10790008" cy="121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4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80" y="324278"/>
            <a:ext cx="9654988" cy="932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подключение  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79" y="2244384"/>
            <a:ext cx="11164990" cy="19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2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просмотр содержимого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" y="2094141"/>
            <a:ext cx="12087246" cy="28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0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просмотр справки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054487"/>
            <a:ext cx="9336922" cy="408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1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поиск импортированного модуля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7800" y="2236931"/>
            <a:ext cx="12014200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1. Встроенный </a:t>
            </a:r>
            <a:r>
              <a:rPr lang="ru-RU" sz="2800" dirty="0"/>
              <a:t>модуль?</a:t>
            </a:r>
          </a:p>
          <a:p>
            <a:pPr>
              <a:spcBef>
                <a:spcPts val="600"/>
              </a:spcBef>
            </a:pPr>
            <a:r>
              <a:rPr lang="ru-RU" sz="2800" dirty="0" smtClean="0"/>
              <a:t>2. Файл </a:t>
            </a:r>
            <a:r>
              <a:rPr lang="ru-RU" sz="2800" dirty="0"/>
              <a:t>module.py / </a:t>
            </a:r>
            <a:r>
              <a:rPr lang="ru-RU" sz="2800" dirty="0" err="1"/>
              <a:t>module.pyc</a:t>
            </a:r>
            <a:r>
              <a:rPr lang="ru-RU" sz="2800" dirty="0"/>
              <a:t>, или пакет </a:t>
            </a:r>
            <a:r>
              <a:rPr lang="ru-RU" sz="2800" dirty="0" err="1"/>
              <a:t>package</a:t>
            </a:r>
            <a:r>
              <a:rPr lang="ru-RU" sz="2800" dirty="0"/>
              <a:t> есть в списке путей переменной </a:t>
            </a:r>
            <a:r>
              <a:rPr lang="ru-RU" sz="2800" dirty="0" err="1"/>
              <a:t>sys.path</a:t>
            </a:r>
            <a:r>
              <a:rPr lang="ru-RU" sz="2800" dirty="0"/>
              <a:t>?</a:t>
            </a:r>
          </a:p>
          <a:p>
            <a:pPr>
              <a:spcBef>
                <a:spcPts val="600"/>
              </a:spcBef>
            </a:pPr>
            <a:r>
              <a:rPr lang="ru-RU" sz="2800" i="1" dirty="0" err="1" smtClean="0"/>
              <a:t>sys.path</a:t>
            </a:r>
            <a:r>
              <a:rPr lang="ru-RU" sz="2800" dirty="0" smtClean="0"/>
              <a:t> </a:t>
            </a:r>
            <a:r>
              <a:rPr lang="ru-RU" sz="2800" dirty="0"/>
              <a:t>- список, при инициализации включающий:</a:t>
            </a:r>
          </a:p>
          <a:p>
            <a:pPr marL="890588" indent="-457200">
              <a:buFont typeface="Arial" panose="020B0604020202020204" pitchFamily="34" charset="0"/>
              <a:buChar char="•"/>
              <a:tabLst>
                <a:tab pos="265113" algn="l"/>
              </a:tabLst>
            </a:pPr>
            <a:r>
              <a:rPr lang="ru-RU" sz="2800" dirty="0" smtClean="0"/>
              <a:t>рабочую </a:t>
            </a:r>
            <a:r>
              <a:rPr lang="ru-RU" sz="2800" dirty="0"/>
              <a:t>директорию скрипта (основного модуля);</a:t>
            </a:r>
          </a:p>
          <a:p>
            <a:pPr marL="890588" indent="-457200">
              <a:buFont typeface="Arial" panose="020B0604020202020204" pitchFamily="34" charset="0"/>
              <a:buChar char="•"/>
              <a:tabLst>
                <a:tab pos="265113" algn="l"/>
              </a:tabLst>
            </a:pPr>
            <a:r>
              <a:rPr lang="ru-RU" sz="2800" dirty="0" smtClean="0"/>
              <a:t>переменную </a:t>
            </a:r>
            <a:r>
              <a:rPr lang="ru-RU" sz="2800" dirty="0"/>
              <a:t>окружения PYTHONPATH и пути инсталляции Python.</a:t>
            </a:r>
          </a:p>
          <a:p>
            <a:pPr>
              <a:spcBef>
                <a:spcPts val="600"/>
              </a:spcBef>
            </a:pPr>
            <a:r>
              <a:rPr lang="ru-RU" sz="2800" dirty="0" smtClean="0"/>
              <a:t>Если </a:t>
            </a:r>
            <a:r>
              <a:rPr lang="ru-RU" sz="2800" dirty="0"/>
              <a:t>модуль не удается найти, возбуждается исключение </a:t>
            </a:r>
            <a:r>
              <a:rPr lang="ru-RU" sz="2800" dirty="0" err="1"/>
              <a:t>ModuleNotFoundError</a:t>
            </a:r>
            <a:r>
              <a:rPr lang="ru-RU" sz="2800" dirty="0"/>
              <a:t>. </a:t>
            </a:r>
            <a:endParaRPr lang="ru-RU" sz="2800" dirty="0" smtClean="0"/>
          </a:p>
          <a:p>
            <a:r>
              <a:rPr lang="ru-RU" sz="2800" dirty="0" smtClean="0"/>
              <a:t>При </a:t>
            </a:r>
            <a:r>
              <a:rPr lang="ru-RU" sz="2800" dirty="0"/>
              <a:t>ошибке загрузки существующего модуля - </a:t>
            </a:r>
            <a:r>
              <a:rPr lang="ru-RU" sz="2800" dirty="0" err="1"/>
              <a:t>ImportError</a:t>
            </a:r>
            <a:r>
              <a:rPr lang="ru-RU" sz="2800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7800" y="1788041"/>
            <a:ext cx="86719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404040"/>
                </a:solidFill>
                <a:latin typeface="Lato" panose="020F0502020204030203" pitchFamily="34" charset="0"/>
              </a:rPr>
              <a:t>При импорте модуля или пакета Python выполняет его поиск в следующем порядке: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51862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1540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Модули и пакеты – поиск импортированного модуля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2" y="2608501"/>
            <a:ext cx="2571472" cy="56044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87691" y="3677229"/>
            <a:ext cx="118872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dirty="0"/>
              <a:t>['',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Lib</a:t>
            </a:r>
            <a:r>
              <a:rPr lang="ru-RU" sz="2500" dirty="0"/>
              <a:t>\\</a:t>
            </a:r>
            <a:r>
              <a:rPr lang="ru-RU" sz="2500" dirty="0" err="1"/>
              <a:t>idlelib</a:t>
            </a:r>
            <a:r>
              <a:rPr lang="ru-RU" sz="2500" dirty="0"/>
              <a:t>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\\Python\\Python311\\python311.zip',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Lib</a:t>
            </a:r>
            <a:r>
              <a:rPr lang="ru-RU" sz="2500" dirty="0"/>
              <a:t>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DLLs</a:t>
            </a:r>
            <a:r>
              <a:rPr lang="ru-RU" sz="2500" dirty="0"/>
              <a:t>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\\Python\\Python311', 'C:\\</a:t>
            </a:r>
            <a:r>
              <a:rPr lang="ru-RU" sz="2500" dirty="0" err="1"/>
              <a:t>Users</a:t>
            </a:r>
            <a:r>
              <a:rPr lang="ru-RU" sz="2500" dirty="0"/>
              <a:t>\\ANNA\\</a:t>
            </a:r>
            <a:r>
              <a:rPr lang="ru-RU" sz="2500" dirty="0" err="1"/>
              <a:t>AppData</a:t>
            </a:r>
            <a:r>
              <a:rPr lang="ru-RU" sz="2500" dirty="0"/>
              <a:t>\\</a:t>
            </a:r>
            <a:r>
              <a:rPr lang="ru-RU" sz="2500" dirty="0" err="1"/>
              <a:t>Local</a:t>
            </a:r>
            <a:r>
              <a:rPr lang="ru-RU" sz="2500" dirty="0"/>
              <a:t>\\</a:t>
            </a:r>
            <a:r>
              <a:rPr lang="ru-RU" sz="2500" dirty="0" err="1"/>
              <a:t>Programs</a:t>
            </a:r>
            <a:r>
              <a:rPr lang="ru-RU" sz="2500" dirty="0"/>
              <a:t>\\Python\\Python311\\</a:t>
            </a:r>
            <a:r>
              <a:rPr lang="ru-RU" sz="2500" dirty="0" err="1"/>
              <a:t>Lib</a:t>
            </a:r>
            <a:r>
              <a:rPr lang="ru-RU" sz="2500" dirty="0"/>
              <a:t>\\</a:t>
            </a:r>
            <a:r>
              <a:rPr lang="ru-RU" sz="2500" dirty="0" err="1"/>
              <a:t>site-packages</a:t>
            </a:r>
            <a:r>
              <a:rPr lang="ru-RU" sz="2500" dirty="0"/>
              <a:t>']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31902" y="1793005"/>
            <a:ext cx="546409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Для проверки содержимого </a:t>
            </a:r>
            <a:r>
              <a:rPr kumimoji="0" lang="ru-RU" altLang="ru-RU" sz="900" b="1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  <a:hlinkClick r:id="rId4" tooltip="sys.path"/>
              </a:rPr>
              <a:t>sys.path</a:t>
            </a: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 можно выполнить следующий код:</a:t>
            </a:r>
            <a:r>
              <a:rPr kumimoji="0" lang="ru-RU" altLang="ru-RU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430323" y="2060954"/>
            <a:ext cx="3445726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Рабочая директория расположена в </a:t>
            </a:r>
            <a:r>
              <a:rPr lang="ru-RU" sz="1100" dirty="0" err="1">
                <a:hlinkClick r:id="rId4" tooltip="sys.path"/>
              </a:rPr>
              <a:t>sys.path</a:t>
            </a:r>
            <a:r>
              <a:rPr lang="ru-RU" sz="1100" dirty="0"/>
              <a:t> в начале списка, поэтому не следует называть собственные модули или пакеты аналогично встроенным (например, </a:t>
            </a:r>
            <a:r>
              <a:rPr lang="ru-RU" sz="1100" dirty="0" err="1">
                <a:hlinkClick r:id="rId5" tooltip="json"/>
              </a:rPr>
              <a:t>json</a:t>
            </a:r>
            <a:r>
              <a:rPr lang="ru-RU" sz="1100" dirty="0"/>
              <a:t>) - интерпретатор в первую очередь найдет пользовательский модуль/пакет</a:t>
            </a:r>
          </a:p>
        </p:txBody>
      </p:sp>
    </p:spTree>
    <p:extLst>
      <p:ext uri="{BB962C8B-B14F-4D97-AF65-F5344CB8AC3E}">
        <p14:creationId xmlns:p14="http://schemas.microsoft.com/office/powerpoint/2010/main" val="261532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97279" y="168442"/>
            <a:ext cx="10068025" cy="82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Специальные атрибуты модулей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482216"/>
              </p:ext>
            </p:extLst>
          </p:nvPr>
        </p:nvGraphicFramePr>
        <p:xfrm>
          <a:off x="692483" y="2135382"/>
          <a:ext cx="10930021" cy="198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66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90336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__name__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Полное имя модуля. Пример: "</a:t>
                      </a:r>
                      <a:r>
                        <a:rPr lang="ru-RU" sz="2800" dirty="0" err="1" smtClean="0"/>
                        <a:t>math</a:t>
                      </a:r>
                      <a:r>
                        <a:rPr lang="ru-RU" sz="2800" dirty="0" smtClean="0"/>
                        <a:t>" или "</a:t>
                      </a:r>
                      <a:r>
                        <a:rPr lang="ru-RU" sz="2800" dirty="0" err="1" smtClean="0"/>
                        <a:t>os.path</a:t>
                      </a:r>
                      <a:r>
                        <a:rPr lang="ru-RU" sz="2800" dirty="0" smtClean="0"/>
                        <a:t>".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__doc__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Строка документации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__file__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Полный путь к файлу, из которого модуль был создан (загружен). Пример: C:\code\task_09_01_02\fibonacci.py.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92483" y="994801"/>
            <a:ext cx="10757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404040"/>
                </a:solidFill>
                <a:latin typeface="Lato" panose="020F0502020204030203" pitchFamily="34" charset="0"/>
              </a:rPr>
              <a:t>Каждый модуль имеет специальные и дополнительные </a:t>
            </a:r>
            <a:r>
              <a:rPr lang="ru-RU" sz="1200" dirty="0" smtClean="0">
                <a:solidFill>
                  <a:srgbClr val="404040"/>
                </a:solidFill>
                <a:latin typeface="Lato" panose="020F0502020204030203" pitchFamily="34" charset="0"/>
              </a:rPr>
              <a:t>атрибуты</a:t>
            </a:r>
            <a:endParaRPr lang="ru-RU" sz="12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ru-RU" sz="1200" dirty="0" smtClean="0"/>
              <a:t>Специальные </a:t>
            </a:r>
            <a:r>
              <a:rPr lang="ru-RU" sz="1200" dirty="0"/>
              <a:t>атрибуты содержат системную информацию о модуле (путь запуска, имя модуля и др.) и доступны всегда. Некоторые из них</a:t>
            </a:r>
            <a:r>
              <a:rPr lang="ru-RU" sz="1200" dirty="0" smtClean="0"/>
              <a:t>: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4317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6569" y="168442"/>
            <a:ext cx="11670632" cy="938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Дополнительные (необязательные) атрибуты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8232" y="1836870"/>
            <a:ext cx="11975431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800" dirty="0">
                <a:solidFill>
                  <a:srgbClr val="404040"/>
                </a:solidFill>
                <a:latin typeface="+mn-lt"/>
              </a:rPr>
              <a:t>М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огут содержать справочную информацию об авторе, версии модуля и т.д.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404040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author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copyright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credits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license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version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maintainer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email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status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35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26785"/>
            <a:ext cx="11670632" cy="71250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Кэширование (</a:t>
            </a:r>
            <a:r>
              <a:rPr lang="en-US" dirty="0" smtClean="0"/>
              <a:t>“</a:t>
            </a:r>
            <a:r>
              <a:rPr lang="ru-RU" dirty="0" smtClean="0"/>
              <a:t>компиляция</a:t>
            </a:r>
            <a:r>
              <a:rPr lang="en-US" dirty="0" smtClean="0"/>
              <a:t>”</a:t>
            </a:r>
            <a:r>
              <a:rPr lang="ru-RU" dirty="0" smtClean="0"/>
              <a:t>) модулей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8773"/>
            <a:ext cx="10782689" cy="414289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6211669"/>
            <a:ext cx="120922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запуске программы происходит компиляция в промежуточный байт-код (бинарный файл с расширением </a:t>
            </a:r>
            <a:r>
              <a:rPr lang="ru-RU" sz="1200" dirty="0"/>
              <a:t>*.</a:t>
            </a:r>
            <a:r>
              <a:rPr lang="ru-RU" sz="1200" dirty="0" err="1"/>
              <a:t>pyc</a:t>
            </a:r>
            <a:r>
              <a:rPr lang="ru-RU" dirty="0"/>
              <a:t>) всех импортированных модулей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218234" y="736410"/>
            <a:ext cx="197376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/>
              <a:t>Python считается интерпретируемым языком, однако имеет </a:t>
            </a:r>
            <a:r>
              <a:rPr lang="ru-RU" sz="1000" dirty="0">
                <a:hlinkClick r:id="rId4"/>
              </a:rPr>
              <a:t>гибридную составляющую</a:t>
            </a:r>
            <a:r>
              <a:rPr lang="ru-RU" sz="1000" dirty="0"/>
              <a:t>: при запуске программы происходит компиляция в промежуточный байт-код (бинарный файл с расширением *.</a:t>
            </a:r>
            <a:r>
              <a:rPr lang="ru-RU" sz="1000" dirty="0" err="1"/>
              <a:t>pyc</a:t>
            </a:r>
            <a:r>
              <a:rPr lang="ru-RU" sz="1000" dirty="0"/>
              <a:t>) всех импортированных модулей, после чего код выполняется виртуальной машиной.</a:t>
            </a:r>
          </a:p>
          <a:p>
            <a:endParaRPr lang="ru-RU" sz="1000" dirty="0"/>
          </a:p>
          <a:p>
            <a:r>
              <a:rPr lang="ru-RU" sz="1000" dirty="0"/>
              <a:t>Файл *.</a:t>
            </a:r>
            <a:r>
              <a:rPr lang="ru-RU" sz="1000" dirty="0" err="1"/>
              <a:t>pyc</a:t>
            </a:r>
            <a:r>
              <a:rPr lang="ru-RU" sz="1000" dirty="0"/>
              <a:t> создается заново только в случае, если исходный код был изменен (проверяется дата изменения), иначе используется уже найденная «скомпилированная» версия. При этом компилируются только импортируемые модули (так, текущий запускаемый модуль скомпилирован не будет).</a:t>
            </a:r>
          </a:p>
        </p:txBody>
      </p:sp>
    </p:spTree>
    <p:extLst>
      <p:ext uri="{BB962C8B-B14F-4D97-AF65-F5344CB8AC3E}">
        <p14:creationId xmlns:p14="http://schemas.microsoft.com/office/powerpoint/2010/main" val="92190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6569" y="168442"/>
            <a:ext cx="11670632" cy="938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olidFill>
                  <a:srgbClr val="404040"/>
                </a:solidFill>
              </a:rPr>
              <a:t>Особенности </a:t>
            </a:r>
            <a:r>
              <a:rPr lang="ru-RU" altLang="ru-RU" dirty="0">
                <a:solidFill>
                  <a:srgbClr val="E74C3C"/>
                </a:solidFill>
              </a:rPr>
              <a:t>*.</a:t>
            </a:r>
            <a:r>
              <a:rPr lang="ru-RU" altLang="ru-RU" dirty="0" err="1">
                <a:solidFill>
                  <a:srgbClr val="E74C3C"/>
                </a:solidFill>
              </a:rPr>
              <a:t>pyc</a:t>
            </a:r>
            <a:r>
              <a:rPr lang="ru-RU" altLang="ru-RU" dirty="0">
                <a:solidFill>
                  <a:srgbClr val="404040"/>
                </a:solidFill>
              </a:rPr>
              <a:t>-файлов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6569" y="2116240"/>
            <a:ext cx="11540625" cy="31748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имеют бинарный формат;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загружаются быстрее, чем исходные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*.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-файлы; при этом скорость выполнения одинакова в обоих случаях;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создаются в папке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__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</a:rPr>
              <a:t>pycache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__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и имеют имя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имя_модуля.cpython-35.pyc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(для реализации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</a:rPr>
              <a:t>CPython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), где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</a:rPr>
              <a:t>35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 - версия Python;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«привязаны» к версии интерпретатора (обязательно в пределах основной версии) и платформе компиляции.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16569" y="5491820"/>
            <a:ext cx="1119210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«Скомпилированные» файлы могут также предоставляться вместо исходных, например, когда нужно скрыть код реализации.</a:t>
            </a:r>
          </a:p>
          <a:p>
            <a:r>
              <a:rPr lang="ru-RU" sz="1100" dirty="0"/>
              <a:t>В то же время, применяется это не часто, т.к. в отличие от языков программирования, компилируемых непосредственно в машинный код (например, Си), для языков, использующих байт-код (</a:t>
            </a:r>
            <a:r>
              <a:rPr lang="ru-RU" sz="1100" dirty="0" err="1"/>
              <a:t>Java</a:t>
            </a:r>
            <a:r>
              <a:rPr lang="ru-RU" sz="1100" dirty="0"/>
              <a:t>, C#, Python и др.), высока вероятность полной </a:t>
            </a:r>
            <a:r>
              <a:rPr lang="ru-RU" sz="1100" dirty="0">
                <a:hlinkClick r:id="rId3"/>
              </a:rPr>
              <a:t>декомпиляции</a:t>
            </a:r>
            <a:r>
              <a:rPr lang="ru-RU" sz="1100" dirty="0"/>
              <a:t> (воссоздания исходного кода) скомпилированной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55750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3" y="252649"/>
            <a:ext cx="4427622" cy="122722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2190871"/>
            <a:ext cx="3777916" cy="10204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 smtClean="0">
                <a:solidFill>
                  <a:srgbClr val="404040"/>
                </a:solidFill>
              </a:rPr>
              <a:t>Пример -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Файл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>Fibonacci.py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235" y="0"/>
            <a:ext cx="7526725" cy="68580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95470" y="3445660"/>
            <a:ext cx="35869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PEP8.</a:t>
            </a:r>
          </a:p>
          <a:p>
            <a:r>
              <a:rPr lang="ru-RU" sz="1100" dirty="0"/>
              <a:t>Соглашение рекомендует использовать:</a:t>
            </a:r>
          </a:p>
          <a:p>
            <a:r>
              <a:rPr lang="ru-RU" sz="1100" dirty="0" err="1">
                <a:hlinkClick r:id="rId4"/>
              </a:rPr>
              <a:t>змеиный_регистр</a:t>
            </a:r>
            <a:r>
              <a:rPr lang="ru-RU" sz="1100" dirty="0"/>
              <a:t> (</a:t>
            </a:r>
            <a:r>
              <a:rPr lang="ru-RU" sz="1100" i="1" dirty="0"/>
              <a:t>англ.</a:t>
            </a:r>
            <a:r>
              <a:rPr lang="ru-RU" sz="1100" dirty="0"/>
              <a:t> </a:t>
            </a:r>
            <a:r>
              <a:rPr lang="ru-RU" sz="1100" dirty="0" err="1"/>
              <a:t>snake_case</a:t>
            </a:r>
            <a:r>
              <a:rPr lang="ru-RU" sz="1100" dirty="0"/>
              <a:t>) для наименования модулей: </a:t>
            </a:r>
            <a:r>
              <a:rPr lang="ru-RU" sz="1100" dirty="0" err="1"/>
              <a:t>my_module</a:t>
            </a:r>
            <a:r>
              <a:rPr lang="ru-RU" sz="1100" dirty="0"/>
              <a:t>;</a:t>
            </a:r>
          </a:p>
          <a:p>
            <a:r>
              <a:rPr lang="ru-RU" sz="1100" dirty="0">
                <a:hlinkClick r:id="rId5"/>
              </a:rPr>
              <a:t>строки документации</a:t>
            </a:r>
            <a:r>
              <a:rPr lang="ru-RU" sz="1100" dirty="0"/>
              <a:t>.</a:t>
            </a:r>
          </a:p>
          <a:p>
            <a:r>
              <a:rPr lang="ru-RU" sz="1100" dirty="0"/>
              <a:t>Любой файл с расширением *.</a:t>
            </a:r>
            <a:r>
              <a:rPr lang="ru-RU" sz="1100" dirty="0" err="1"/>
              <a:t>py</a:t>
            </a:r>
            <a:r>
              <a:rPr lang="ru-RU" sz="1100" dirty="0"/>
              <a:t> является модулем</a:t>
            </a:r>
            <a:endParaRPr lang="en-US" sz="1100" dirty="0"/>
          </a:p>
          <a:p>
            <a:r>
              <a:rPr lang="ru-RU" sz="1100" dirty="0"/>
              <a:t>Основной модуль программы, как правило, удобно называть main.py</a:t>
            </a:r>
          </a:p>
        </p:txBody>
      </p:sp>
    </p:spTree>
    <p:extLst>
      <p:ext uri="{BB962C8B-B14F-4D97-AF65-F5344CB8AC3E}">
        <p14:creationId xmlns:p14="http://schemas.microsoft.com/office/powerpoint/2010/main" val="291738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50"/>
            <a:ext cx="8007987" cy="8061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1836911"/>
            <a:ext cx="11970388" cy="4467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Любой модуль в Python может быть: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запущен автономно (как скрипт, например, в командной строке или через IDE);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импортирован (через 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  <a:hlinkClick r:id="rId3" tooltip="import"/>
              </a:rPr>
              <a:t>import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При написании собственного модуля необходимо предполагать, будет он запускаться автономно или использоваться для импорта. При этом следует избегать обособленного кода, который выполнялся бы в обоих вариантах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1042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3" y="252649"/>
            <a:ext cx="8946450" cy="830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21613" y="1082842"/>
            <a:ext cx="11617461" cy="27439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/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Чтобы выполнить различный код в зависимости от того, запущен модуль или импортирован, достаточно использовать специальный идентификатор __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name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__, который содержит:</a:t>
            </a:r>
          </a:p>
          <a:p>
            <a:pPr lvl="0" algn="just"/>
            <a:endParaRPr lang="ru-RU" altLang="ru-RU" sz="28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имя модуля, если он </a:t>
            </a:r>
            <a:r>
              <a:rPr lang="ru-RU" alt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импортирован 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(например, "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fibonacci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" или "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math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");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ru-RU" alt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специальное 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наименование "__</a:t>
            </a:r>
            <a:r>
              <a:rPr lang="ru-RU" altLang="ru-RU" sz="2800" dirty="0" err="1">
                <a:solidFill>
                  <a:srgbClr val="404040"/>
                </a:solidFill>
                <a:latin typeface="Lato" panose="020F0502020204030203" pitchFamily="34" charset="0"/>
              </a:rPr>
              <a:t>main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__", если модуль </a:t>
            </a:r>
            <a:r>
              <a:rPr lang="ru-RU" alt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запущен </a:t>
            </a:r>
            <a:r>
              <a:rPr lang="ru-RU" alt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автономно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3103" y="3965311"/>
            <a:ext cx="9860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 модуль </a:t>
            </a:r>
            <a:r>
              <a:rPr lang="ru-RU" dirty="0"/>
              <a:t>вычисления чисел Фибоначчи </a:t>
            </a:r>
            <a:r>
              <a:rPr lang="ru-RU" dirty="0" smtClean="0"/>
              <a:t>добавить проверку </a:t>
            </a:r>
            <a:r>
              <a:rPr lang="ru-RU" dirty="0"/>
              <a:t>__</a:t>
            </a:r>
            <a:r>
              <a:rPr lang="ru-RU" dirty="0" err="1"/>
              <a:t>name</a:t>
            </a:r>
            <a:r>
              <a:rPr lang="ru-RU" dirty="0"/>
              <a:t>__ 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03" y="4473143"/>
            <a:ext cx="9618030" cy="16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5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2952" y="0"/>
            <a:ext cx="5955252" cy="6904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72" y="927093"/>
            <a:ext cx="12175977" cy="366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6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02952" y="0"/>
            <a:ext cx="5955252" cy="6904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 smtClean="0">
                <a:solidFill>
                  <a:srgbClr val="404040"/>
                </a:solidFill>
              </a:rPr>
              <a:t>Собственные модули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363478" y="1007906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Как правило, проверка __</a:t>
            </a:r>
            <a:r>
              <a:rPr lang="ru-RU" sz="1200" dirty="0" err="1"/>
              <a:t>name</a:t>
            </a:r>
            <a:r>
              <a:rPr lang="ru-RU" sz="1200" dirty="0"/>
              <a:t>__ используется в основном файле программы, а вспомогательные модули избавляются от кода вне функций и/или классов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8050"/>
            <a:ext cx="12031640" cy="324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3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250095"/>
              </p:ext>
            </p:extLst>
          </p:nvPr>
        </p:nvGraphicFramePr>
        <p:xfrm>
          <a:off x="457201" y="2115329"/>
          <a:ext cx="11381872" cy="2590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81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7937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Константа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π=3.141592...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 доступной точностью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Константа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e=2.718281...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 доступной точностью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ceil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Наименьшее целое, большее или равное вещественному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floor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наибольшее целое, меньшее или равное вещественного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trunc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целую часть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 виде целого числа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57201" y="1034716"/>
            <a:ext cx="108172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Модуль </a:t>
            </a:r>
            <a:r>
              <a:rPr lang="ru-RU" dirty="0" err="1"/>
              <a:t>math</a:t>
            </a:r>
            <a:r>
              <a:rPr lang="ru-RU" dirty="0"/>
              <a:t> предоставляет доступ к математическим функциям, определяемым стандартом языка Си. Как правило, все функции модуля </a:t>
            </a:r>
            <a:r>
              <a:rPr lang="ru-RU" dirty="0" err="1"/>
              <a:t>math</a:t>
            </a:r>
            <a:r>
              <a:rPr lang="ru-RU" dirty="0"/>
              <a:t> возвращают значения вещественного типа.</a:t>
            </a:r>
          </a:p>
        </p:txBody>
      </p:sp>
    </p:spTree>
    <p:extLst>
      <p:ext uri="{BB962C8B-B14F-4D97-AF65-F5344CB8AC3E}">
        <p14:creationId xmlns:p14="http://schemas.microsoft.com/office/powerpoint/2010/main" val="26786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3" y="13000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1613" y="795067"/>
            <a:ext cx="11970387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800" b="1" dirty="0" err="1"/>
              <a:t>math.isclose</a:t>
            </a:r>
            <a:r>
              <a:rPr lang="ru-RU" sz="2800" b="1" dirty="0"/>
              <a:t>(a, b, *, </a:t>
            </a:r>
            <a:r>
              <a:rPr lang="ru-RU" sz="2800" b="1" dirty="0" err="1"/>
              <a:t>rel_tol</a:t>
            </a:r>
            <a:r>
              <a:rPr lang="ru-RU" sz="2800" b="1" dirty="0"/>
              <a:t>=1e-09, </a:t>
            </a:r>
            <a:r>
              <a:rPr lang="ru-RU" sz="2800" b="1" dirty="0" err="1"/>
              <a:t>abs_tol</a:t>
            </a:r>
            <a:r>
              <a:rPr lang="ru-RU" sz="2800" b="1" dirty="0"/>
              <a:t>=0.0)</a:t>
            </a:r>
          </a:p>
          <a:p>
            <a:r>
              <a:rPr lang="ru-RU" dirty="0"/>
              <a:t>Возвращает </a:t>
            </a:r>
            <a:r>
              <a:rPr lang="ru-RU" dirty="0" err="1"/>
              <a:t>True</a:t>
            </a:r>
            <a:r>
              <a:rPr lang="ru-RU" dirty="0"/>
              <a:t> если значения a и b равны с заданной точностью.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 smtClean="0"/>
              <a:t>rel_tol</a:t>
            </a:r>
            <a:r>
              <a:rPr lang="ru-RU" sz="2800" dirty="0" smtClean="0"/>
              <a:t> </a:t>
            </a:r>
            <a:r>
              <a:rPr lang="ru-RU" sz="2800" dirty="0"/>
              <a:t>– относительная погрешность: максимально допустимая разница между a и b относительно максимального значения их модулей; задается в процентах, например, для погрешности в 5% </a:t>
            </a:r>
            <a:r>
              <a:rPr lang="ru-RU" sz="2800" dirty="0" err="1"/>
              <a:t>rel_tol</a:t>
            </a:r>
            <a:r>
              <a:rPr lang="ru-RU" sz="2800" dirty="0"/>
              <a:t>=0.05;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 smtClean="0"/>
              <a:t>abs_tol</a:t>
            </a:r>
            <a:r>
              <a:rPr lang="ru-RU" sz="2800" dirty="0" smtClean="0"/>
              <a:t> </a:t>
            </a:r>
            <a:r>
              <a:rPr lang="ru-RU" sz="2800" dirty="0"/>
              <a:t>– абсолютная погрешность: минимально допустимая разница между a и b; как правило, используется для сравнения с нулевым значением.</a:t>
            </a:r>
          </a:p>
          <a:p>
            <a:r>
              <a:rPr lang="ru-RU" sz="2400" dirty="0" smtClean="0"/>
              <a:t>Результат </a:t>
            </a:r>
            <a:r>
              <a:rPr lang="ru-RU" sz="2400" dirty="0"/>
              <a:t>функции </a:t>
            </a:r>
            <a:r>
              <a:rPr lang="ru-RU" sz="2400" dirty="0" smtClean="0"/>
              <a:t>эквивалентен:</a:t>
            </a:r>
          </a:p>
          <a:p>
            <a:r>
              <a:rPr lang="ru-RU" sz="2800" dirty="0" err="1" smtClean="0"/>
              <a:t>abs</a:t>
            </a:r>
            <a:r>
              <a:rPr lang="ru-RU" sz="2800" dirty="0" smtClean="0"/>
              <a:t>(a-b) &lt;= </a:t>
            </a:r>
            <a:r>
              <a:rPr lang="ru-RU" sz="2800" dirty="0" err="1" smtClean="0"/>
              <a:t>max</a:t>
            </a:r>
            <a:r>
              <a:rPr lang="ru-RU" sz="2800" dirty="0" smtClean="0"/>
              <a:t>(</a:t>
            </a:r>
            <a:r>
              <a:rPr lang="ru-RU" sz="2800" dirty="0" err="1" smtClean="0"/>
              <a:t>rel_tol</a:t>
            </a:r>
            <a:r>
              <a:rPr lang="ru-RU" sz="2800" dirty="0" smtClean="0"/>
              <a:t> * </a:t>
            </a:r>
            <a:r>
              <a:rPr lang="ru-RU" sz="2800" dirty="0" err="1" smtClean="0"/>
              <a:t>max</a:t>
            </a:r>
            <a:r>
              <a:rPr lang="ru-RU" sz="2800" dirty="0" smtClean="0"/>
              <a:t>(</a:t>
            </a:r>
            <a:r>
              <a:rPr lang="ru-RU" sz="2800" dirty="0" err="1" smtClean="0"/>
              <a:t>abs</a:t>
            </a:r>
            <a:r>
              <a:rPr lang="ru-RU" sz="2800" dirty="0" smtClean="0"/>
              <a:t>(a), </a:t>
            </a:r>
            <a:r>
              <a:rPr lang="ru-RU" sz="2800" dirty="0" err="1" smtClean="0"/>
              <a:t>abs</a:t>
            </a:r>
            <a:r>
              <a:rPr lang="ru-RU" sz="2800" dirty="0" smtClean="0"/>
              <a:t>(b)), </a:t>
            </a:r>
            <a:r>
              <a:rPr lang="ru-RU" sz="2800" dirty="0" err="1" smtClean="0"/>
              <a:t>abs_tol</a:t>
            </a:r>
            <a:r>
              <a:rPr lang="ru-RU" sz="2800" dirty="0" smtClean="0"/>
              <a:t>)</a:t>
            </a:r>
          </a:p>
          <a:p>
            <a:r>
              <a:rPr lang="ru-RU" dirty="0" smtClean="0"/>
              <a:t>Пример:</a:t>
            </a:r>
          </a:p>
          <a:p>
            <a:r>
              <a:rPr lang="ru-RU" sz="2800" dirty="0" err="1" smtClean="0"/>
              <a:t>math.isclose</a:t>
            </a:r>
            <a:r>
              <a:rPr lang="ru-RU" sz="2800" dirty="0" smtClean="0"/>
              <a:t>(5.0012</a:t>
            </a:r>
            <a:r>
              <a:rPr lang="ru-RU" sz="2800" dirty="0"/>
              <a:t>, 5.001, </a:t>
            </a:r>
            <a:r>
              <a:rPr lang="ru-RU" sz="2800" dirty="0" err="1"/>
              <a:t>rel_tol</a:t>
            </a:r>
            <a:r>
              <a:rPr lang="ru-RU" sz="2800" dirty="0"/>
              <a:t>=0.001)  </a:t>
            </a:r>
            <a:r>
              <a:rPr lang="ru-RU" sz="2000" dirty="0" smtClean="0"/>
              <a:t># </a:t>
            </a:r>
            <a:r>
              <a:rPr lang="ru-RU" sz="2000" dirty="0"/>
              <a:t>0.0002 &lt; 0.0050012, до 3-х знаков</a:t>
            </a:r>
          </a:p>
          <a:p>
            <a:r>
              <a:rPr lang="ru-RU" sz="2800" dirty="0" err="1"/>
              <a:t>True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7633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007196"/>
              </p:ext>
            </p:extLst>
          </p:nvPr>
        </p:nvGraphicFramePr>
        <p:xfrm>
          <a:off x="104274" y="1297181"/>
          <a:ext cx="11734799" cy="4998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31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81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exp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2800" b="0" i="0" u="none" strike="noStrike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ru-RU" sz="2800" b="0" baseline="300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factorial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Факториал </a:t>
                      </a:r>
                      <a:r>
                        <a:rPr lang="en-US" sz="2800" b="0" dirty="0" smtClean="0">
                          <a:effectLst/>
                        </a:rPr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log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Логарифм числа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основанию </a:t>
                      </a:r>
                      <a:r>
                        <a:rPr lang="ru-RU" sz="2800" b="0" dirty="0" err="1" smtClean="0">
                          <a:effectLst/>
                        </a:rPr>
                        <a:t>base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умолчанию)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log2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Логарифм числа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основанию 2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pow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ru-RU" sz="2800" b="0" i="0" u="none" strike="noStrike" kern="1200" baseline="300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 Эквивалентно x**y, но принудительно конвертирует аргументы в тип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sqrt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Квадратный корень из </a:t>
                      </a:r>
                      <a:r>
                        <a:rPr lang="en-US" sz="2800" b="0" dirty="0" smtClean="0">
                          <a:effectLst/>
                        </a:rPr>
                        <a:t>x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fabs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>
                          <a:effectLst/>
                        </a:rPr>
                        <a:t>|x|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В отличие от </a:t>
                      </a:r>
                      <a:r>
                        <a:rPr lang="ru-RU" sz="2800" b="0" dirty="0" err="1" smtClean="0">
                          <a:effectLst/>
                        </a:rPr>
                        <a:t>abs</a:t>
                      </a:r>
                      <a:r>
                        <a:rPr lang="ru-RU" sz="2800" b="0" dirty="0" smtClean="0">
                          <a:effectLst/>
                        </a:rPr>
                        <a:t>()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принудительно переводит аргумент в тип </a:t>
                      </a:r>
                      <a:r>
                        <a:rPr lang="ru-RU" sz="2800" b="0" dirty="0" err="1" smtClean="0">
                          <a:effectLst/>
                        </a:rPr>
                        <a:t>float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copysign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effectLst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 знаком </a:t>
                      </a:r>
                      <a:r>
                        <a:rPr lang="en-US" sz="2800" b="0" dirty="0" smtClean="0">
                          <a:effectLst/>
                        </a:rPr>
                        <a:t>y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43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38" y="1322572"/>
            <a:ext cx="10814716" cy="48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2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14914"/>
              </p:ext>
            </p:extLst>
          </p:nvPr>
        </p:nvGraphicFramePr>
        <p:xfrm>
          <a:off x="162942" y="1540042"/>
          <a:ext cx="11734799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31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81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sin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sz="2800" b="0" dirty="0" smtClean="0"/>
                        <a:t>cos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r>
                        <a:rPr lang="en-US" sz="2800" b="0" dirty="0" smtClean="0"/>
                        <a:t>tan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 тригонометрических функций (синус, косинус, тангенс)</a:t>
                      </a:r>
                    </a:p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 –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угол в радианах</a:t>
                      </a:r>
                      <a:endParaRPr lang="ru-RU" sz="2800" b="0" baseline="300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asin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800" b="0" dirty="0" err="1" smtClean="0"/>
                        <a:t>acos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2800" b="0" dirty="0" err="1" smtClean="0"/>
                        <a:t>atan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 обратных тригонометрических функций (арксинус, арккосинус, арктангенс).</a:t>
                      </a:r>
                    </a:p>
                    <a:p>
                      <a:r>
                        <a:rPr lang="ru-RU" sz="2800" b="0" dirty="0" smtClean="0">
                          <a:effectLst/>
                        </a:rPr>
                        <a:t>x – значение соответствующей функции.</a:t>
                      </a:r>
                    </a:p>
                    <a:p>
                      <a:r>
                        <a:rPr lang="ru-RU" sz="2800" b="0" dirty="0" smtClean="0"/>
                        <a:t>Результат - </a:t>
                      </a:r>
                      <a:r>
                        <a:rPr lang="ru-RU" sz="2800" b="0" dirty="0" smtClean="0">
                          <a:effectLst/>
                        </a:rPr>
                        <a:t>угол в радианах</a:t>
                      </a:r>
                      <a:endParaRPr lang="ru-RU" sz="28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hypot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«Гипотенуза», эквивалентно </a:t>
                      </a:r>
                      <a:r>
                        <a:rPr lang="en-US" sz="2800" b="0" dirty="0" err="1" smtClean="0">
                          <a:effectLst/>
                        </a:rPr>
                        <a:t>sqrt</a:t>
                      </a:r>
                      <a:r>
                        <a:rPr lang="en-US" sz="2800" b="0" dirty="0" smtClean="0">
                          <a:effectLst/>
                        </a:rPr>
                        <a:t>(x*x</a:t>
                      </a:r>
                      <a:r>
                        <a:rPr lang="en-US" sz="2800" b="0" dirty="0" smtClean="0"/>
                        <a:t> </a:t>
                      </a:r>
                      <a:r>
                        <a:rPr lang="en-US" sz="2800" b="0" dirty="0" smtClean="0">
                          <a:effectLst/>
                        </a:rPr>
                        <a:t>+</a:t>
                      </a:r>
                      <a:r>
                        <a:rPr lang="en-US" sz="2800" b="0" dirty="0" smtClean="0"/>
                        <a:t> </a:t>
                      </a:r>
                      <a:r>
                        <a:rPr lang="en-US" sz="2800" b="0" dirty="0" smtClean="0">
                          <a:effectLst/>
                        </a:rPr>
                        <a:t>y*y)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degrees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радиан в градусах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radians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 </a:t>
                      </a:r>
                      <a:r>
                        <a:rPr lang="ru-RU" sz="2800" b="0" dirty="0" smtClean="0">
                          <a:effectLst/>
                        </a:rPr>
                        <a:t>x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градусов в радианах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12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1612" y="25264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math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14" y="1246360"/>
            <a:ext cx="10713456" cy="508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9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250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7650" y="794576"/>
            <a:ext cx="116174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Практически все функции модуля основаны на функции </a:t>
            </a:r>
            <a:r>
              <a:rPr lang="ru-RU" dirty="0" err="1"/>
              <a:t>random</a:t>
            </a:r>
            <a:r>
              <a:rPr lang="ru-RU" dirty="0"/>
              <a:t>(). </a:t>
            </a: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243158" y="1328138"/>
            <a:ext cx="1130644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инициализации ГПСЧ </a:t>
            </a:r>
            <a:r>
              <a:rPr lang="ru-RU" sz="2400" dirty="0" smtClean="0"/>
              <a:t> требуется целое число, </a:t>
            </a:r>
            <a:r>
              <a:rPr lang="ru-RU" sz="2400" dirty="0"/>
              <a:t>определяющее будущую генерируемую последовательность. </a:t>
            </a:r>
            <a:endParaRPr lang="ru-RU" sz="2400" dirty="0" smtClean="0"/>
          </a:p>
          <a:p>
            <a:r>
              <a:rPr lang="ru-RU" sz="2400" dirty="0" smtClean="0"/>
              <a:t>Нет </a:t>
            </a:r>
            <a:r>
              <a:rPr lang="ru-RU" sz="2400" dirty="0"/>
              <a:t>возможности узнать зависимость между этим числом и получаемой последовательностью.</a:t>
            </a:r>
          </a:p>
          <a:p>
            <a:endParaRPr lang="ru-RU" sz="2400" dirty="0"/>
          </a:p>
          <a:p>
            <a:r>
              <a:rPr lang="ru-RU" sz="2400" dirty="0" smtClean="0"/>
              <a:t>Используется </a:t>
            </a:r>
            <a:r>
              <a:rPr lang="ru-RU" sz="2400" dirty="0"/>
              <a:t>алгоритм «Вихрь </a:t>
            </a:r>
            <a:r>
              <a:rPr lang="ru-RU" sz="2400" dirty="0" err="1"/>
              <a:t>Мерсенна</a:t>
            </a:r>
            <a:r>
              <a:rPr lang="ru-RU" sz="2400" dirty="0"/>
              <a:t>», который лишен многих недостатков, присущих другим алгоритмам генерации (малый период, предсказуемость, легко выявляемая статистическая зависимость и др.). 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Данный </a:t>
            </a:r>
            <a:r>
              <a:rPr lang="ru-RU" sz="2400" dirty="0"/>
              <a:t>алгоритм не является </a:t>
            </a:r>
            <a:r>
              <a:rPr lang="ru-RU" sz="2400" dirty="0" err="1"/>
              <a:t>криптостойким</a:t>
            </a:r>
            <a:r>
              <a:rPr lang="ru-RU" sz="2400" dirty="0"/>
              <a:t> </a:t>
            </a:r>
            <a:r>
              <a:rPr lang="ru-RU" sz="2400" dirty="0" smtClean="0"/>
              <a:t>(теоретически </a:t>
            </a:r>
            <a:r>
              <a:rPr lang="ru-RU" sz="2400" dirty="0"/>
              <a:t>возможно «предсказать» их генерацию), поэтому не должен использоваться для задач, связанных с информационной безопасностью (например, для криптографии, шифрования и т.д</a:t>
            </a:r>
            <a:r>
              <a:rPr lang="ru-RU" sz="2400" dirty="0" smtClean="0"/>
              <a:t>.).</a:t>
            </a:r>
            <a:r>
              <a:rPr lang="ru-RU" sz="2400" dirty="0"/>
              <a:t> требует определенное целое число </a:t>
            </a:r>
          </a:p>
        </p:txBody>
      </p:sp>
    </p:spTree>
    <p:extLst>
      <p:ext uri="{BB962C8B-B14F-4D97-AF65-F5344CB8AC3E}">
        <p14:creationId xmlns:p14="http://schemas.microsoft.com/office/powerpoint/2010/main" val="66281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807015"/>
              </p:ext>
            </p:extLst>
          </p:nvPr>
        </p:nvGraphicFramePr>
        <p:xfrm>
          <a:off x="0" y="962526"/>
          <a:ext cx="12192000" cy="393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260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3659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random.seed</a:t>
                      </a:r>
                      <a:r>
                        <a:rPr lang="en-US" sz="2800" b="0" dirty="0" smtClean="0"/>
                        <a:t>(a=None, version=2)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Инициализирует генератор. Если аргумент a передан, используется в качестве инициализатора, в противном случае используется системное время</a:t>
                      </a:r>
                      <a:endParaRPr lang="ru-RU" sz="2400" b="0" baseline="300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random.getrandbits</a:t>
                      </a:r>
                      <a:r>
                        <a:rPr lang="en-US" sz="2800" b="0" dirty="0" smtClean="0"/>
                        <a:t>(k)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целое число из k случайных бит. Если k = 4, сгенерируется случайное двоичное число от 0000</a:t>
                      </a:r>
                      <a:r>
                        <a:rPr lang="ru-RU" sz="2400" b="0" i="0" kern="1200" baseline="-25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до 1111</a:t>
                      </a:r>
                      <a:r>
                        <a:rPr lang="ru-RU" sz="2400" b="0" i="0" kern="1200" baseline="-25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2400" b="0" baseline="-250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random.randrange</a:t>
                      </a:r>
                      <a:r>
                        <a:rPr lang="en-US" sz="2800" b="0" dirty="0" smtClean="0"/>
                        <a:t>(stop)</a:t>
                      </a:r>
                    </a:p>
                    <a:p>
                      <a:r>
                        <a:rPr lang="en-US" sz="2800" b="0" dirty="0" err="1" smtClean="0"/>
                        <a:t>random.randrange</a:t>
                      </a:r>
                      <a:r>
                        <a:rPr lang="en-US" sz="2800" b="0" dirty="0" smtClean="0"/>
                        <a:t>(start, stop[, step])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случайное число из полуинтервала [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с шагом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(int) – начальное значение (по умолчанию 0);</a:t>
                      </a:r>
                    </a:p>
                    <a:p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(int) – конечное значение (не включается в результат);</a:t>
                      </a:r>
                    </a:p>
                    <a:p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(int) – шаг изменения (по умолчанию 1, может быть отрицательным).</a:t>
                      </a:r>
                      <a:endParaRPr lang="ru-RU" sz="24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0" y="4937849"/>
            <a:ext cx="116174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математически невозможно сгенерировать по-настоящему случайные числа, используя компьютер, </a:t>
            </a:r>
            <a:r>
              <a:rPr lang="ru-RU" dirty="0" smtClean="0"/>
              <a:t>можно только псевдослучайные.</a:t>
            </a:r>
          </a:p>
          <a:p>
            <a:pPr algn="just"/>
            <a:r>
              <a:rPr lang="ru-RU" dirty="0" smtClean="0">
                <a:solidFill>
                  <a:srgbClr val="404040"/>
                </a:solidFill>
                <a:latin typeface="Lato" panose="020F0502020204030203" pitchFamily="34" charset="0"/>
              </a:rPr>
              <a:t>Псевдослучайные </a:t>
            </a: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числа обладают определенными характеристиками: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сгенерированная последовательность не должна повторяться;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числа в последовательности должны быть равномерно распределены на определенном промежутке.</a:t>
            </a:r>
            <a:endParaRPr lang="ru-RU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3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424622"/>
              </p:ext>
            </p:extLst>
          </p:nvPr>
        </p:nvGraphicFramePr>
        <p:xfrm>
          <a:off x="1253409" y="1293680"/>
          <a:ext cx="10873272" cy="4297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5232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2094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randint</a:t>
                      </a:r>
                      <a:r>
                        <a:rPr lang="en-US" sz="2800" b="0" dirty="0" smtClean="0"/>
                        <a:t>(a, b)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случайное число на отрезке [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a;b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]. 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Эквивалентно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randrange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(a, b + 1)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5473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random()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случайное число из полуинтервала [0.0;1.0)</a:t>
                      </a:r>
                      <a:endParaRPr lang="ru-RU" sz="2800" b="0" baseline="-250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uniform(a, b)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/>
                        <a:t>случайное число на отрезке [</a:t>
                      </a:r>
                      <a:r>
                        <a:rPr lang="ru-RU" sz="2800" b="0" dirty="0" err="1" smtClean="0"/>
                        <a:t>a;b</a:t>
                      </a:r>
                      <a:r>
                        <a:rPr lang="ru-RU" sz="2800" b="0" dirty="0" smtClean="0"/>
                        <a:t>]</a:t>
                      </a:r>
                    </a:p>
                    <a:p>
                      <a:r>
                        <a:rPr lang="ru-RU" sz="2800" b="0" dirty="0" smtClean="0"/>
                        <a:t>Эквивалентно </a:t>
                      </a:r>
                      <a:r>
                        <a:rPr lang="en-US" sz="2800" b="0" dirty="0" smtClean="0"/>
                        <a:t>a + (b-a) * random()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choice(</a:t>
                      </a:r>
                      <a:r>
                        <a:rPr lang="en-US" sz="2800" b="0" dirty="0" err="1" smtClean="0"/>
                        <a:t>seq</a:t>
                      </a:r>
                      <a:r>
                        <a:rPr lang="en-US" sz="2800" b="0" dirty="0" smtClean="0"/>
                        <a:t>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/>
                        <a:t>случайный элемент из последовательности </a:t>
                      </a:r>
                      <a:r>
                        <a:rPr lang="ru-RU" sz="2800" b="0" dirty="0" err="1" smtClean="0"/>
                        <a:t>seq</a:t>
                      </a:r>
                      <a:endParaRPr lang="ru-RU" sz="2800" b="0" dirty="0" smtClean="0"/>
                    </a:p>
                    <a:p>
                      <a:r>
                        <a:rPr lang="ru-RU" sz="2800" b="0" dirty="0" smtClean="0"/>
                        <a:t>Если в </a:t>
                      </a:r>
                      <a:r>
                        <a:rPr lang="ru-RU" sz="2800" b="0" dirty="0" err="1" smtClean="0"/>
                        <a:t>seq</a:t>
                      </a:r>
                      <a:r>
                        <a:rPr lang="ru-RU" sz="2800" b="0" dirty="0" smtClean="0"/>
                        <a:t> нет элементов, возбуждается исключение </a:t>
                      </a:r>
                      <a:r>
                        <a:rPr lang="ru-RU" sz="2800" b="0" dirty="0" err="1" smtClean="0"/>
                        <a:t>IndexError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shuffle(x[, random])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/>
                        <a:t>Перемешивает последовательность </a:t>
                      </a:r>
                      <a:r>
                        <a:rPr lang="en-US" sz="2800" b="0" dirty="0" smtClean="0"/>
                        <a:t>x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93" y="1293680"/>
            <a:ext cx="15407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random.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7383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1" y="928660"/>
            <a:ext cx="7587692" cy="5895474"/>
          </a:xfrm>
          <a:prstGeom prst="rect">
            <a:avLst/>
          </a:prstGeom>
        </p:spPr>
      </p:pic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128" y="1160939"/>
            <a:ext cx="3629645" cy="1429861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128" y="2927336"/>
            <a:ext cx="1595487" cy="42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72341"/>
              </p:ext>
            </p:extLst>
          </p:nvPr>
        </p:nvGraphicFramePr>
        <p:xfrm>
          <a:off x="1268962" y="1421022"/>
          <a:ext cx="10705323" cy="54369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712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3402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78210"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latin typeface="+mn-lt"/>
                        </a:rPr>
                        <a:t>sample(population, k)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dirty="0" smtClean="0">
                          <a:latin typeface="+mn-lt"/>
                        </a:rPr>
                        <a:t>список неповторяющихся элементов длины k, выбранных из последовательности </a:t>
                      </a:r>
                      <a:r>
                        <a:rPr lang="ru-RU" sz="2800" b="0" dirty="0" err="1" smtClean="0">
                          <a:latin typeface="+mn-lt"/>
                        </a:rPr>
                        <a:t>population</a:t>
                      </a:r>
                      <a:r>
                        <a:rPr lang="ru-RU" sz="2800" b="0" dirty="0" smtClean="0">
                          <a:latin typeface="+mn-lt"/>
                        </a:rPr>
                        <a:t> («случайная выборка без возврата»). Если k &gt; </a:t>
                      </a:r>
                      <a:r>
                        <a:rPr lang="ru-RU" sz="2800" b="0" dirty="0" err="1" smtClean="0">
                          <a:latin typeface="+mn-lt"/>
                        </a:rPr>
                        <a:t>len</a:t>
                      </a:r>
                      <a:r>
                        <a:rPr lang="ru-RU" sz="2800" b="0" dirty="0" smtClean="0">
                          <a:latin typeface="+mn-lt"/>
                        </a:rPr>
                        <a:t>(</a:t>
                      </a:r>
                      <a:r>
                        <a:rPr lang="ru-RU" sz="2800" b="0" dirty="0" err="1" smtClean="0">
                          <a:latin typeface="+mn-lt"/>
                        </a:rPr>
                        <a:t>population</a:t>
                      </a:r>
                      <a:r>
                        <a:rPr lang="ru-RU" sz="2800" b="0" dirty="0" smtClean="0">
                          <a:latin typeface="+mn-lt"/>
                        </a:rPr>
                        <a:t>), возбуждается исключение </a:t>
                      </a:r>
                      <a:r>
                        <a:rPr lang="ru-RU" sz="2800" b="0" dirty="0" err="1" smtClean="0">
                          <a:latin typeface="+mn-lt"/>
                        </a:rPr>
                        <a:t>ValueError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11938">
                <a:tc>
                  <a:txBody>
                    <a:bodyPr/>
                    <a:lstStyle/>
                    <a:p>
                      <a:r>
                        <a:rPr lang="en-US" sz="2800" b="0" dirty="0" err="1" smtClean="0">
                          <a:latin typeface="+mn-lt"/>
                        </a:rPr>
                        <a:t>random.gauss</a:t>
                      </a:r>
                      <a:r>
                        <a:rPr lang="en-US" sz="2800" b="0" dirty="0" smtClean="0">
                          <a:latin typeface="+mn-lt"/>
                        </a:rPr>
                        <a:t>(mu, sigma)</a:t>
                      </a:r>
                    </a:p>
                    <a:p>
                      <a:r>
                        <a:rPr lang="en-US" sz="2800" b="0" dirty="0" err="1" smtClean="0">
                          <a:latin typeface="+mn-lt"/>
                        </a:rPr>
                        <a:t>random.normalvariate</a:t>
                      </a:r>
                      <a:r>
                        <a:rPr lang="en-US" sz="2800" b="0" dirty="0" smtClean="0">
                          <a:latin typeface="+mn-lt"/>
                        </a:rPr>
                        <a:t>(mu, sigma)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Возвращает число, полученное по закону нормального распределения (распределение Гаусса).</a:t>
                      </a:r>
                    </a:p>
                    <a:p>
                      <a:endParaRPr lang="ru-RU" sz="2800" b="0" baseline="-25000" dirty="0" smtClean="0">
                        <a:effectLst/>
                        <a:latin typeface="+mn-lt"/>
                      </a:endParaRPr>
                    </a:p>
                    <a:p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Параметры</a:t>
                      </a:r>
                    </a:p>
                    <a:p>
                      <a:r>
                        <a:rPr lang="ru-RU" sz="2800" b="0" baseline="-25000" dirty="0" err="1" smtClean="0">
                          <a:effectLst/>
                          <a:latin typeface="+mn-lt"/>
                        </a:rPr>
                        <a:t>mu</a:t>
                      </a:r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 – среднее значение;</a:t>
                      </a:r>
                    </a:p>
                    <a:p>
                      <a:endParaRPr lang="ru-RU" sz="2800" b="0" baseline="-25000" dirty="0" smtClean="0">
                        <a:effectLst/>
                        <a:latin typeface="+mn-lt"/>
                      </a:endParaRPr>
                    </a:p>
                    <a:p>
                      <a:r>
                        <a:rPr lang="ru-RU" sz="2800" b="0" baseline="-25000" dirty="0" err="1" smtClean="0">
                          <a:effectLst/>
                          <a:latin typeface="+mn-lt"/>
                        </a:rPr>
                        <a:t>sigma</a:t>
                      </a:r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 – стандартное отклонение.</a:t>
                      </a:r>
                    </a:p>
                    <a:p>
                      <a:endParaRPr lang="ru-RU" sz="2800" b="0" baseline="-25000" dirty="0" smtClean="0">
                        <a:effectLst/>
                        <a:latin typeface="+mn-lt"/>
                      </a:endParaRPr>
                    </a:p>
                    <a:p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Первая функция не </a:t>
                      </a:r>
                      <a:r>
                        <a:rPr lang="ru-RU" sz="2800" b="0" baseline="-25000" dirty="0" err="1" smtClean="0">
                          <a:effectLst/>
                          <a:latin typeface="+mn-lt"/>
                        </a:rPr>
                        <a:t>потокобезопасна</a:t>
                      </a:r>
                      <a:r>
                        <a:rPr lang="ru-RU" sz="2800" b="0" baseline="-25000" dirty="0" smtClean="0">
                          <a:effectLst/>
                          <a:latin typeface="+mn-lt"/>
                        </a:rPr>
                        <a:t>, но работает несколько быстрее.</a:t>
                      </a:r>
                      <a:endParaRPr lang="ru-RU" sz="2800" b="0" baseline="-2500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419644"/>
            <a:ext cx="14196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random.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8762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6174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random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38" y="1391210"/>
            <a:ext cx="11087723" cy="402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7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en-US" dirty="0" smtClean="0"/>
              <a:t>statistics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75033"/>
              </p:ext>
            </p:extLst>
          </p:nvPr>
        </p:nvGraphicFramePr>
        <p:xfrm>
          <a:off x="398541" y="1576709"/>
          <a:ext cx="11403988" cy="396194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6717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368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93547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mean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 арифметическое элементов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(последовательности или итерируемого объекта).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Если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== 0, возбуждается исключение 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StatisticsError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47115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median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медиан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последовательности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Если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== 0, возбуждается исключение 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StatisticsError</a:t>
                      </a:r>
                      <a:endParaRPr lang="ru-RU" sz="2800" b="0" baseline="-2500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45461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mode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мода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последовательности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Если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== 0 или все элементы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уникальны, возбуждается исключение 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StatisticsError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05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en-US" dirty="0" smtClean="0"/>
              <a:t>statistics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993298"/>
              </p:ext>
            </p:extLst>
          </p:nvPr>
        </p:nvGraphicFramePr>
        <p:xfrm>
          <a:off x="174172" y="967110"/>
          <a:ext cx="11800114" cy="5242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017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33994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47115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variance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dirty="0" err="1" smtClean="0"/>
                        <a:t>pvariance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дисперси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выборки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генеральной совокупности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соответственно.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Последовательность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должна содержать по крайней мере 2 значения, иначе возбуждается 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исключение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StatisticsError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средние значения, если равны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вычисляются автоматически</a:t>
                      </a:r>
                      <a:endParaRPr lang="ru-RU" sz="2000" b="0" baseline="-25000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47115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stdev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dirty="0" err="1" smtClean="0"/>
                        <a:t>pstdev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стандартное отклонение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(квадратный корень из дисперсии) для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выборки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генеральной совокупности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соответственно.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Последовательность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должна содержать по крайней мере 2 значения, иначе возбуждается 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исключение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StatisticsError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xbar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средние значения, если равны 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вычисляются автоматически</a:t>
                      </a:r>
                      <a:endParaRPr lang="ru-RU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45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en-US" dirty="0" smtClean="0"/>
              <a:t>statistics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04" y="1954569"/>
            <a:ext cx="9725967" cy="342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5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74539" y="180459"/>
            <a:ext cx="11007861" cy="7820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en-US" dirty="0"/>
              <a:t> </a:t>
            </a:r>
            <a:r>
              <a:rPr lang="ru-RU" dirty="0" smtClean="0"/>
              <a:t>дата/время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546622"/>
              </p:ext>
            </p:extLst>
          </p:nvPr>
        </p:nvGraphicFramePr>
        <p:xfrm>
          <a:off x="824297" y="1164426"/>
          <a:ext cx="10508344" cy="3322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811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3602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 dirty="0" err="1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datetime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Классы для работы с датой/временем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4"/>
                        </a:rPr>
                        <a:t>time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Функции для работы с временем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calendar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Классы для работы с календарем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6"/>
                        </a:rPr>
                        <a:t>pytz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Данные о всех временных зонах согласно </a:t>
                      </a:r>
                      <a:r>
                        <a:rPr lang="ru-RU" sz="2800" u="none" strike="noStrike" dirty="0">
                          <a:solidFill>
                            <a:srgbClr val="1B7A41"/>
                          </a:solidFill>
                          <a:effectLst/>
                          <a:hlinkClick r:id="rId7"/>
                        </a:rPr>
                        <a:t>базе данных часовых поясов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locale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Доступ к набору 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локалей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48817" y="4893920"/>
            <a:ext cx="113335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лока́ль</a:t>
            </a:r>
            <a:r>
              <a:rPr lang="ru-RU" dirty="0"/>
              <a:t> </a:t>
            </a:r>
            <a:r>
              <a:rPr lang="ru-RU" dirty="0" smtClean="0"/>
              <a:t>— </a:t>
            </a:r>
            <a:r>
              <a:rPr lang="ru-RU" dirty="0"/>
              <a:t>набор параметров, определяющий региональные настройки пользовательского интерфейса, такие как язык, страна, часовой пояс, набор символов, формат вывода даты, времени, используемая денежная единица и пр.</a:t>
            </a:r>
          </a:p>
          <a:p>
            <a:r>
              <a:rPr lang="ru-RU" dirty="0"/>
              <a:t>Установка региональных параметров является частью большого процесса локализации. </a:t>
            </a:r>
          </a:p>
        </p:txBody>
      </p:sp>
    </p:spTree>
    <p:extLst>
      <p:ext uri="{BB962C8B-B14F-4D97-AF65-F5344CB8AC3E}">
        <p14:creationId xmlns:p14="http://schemas.microsoft.com/office/powerpoint/2010/main" val="24095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6969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классы модуля </a:t>
            </a:r>
            <a:r>
              <a:rPr lang="en-US" dirty="0" err="1" smtClean="0"/>
              <a:t>datetime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517124"/>
              </p:ext>
            </p:extLst>
          </p:nvPr>
        </p:nvGraphicFramePr>
        <p:xfrm>
          <a:off x="236468" y="696917"/>
          <a:ext cx="11684001" cy="5608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527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73128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 dirty="0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time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Время, не привязанное к конкретному дню (считает, что каждый день содержит 24*60*60 секунд)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4"/>
                        </a:rPr>
                        <a:t>date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Дата по </a:t>
                      </a:r>
                      <a:r>
                        <a:rPr lang="ru-RU" sz="2800" u="none" strike="noStrike" dirty="0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Григорианскому календарю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328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6"/>
                        </a:rPr>
                        <a:t>datetime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Комбинация </a:t>
                      </a:r>
                      <a:r>
                        <a:rPr lang="en-US" sz="2800" dirty="0">
                          <a:effectLst/>
                        </a:rPr>
                        <a:t>date </a:t>
                      </a:r>
                      <a:r>
                        <a:rPr lang="ru-RU" sz="2800" dirty="0">
                          <a:effectLst/>
                        </a:rPr>
                        <a:t>и </a:t>
                      </a:r>
                      <a:r>
                        <a:rPr lang="en-US" sz="2800" dirty="0">
                          <a:effectLst/>
                        </a:rPr>
                        <a:t>time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7"/>
                        </a:rPr>
                        <a:t>timedelta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Интервал между двумя date, time или datetime в микросекундах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>
                          <a:solidFill>
                            <a:srgbClr val="1B7A41"/>
                          </a:solidFill>
                          <a:effectLst/>
                          <a:hlinkClick r:id="rId8"/>
                        </a:rPr>
                        <a:t>tzinfo</a:t>
                      </a:r>
                      <a:endParaRPr lang="en-US" sz="280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Абстрактный класс-информация о временной зоне. Используется классами time и datetime для хранения информации о часовом поясе или летнем/зимнем времени)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u="none" strike="noStrike" dirty="0" err="1">
                          <a:solidFill>
                            <a:srgbClr val="1B7A41"/>
                          </a:solidFill>
                          <a:effectLst/>
                          <a:hlinkClick r:id="rId9"/>
                        </a:rPr>
                        <a:t>timezone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Класс-потомок </a:t>
                      </a:r>
                      <a:r>
                        <a:rPr lang="ru-RU" sz="2800" dirty="0" err="1">
                          <a:effectLst/>
                        </a:rPr>
                        <a:t>tzinfo</a:t>
                      </a:r>
                      <a:r>
                        <a:rPr lang="ru-RU" sz="2800" dirty="0">
                          <a:effectLst/>
                        </a:rPr>
                        <a:t>, реализующий отклонение от UTC (</a:t>
                      </a:r>
                      <a:r>
                        <a:rPr lang="ru-RU" sz="2800" u="none" strike="noStrike" dirty="0">
                          <a:solidFill>
                            <a:srgbClr val="1B7A41"/>
                          </a:solidFill>
                          <a:effectLst/>
                          <a:hlinkClick r:id="rId10"/>
                        </a:rPr>
                        <a:t>Всемирное координированное время</a:t>
                      </a:r>
                      <a:r>
                        <a:rPr lang="ru-RU" sz="2800" dirty="0">
                          <a:effectLst/>
                        </a:rPr>
                        <a:t>)</a:t>
                      </a: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44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544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константы модуля </a:t>
            </a:r>
            <a:r>
              <a:rPr lang="en-US" dirty="0" err="1" smtClean="0"/>
              <a:t>datetime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861900"/>
              </p:ext>
            </p:extLst>
          </p:nvPr>
        </p:nvGraphicFramePr>
        <p:xfrm>
          <a:off x="254000" y="1895797"/>
          <a:ext cx="11684001" cy="277780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207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6328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497643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 smtClean="0"/>
                        <a:t>datetime.MAXYEAR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Наименьший год, который может быть задан для объектов класса </a:t>
                      </a:r>
                      <a:r>
                        <a:rPr lang="ru-RU" sz="2800" dirty="0" err="1" smtClean="0">
                          <a:effectLst/>
                        </a:rPr>
                        <a:t>date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dirty="0" err="1" smtClean="0">
                          <a:effectLst/>
                        </a:rPr>
                        <a:t>datetime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800" dirty="0" smtClean="0">
                          <a:effectLst/>
                        </a:rPr>
                        <a:t>MINYEAR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=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1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 smtClean="0"/>
                        <a:t>datetime.MAXYEAR</a:t>
                      </a:r>
                      <a:endParaRPr lang="en-US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Наибольший год, который может быть задан для объектов класса </a:t>
                      </a:r>
                      <a:r>
                        <a:rPr lang="ru-RU" sz="2800" dirty="0" err="1" smtClean="0">
                          <a:effectLst/>
                        </a:rPr>
                        <a:t>date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2800" dirty="0" err="1" smtClean="0">
                          <a:effectLst/>
                        </a:rPr>
                        <a:t>datetime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r>
                        <a:rPr lang="ru-RU" sz="2800" dirty="0" smtClean="0">
                          <a:effectLst/>
                        </a:rPr>
                        <a:t>MAXYEAR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=</a:t>
                      </a:r>
                      <a:r>
                        <a:rPr lang="ru-RU" sz="2800" dirty="0" smtClean="0"/>
                        <a:t> </a:t>
                      </a:r>
                      <a:r>
                        <a:rPr lang="ru-RU" sz="2800" dirty="0" smtClean="0">
                          <a:effectLst/>
                        </a:rPr>
                        <a:t>9999</a:t>
                      </a:r>
                      <a:endParaRPr lang="ru-RU" sz="2800" dirty="0">
                        <a:effectLst/>
                      </a:endParaRPr>
                    </a:p>
                  </a:txBody>
                  <a:tcPr marL="152400" marR="152400" marT="76200" marB="7620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47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421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3696" y="1461992"/>
            <a:ext cx="11439593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</a:rPr>
              <a:t>Объект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</a:rPr>
              <a:t>timedelta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lang="en-US" altLang="ru-RU" sz="2400" dirty="0" smtClean="0"/>
              <a:t>:</a:t>
            </a:r>
            <a:endParaRPr lang="ru-RU" altLang="ru-RU" sz="2400" dirty="0" smtClean="0"/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 smtClean="0"/>
              <a:t>интервал </a:t>
            </a:r>
            <a:r>
              <a:rPr lang="ru-RU" altLang="ru-RU" sz="2800" dirty="0"/>
              <a:t>между двумя датами (</a:t>
            </a:r>
            <a:r>
              <a:rPr lang="ru-RU" altLang="ru-RU" sz="2800" dirty="0" err="1"/>
              <a:t>date</a:t>
            </a:r>
            <a:r>
              <a:rPr lang="ru-RU" altLang="ru-RU" sz="2800" dirty="0"/>
              <a:t>) или значениями времени (</a:t>
            </a:r>
            <a:r>
              <a:rPr lang="ru-RU" altLang="ru-RU" sz="2800" dirty="0" err="1"/>
              <a:t>time</a:t>
            </a:r>
            <a:r>
              <a:rPr lang="ru-RU" altLang="ru-RU" sz="2800" dirty="0" smtClean="0"/>
              <a:t>)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 smtClean="0"/>
              <a:t>обычно являются результатами разностных операций прочих классов</a:t>
            </a:r>
            <a:endParaRPr lang="en-US" altLang="ru-RU" sz="2800" dirty="0" smtClean="0"/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 err="1"/>
              <a:t>хешируемый</a:t>
            </a:r>
            <a:r>
              <a:rPr lang="ru-RU" altLang="ru-RU" sz="2800" dirty="0"/>
              <a:t>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800" dirty="0"/>
              <a:t>может </a:t>
            </a:r>
            <a:r>
              <a:rPr lang="ru-RU" altLang="ru-RU" sz="2800" dirty="0" err="1"/>
              <a:t>сериализоваться</a:t>
            </a:r>
            <a:r>
              <a:rPr lang="ru-RU" altLang="ru-RU" sz="2800" dirty="0"/>
              <a:t> через </a:t>
            </a:r>
            <a:r>
              <a:rPr lang="ru-RU" altLang="ru-RU" sz="2800" dirty="0" err="1"/>
              <a:t>pickle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39857" y="3749543"/>
            <a:ext cx="877940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datetime.timedelta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(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days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seconds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microseconds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milliseconds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minutes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hours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weeks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)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83696" y="513024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 err="1"/>
              <a:t>days</a:t>
            </a:r>
            <a:r>
              <a:rPr lang="ru-RU" sz="2400" dirty="0"/>
              <a:t>, -999999999 &lt;= </a:t>
            </a:r>
            <a:r>
              <a:rPr lang="ru-RU" sz="2400" dirty="0" err="1"/>
              <a:t>days</a:t>
            </a:r>
            <a:r>
              <a:rPr lang="ru-RU" sz="2400" dirty="0"/>
              <a:t> &lt;= 999999999;</a:t>
            </a:r>
          </a:p>
          <a:p>
            <a:r>
              <a:rPr lang="ru-RU" sz="2400" dirty="0" err="1"/>
              <a:t>seconds</a:t>
            </a:r>
            <a:r>
              <a:rPr lang="ru-RU" sz="2400" dirty="0"/>
              <a:t>, 0 &lt;= </a:t>
            </a:r>
            <a:r>
              <a:rPr lang="ru-RU" sz="2400" dirty="0" err="1"/>
              <a:t>seconds</a:t>
            </a:r>
            <a:r>
              <a:rPr lang="ru-RU" sz="2400" dirty="0"/>
              <a:t> &lt; 3600*24;</a:t>
            </a:r>
          </a:p>
          <a:p>
            <a:r>
              <a:rPr lang="ru-RU" sz="2400" dirty="0" err="1"/>
              <a:t>microseconds</a:t>
            </a:r>
            <a:r>
              <a:rPr lang="ru-RU" sz="2400" dirty="0"/>
              <a:t>, 0 &lt;= </a:t>
            </a:r>
            <a:r>
              <a:rPr lang="ru-RU" sz="2400" dirty="0" err="1"/>
              <a:t>microseconds</a:t>
            </a:r>
            <a:r>
              <a:rPr lang="ru-RU" sz="2400" dirty="0"/>
              <a:t> &lt; 1000000;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83696" y="4936648"/>
            <a:ext cx="68356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err="1">
                <a:solidFill>
                  <a:srgbClr val="404040"/>
                </a:solidFill>
                <a:latin typeface="Lato" panose="020F0502020204030203" pitchFamily="34" charset="0"/>
              </a:rPr>
              <a:t>OverflowError</a:t>
            </a:r>
            <a:r>
              <a:rPr lang="ru-RU" sz="1600" dirty="0">
                <a:solidFill>
                  <a:srgbClr val="404040"/>
                </a:solidFill>
                <a:latin typeface="Lato" panose="020F0502020204030203" pitchFamily="34" charset="0"/>
              </a:rPr>
              <a:t> – в случае нарушения допустимых границ значений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70670" y="3939593"/>
            <a:ext cx="1401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Конструктор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245599" y="5121314"/>
            <a:ext cx="26246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Все параметры являются необязательными и могут быть </a:t>
            </a:r>
            <a:r>
              <a:rPr lang="ru-RU" sz="1400" dirty="0" smtClean="0"/>
              <a:t>целыми </a:t>
            </a:r>
            <a:r>
              <a:rPr lang="ru-RU" sz="1400" dirty="0"/>
              <a:t>или вещественными числами.</a:t>
            </a:r>
          </a:p>
        </p:txBody>
      </p:sp>
    </p:spTree>
    <p:extLst>
      <p:ext uri="{BB962C8B-B14F-4D97-AF65-F5344CB8AC3E}">
        <p14:creationId xmlns:p14="http://schemas.microsoft.com/office/powerpoint/2010/main" val="111889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544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r>
              <a:rPr lang="ru-RU" dirty="0" smtClean="0"/>
              <a:t> - операции</a:t>
            </a:r>
            <a:endParaRPr lang="ru-RU" dirty="0"/>
          </a:p>
        </p:txBody>
      </p:sp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95" y="1662940"/>
            <a:ext cx="10855612" cy="4061204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68195" y="5781250"/>
            <a:ext cx="96092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Метод </a:t>
            </a:r>
            <a:r>
              <a:rPr kumimoji="0" lang="ru-RU" altLang="ru-RU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total_seconds</a:t>
            </a: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rgbClr val="555555"/>
                </a:solidFill>
                <a:effectLst/>
                <a:latin typeface="+mn-lt"/>
              </a:rPr>
              <a:t>()</a:t>
            </a:r>
            <a:r>
              <a:rPr kumimoji="0" lang="ru-RU" altLang="ru-RU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- возвращает общее количество секунд</a:t>
            </a:r>
          </a:p>
        </p:txBody>
      </p:sp>
    </p:spTree>
    <p:extLst>
      <p:ext uri="{BB962C8B-B14F-4D97-AF65-F5344CB8AC3E}">
        <p14:creationId xmlns:p14="http://schemas.microsoft.com/office/powerpoint/2010/main" val="82272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r>
              <a:rPr lang="ru-RU" dirty="0" smtClean="0"/>
              <a:t> - поля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827830"/>
              </p:ext>
            </p:extLst>
          </p:nvPr>
        </p:nvGraphicFramePr>
        <p:xfrm>
          <a:off x="2" y="1390650"/>
          <a:ext cx="12191999" cy="5161297"/>
        </p:xfrm>
        <a:graphic>
          <a:graphicData uri="http://schemas.openxmlformats.org/drawingml/2006/table">
            <a:tbl>
              <a:tblPr firstCol="1" bandRow="1">
                <a:tableStyleId>{0E3FDE45-AF77-4B5C-9715-49D594BDF05E}</a:tableStyleId>
              </a:tblPr>
              <a:tblGrid>
                <a:gridCol w="21717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202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 err="1">
                          <a:effectLst/>
                        </a:rPr>
                        <a:t>min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Минимально допустимая разница, </a:t>
                      </a:r>
                      <a:r>
                        <a:rPr lang="ru-RU" sz="2800" kern="1200" dirty="0" err="1">
                          <a:effectLst/>
                        </a:rPr>
                        <a:t>timedelta</a:t>
                      </a:r>
                      <a:r>
                        <a:rPr lang="ru-RU" sz="2800" kern="1200" dirty="0">
                          <a:effectLst/>
                        </a:rPr>
                        <a:t>(-999999999).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effectLst/>
                        </a:rPr>
                        <a:t>max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effectLst/>
                        </a:rPr>
                        <a:t> </a:t>
                      </a:r>
                      <a:r>
                        <a:rPr lang="ru-RU" sz="2800" kern="1200" dirty="0">
                          <a:effectLst/>
                        </a:rPr>
                        <a:t>Максимально допустимая разница</a:t>
                      </a:r>
                      <a:r>
                        <a:rPr lang="en-US" sz="2800" kern="1200" dirty="0">
                          <a:effectLst/>
                        </a:rPr>
                        <a:t>, </a:t>
                      </a:r>
                      <a:r>
                        <a:rPr lang="en-US" sz="2800" kern="1200" dirty="0" err="1">
                          <a:effectLst/>
                        </a:rPr>
                        <a:t>timedelta</a:t>
                      </a:r>
                      <a:r>
                        <a:rPr lang="en-US" sz="2800" kern="1200" dirty="0">
                          <a:effectLst/>
                        </a:rPr>
                        <a:t>(days=999999999, hours=23, minutes=59, seconds=59, microseconds=999999).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52212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resolution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Наименьшая возможная разница между двумя различными </a:t>
                      </a:r>
                      <a:r>
                        <a:rPr lang="ru-RU" sz="2800" kern="1200" dirty="0" err="1">
                          <a:effectLst/>
                        </a:rPr>
                        <a:t>timedelta</a:t>
                      </a:r>
                      <a:r>
                        <a:rPr lang="ru-RU" sz="2800" kern="1200" dirty="0">
                          <a:effectLst/>
                        </a:rPr>
                        <a:t>-объектами (1 </a:t>
                      </a:r>
                      <a:r>
                        <a:rPr lang="ru-RU" sz="2800" kern="1200" dirty="0" err="1">
                          <a:effectLst/>
                        </a:rPr>
                        <a:t>мкс</a:t>
                      </a:r>
                      <a:r>
                        <a:rPr lang="ru-RU" sz="2800" kern="1200" dirty="0">
                          <a:effectLst/>
                        </a:rPr>
                        <a:t>.).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days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Количество дней - значение из диапазона [-999999999; 999999999]. Только для чтения.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seconds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Количество секунд - значение из диапазона [0; 86399]. Только для чтения.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>
                          <a:effectLst/>
                        </a:rPr>
                        <a:t>microseconds</a:t>
                      </a:r>
                      <a:endParaRPr lang="ru-RU" sz="2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kern="1200" dirty="0">
                          <a:effectLst/>
                        </a:rPr>
                        <a:t> Количество микросекунд - значение из диапазона [0; 999999]. Только для чтения.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89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2" y="2323974"/>
            <a:ext cx="11777952" cy="3752975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2" y="5267312"/>
            <a:ext cx="2214651" cy="29528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56782" y="1672646"/>
            <a:ext cx="339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/>
              <a:t>Определение периодов: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4913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4" y="1519141"/>
            <a:ext cx="7353516" cy="3290926"/>
          </a:xfrm>
          <a:prstGeom prst="rect">
            <a:avLst/>
          </a:prstGeom>
        </p:spPr>
      </p:pic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4" y="4919508"/>
            <a:ext cx="4508878" cy="140509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201874" y="5724467"/>
            <a:ext cx="2881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/>
              <a:t>Используя </a:t>
            </a:r>
            <a:r>
              <a:rPr lang="ru-RU" sz="800" dirty="0" err="1"/>
              <a:t>timedelta</a:t>
            </a:r>
            <a:r>
              <a:rPr lang="ru-RU" sz="800" dirty="0"/>
              <a:t>, мы можем складывать или вычитать даты. Например, получим дату, которая будет через два дня</a:t>
            </a:r>
            <a:endParaRPr lang="en-US" sz="800" dirty="0"/>
          </a:p>
          <a:p>
            <a:r>
              <a:rPr lang="ru-RU" sz="800" dirty="0"/>
              <a:t>Также определим количество секунд в двух днях</a:t>
            </a:r>
          </a:p>
        </p:txBody>
      </p:sp>
    </p:spTree>
    <p:extLst>
      <p:ext uri="{BB962C8B-B14F-4D97-AF65-F5344CB8AC3E}">
        <p14:creationId xmlns:p14="http://schemas.microsoft.com/office/powerpoint/2010/main" val="191612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timedelta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" y="1909704"/>
            <a:ext cx="11291001" cy="1747896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4312374"/>
            <a:ext cx="3969586" cy="60252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831484" y="5738825"/>
            <a:ext cx="303878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dirty="0"/>
              <a:t>узнаем, сколько было времени 10 часов 15 минут назад, то есть фактически нам надо вычесть из текущего времени 10 часов и 15 минут</a:t>
            </a:r>
          </a:p>
        </p:txBody>
      </p:sp>
    </p:spTree>
    <p:extLst>
      <p:ext uri="{BB962C8B-B14F-4D97-AF65-F5344CB8AC3E}">
        <p14:creationId xmlns:p14="http://schemas.microsoft.com/office/powerpoint/2010/main" val="335121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09550" y="1390650"/>
            <a:ext cx="11620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</a:rPr>
              <a:t>представляет собой время, не привязанное к конкретному дню. Поддерживает временные зоны и переход на летнее/зимнее время</a:t>
            </a:r>
            <a:endParaRPr lang="ru-RU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9550" y="2519690"/>
            <a:ext cx="111900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datetime.time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(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hour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minute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second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microsecond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0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tzinfo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kumimoji="0" lang="ru-RU" altLang="ru-RU" sz="2800" b="1" i="1" u="none" strike="noStrike" cap="none" normalizeH="0" baseline="0" dirty="0" err="1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None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)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71450" y="3351193"/>
            <a:ext cx="118491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hour</a:t>
            </a:r>
            <a:r>
              <a:rPr lang="ru-RU" sz="2800" dirty="0"/>
              <a:t> &lt; 24;</a:t>
            </a:r>
          </a:p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minute</a:t>
            </a:r>
            <a:r>
              <a:rPr lang="ru-RU" sz="2800" dirty="0"/>
              <a:t> &lt; 60;</a:t>
            </a:r>
          </a:p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second</a:t>
            </a:r>
            <a:r>
              <a:rPr lang="ru-RU" sz="2800" dirty="0"/>
              <a:t> &lt; 60;</a:t>
            </a:r>
          </a:p>
          <a:p>
            <a:r>
              <a:rPr lang="ru-RU" sz="2800" dirty="0" smtClean="0"/>
              <a:t>(</a:t>
            </a:r>
            <a:r>
              <a:rPr lang="ru-RU" sz="2800" dirty="0"/>
              <a:t>int), 0 &lt;= </a:t>
            </a:r>
            <a:r>
              <a:rPr lang="ru-RU" sz="2800" dirty="0" err="1"/>
              <a:t>microsecond</a:t>
            </a:r>
            <a:r>
              <a:rPr lang="ru-RU" sz="2800" dirty="0"/>
              <a:t> &lt; 1000000;</a:t>
            </a:r>
          </a:p>
          <a:p>
            <a:r>
              <a:rPr lang="ru-RU" sz="2800" dirty="0" err="1"/>
              <a:t>tzinfo</a:t>
            </a:r>
            <a:r>
              <a:rPr lang="ru-RU" sz="2800" dirty="0"/>
              <a:t> (</a:t>
            </a:r>
            <a:r>
              <a:rPr lang="ru-RU" sz="2800" dirty="0" err="1"/>
              <a:t>datetime.tzinfo</a:t>
            </a:r>
            <a:r>
              <a:rPr lang="ru-RU" sz="2800" dirty="0"/>
              <a:t>) – объект - временная зона, летнее/зимнее время;</a:t>
            </a:r>
          </a:p>
          <a:p>
            <a:endParaRPr lang="ru-RU" sz="2800" dirty="0"/>
          </a:p>
          <a:p>
            <a:r>
              <a:rPr lang="ru-RU" sz="2800" dirty="0"/>
              <a:t>Исключение - </a:t>
            </a:r>
            <a:r>
              <a:rPr lang="ru-RU" sz="2800" dirty="0" err="1"/>
              <a:t>ValueError</a:t>
            </a:r>
            <a:r>
              <a:rPr lang="ru-RU" sz="2800" dirty="0"/>
              <a:t> – в случае нарушения допустимых границ значений</a:t>
            </a:r>
          </a:p>
        </p:txBody>
      </p:sp>
    </p:spTree>
    <p:extLst>
      <p:ext uri="{BB962C8B-B14F-4D97-AF65-F5344CB8AC3E}">
        <p14:creationId xmlns:p14="http://schemas.microsoft.com/office/powerpoint/2010/main" val="354600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операции</a:t>
            </a:r>
            <a:endParaRPr lang="ru-RU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95300" y="1765372"/>
            <a:ext cx="10595874" cy="31748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711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взаимное сравнение (naive- и aware-варианты сравнивать нельзя - приводит к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TypeError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хеширование (можно использовать в качестве ключа в словаре);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преобразование в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bool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: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time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 считается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True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 только в случае, если время, выраженное в минутах за вычетом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</a:rPr>
              <a:t>utcoffset()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</a:rPr>
              <a:t>, не равно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402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поля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380964"/>
              </p:ext>
            </p:extLst>
          </p:nvPr>
        </p:nvGraphicFramePr>
        <p:xfrm>
          <a:off x="190501" y="1283970"/>
          <a:ext cx="11810999" cy="54787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846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7625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Минимально допустимое время, time(0, 0, 0, 0).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Максимально допустимое время, time(23, 59, 59, 999999).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resolution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Наименьшая возможная разница между двумя различными time- объектами (1 мкс.)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hour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range(24).Только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minute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range(60).Только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second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range(60).Только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microsecond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Значение из диапазона range(1000000).Только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Объект класса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(временная зона). 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если не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установлен.Объект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является «осведомленным», если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является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tzinfo.utcoffset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не 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None.Только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75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методы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666597"/>
              </p:ext>
            </p:extLst>
          </p:nvPr>
        </p:nvGraphicFramePr>
        <p:xfrm>
          <a:off x="1" y="1607820"/>
          <a:ext cx="11810999" cy="37699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22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0487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([hour[, minute[, second[, microsecond[,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]]]]])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исходное время с измененными значениями указанных атрибутов.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isoformat(), __str__()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строковое представление времени в стандарте ISO 8601 ('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HH:MM:SS.mmmmmm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 или 'HH:MM:SS'). Если имеется сдвиг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строка дополняется 6-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ти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символьным значением сдвига относительно UTC ('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HH:MM:SS.mmmmmm+HH:MM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 или 'HH:MM:SS+HH:MM').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79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- </a:t>
            </a:r>
            <a:r>
              <a:rPr lang="ru-RU" dirty="0" smtClean="0"/>
              <a:t>методы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505872"/>
              </p:ext>
            </p:extLst>
          </p:nvPr>
        </p:nvGraphicFramePr>
        <p:xfrm>
          <a:off x="190501" y="1617663"/>
          <a:ext cx="11810999" cy="52179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60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249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__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Возвращает строковое представление времени в заданном формате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(см. Функции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800" dirty="0" smtClean="0">
                          <a:latin typeface="+mn-lt"/>
                        </a:rPr>
                        <a:t>Возвращает отклонение местного времени от UTC (в минутах), с учетом как часового пояса, так и летнего/зимнего времени. </a:t>
                      </a:r>
                      <a:r>
                        <a:rPr lang="ru-RU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задано, возвращает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иначе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self.tzinfo.utcoffset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dst()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отклонение для летнего/зимнего времени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задано, возвращает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иначе 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self.tzinfo.dst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tzname()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наименование (строку) временной зоны (например,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GMT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EDT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MSK</a:t>
                      </a:r>
                      <a:r>
                        <a:rPr lang="ru-RU" sz="280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'); 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задано, 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иначе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self.tzinfo.tzname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9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time 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79" y="1571488"/>
            <a:ext cx="5836558" cy="43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1450" y="1650087"/>
            <a:ext cx="11315700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представляет собой дату (год, месяц, день) по «идеализированному» Григорианскому календарю, где первый день обозначен как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1.1.1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1450" y="2863631"/>
            <a:ext cx="11315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datetime.date</a:t>
            </a:r>
            <a:r>
              <a:rPr lang="ru-RU" sz="2400" dirty="0"/>
              <a:t>(</a:t>
            </a:r>
            <a:r>
              <a:rPr lang="ru-RU" sz="2400" dirty="0" err="1"/>
              <a:t>year</a:t>
            </a:r>
            <a:r>
              <a:rPr lang="ru-RU" sz="2400" dirty="0"/>
              <a:t>, </a:t>
            </a:r>
            <a:r>
              <a:rPr lang="ru-RU" sz="2400" dirty="0" err="1"/>
              <a:t>month</a:t>
            </a:r>
            <a:r>
              <a:rPr lang="ru-RU" sz="2400" dirty="0"/>
              <a:t>, </a:t>
            </a:r>
            <a:r>
              <a:rPr lang="ru-RU" sz="2400" dirty="0" err="1"/>
              <a:t>day</a:t>
            </a:r>
            <a:r>
              <a:rPr lang="ru-RU" sz="2400" dirty="0"/>
              <a:t>)</a:t>
            </a:r>
          </a:p>
          <a:p>
            <a:r>
              <a:rPr lang="ru-RU" sz="2400" dirty="0"/>
              <a:t>Все параметры являются обязательными.</a:t>
            </a:r>
          </a:p>
          <a:p>
            <a:endParaRPr lang="ru-RU" sz="2400" dirty="0"/>
          </a:p>
          <a:p>
            <a:r>
              <a:rPr lang="ru-RU" sz="2400" dirty="0" smtClean="0"/>
              <a:t>(</a:t>
            </a:r>
            <a:r>
              <a:rPr lang="ru-RU" sz="2400" dirty="0"/>
              <a:t>int), MINYEAR &lt;= </a:t>
            </a:r>
            <a:r>
              <a:rPr lang="ru-RU" sz="2400" dirty="0" err="1"/>
              <a:t>year</a:t>
            </a:r>
            <a:r>
              <a:rPr lang="ru-RU" sz="2400" dirty="0"/>
              <a:t> &lt;= MAXYEAR;</a:t>
            </a:r>
          </a:p>
          <a:p>
            <a:r>
              <a:rPr lang="ru-RU" sz="2400" dirty="0" smtClean="0"/>
              <a:t>(</a:t>
            </a:r>
            <a:r>
              <a:rPr lang="ru-RU" sz="2400" dirty="0"/>
              <a:t>int), 1 &lt;= </a:t>
            </a:r>
            <a:r>
              <a:rPr lang="ru-RU" sz="2400" dirty="0" err="1"/>
              <a:t>month</a:t>
            </a:r>
            <a:r>
              <a:rPr lang="ru-RU" sz="2400" dirty="0"/>
              <a:t> &lt;= 12;</a:t>
            </a:r>
          </a:p>
          <a:p>
            <a:r>
              <a:rPr lang="ru-RU" sz="2400" dirty="0" smtClean="0"/>
              <a:t>(</a:t>
            </a:r>
            <a:r>
              <a:rPr lang="ru-RU" sz="2400" dirty="0"/>
              <a:t>int) – 1 &lt;= </a:t>
            </a:r>
            <a:r>
              <a:rPr lang="ru-RU" sz="2400" dirty="0" err="1"/>
              <a:t>day</a:t>
            </a:r>
            <a:r>
              <a:rPr lang="ru-RU" sz="2400" dirty="0"/>
              <a:t> &lt;= кол-во дней в месяце </a:t>
            </a:r>
            <a:r>
              <a:rPr lang="ru-RU" sz="2400" dirty="0" err="1"/>
              <a:t>month</a:t>
            </a:r>
            <a:r>
              <a:rPr lang="ru-RU" sz="2400" dirty="0"/>
              <a:t>;</a:t>
            </a:r>
          </a:p>
          <a:p>
            <a:r>
              <a:rPr lang="ru-RU" sz="2400" dirty="0"/>
              <a:t>Исключение - </a:t>
            </a:r>
            <a:r>
              <a:rPr lang="ru-RU" sz="2400" dirty="0" err="1"/>
              <a:t>ValueError</a:t>
            </a:r>
            <a:r>
              <a:rPr lang="ru-RU" sz="2400" dirty="0"/>
              <a:t> – в случае нарушения допустимых границ значений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today() - </a:t>
            </a:r>
            <a:r>
              <a:rPr lang="ru-RU" sz="2400" dirty="0"/>
              <a:t>Возвращает текущую дату</a:t>
            </a:r>
          </a:p>
        </p:txBody>
      </p:sp>
    </p:spTree>
    <p:extLst>
      <p:ext uri="{BB962C8B-B14F-4D97-AF65-F5344CB8AC3E}">
        <p14:creationId xmlns:p14="http://schemas.microsoft.com/office/powerpoint/2010/main" val="82956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операции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23" y="1981101"/>
            <a:ext cx="12249123" cy="24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7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0"/>
            <a:ext cx="12192000" cy="1390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поля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205183"/>
              </p:ext>
            </p:extLst>
          </p:nvPr>
        </p:nvGraphicFramePr>
        <p:xfrm>
          <a:off x="260350" y="1714500"/>
          <a:ext cx="11322050" cy="41090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51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869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Минимально допустимая дата, date(MINYEAR, 1, 1).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Максимально допустимая дата, date(MAXYEAR, 12, 31).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resolution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Наименьшая возможная разница между двумя различными date объектами (1 день).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Год. Значение из диапазона [MINYEAR; MAXYEAR]. 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Месяц. Значение из диапазона [1; 12]. 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day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День. Значение из диапазона [1; кол дней в месяце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].Только для чтения.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99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 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методы</a:t>
            </a:r>
            <a:r>
              <a:rPr lang="en-US" dirty="0" smtClean="0"/>
              <a:t> </a:t>
            </a:r>
            <a:r>
              <a:rPr lang="en-US" sz="2800" dirty="0" smtClean="0"/>
              <a:t>(</a:t>
            </a:r>
            <a:r>
              <a:rPr lang="ru-RU" sz="2800" dirty="0" smtClean="0"/>
              <a:t>возвращают</a:t>
            </a:r>
            <a:r>
              <a:rPr lang="en-US" sz="2800" dirty="0" smtClean="0"/>
              <a:t>)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458654"/>
              </p:ext>
            </p:extLst>
          </p:nvPr>
        </p:nvGraphicFramePr>
        <p:xfrm>
          <a:off x="0" y="1118298"/>
          <a:ext cx="12192002" cy="57397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336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583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month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исходную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дату с измененными значениями указанных атрибутов.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toordinal()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количество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дней в дате по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пролептическому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(расширенному до момента введения) григорианскому календарю, например,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(2, 1, 1).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toordinal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== 366.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weekday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номер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дня недели (Понедельник - 0, Воскресенье - 6).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isoweekday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номер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дня недели (Понедельник - 1, Воскресенье - 7).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isocalendar()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ISO-календарь-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кортеж, (ISO год, ISO номер недели, ISO день недели).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isoformat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</a:t>
                      </a:r>
                      <a:endParaRPr lang="en-US" sz="28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строковое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представление даты в формате ISO 8601 ('YYYY-MM-DD'), например: '2002-12-04'.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ctime()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строковое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представление даты, например: '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Wed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4 00:00:00 2002'.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),__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строковое 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представление даты в заданном формате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(см. Функции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и </a:t>
                      </a:r>
                      <a:r>
                        <a:rPr lang="ru-RU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</a:t>
                      </a:r>
                      <a:r>
                        <a:rPr lang="ru-RU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47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smtClean="0"/>
              <a:t>date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7" y="1118298"/>
            <a:ext cx="5392026" cy="1529652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6" y="3285168"/>
            <a:ext cx="10210927" cy="214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0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333741"/>
            <a:ext cx="11982450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единый тип, хранящий информацию как о дате, так и о времени, сочетающий характеристики классов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date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и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time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Практически все атрибуты совпадают с аналогичными атрибутами классов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date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и 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time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ru-RU" altLang="ru-RU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8175" y="4030972"/>
            <a:ext cx="107061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/>
              <a:t>datetime.datetime</a:t>
            </a:r>
            <a:r>
              <a:rPr lang="ru-RU" sz="2800" b="1" dirty="0"/>
              <a:t>(</a:t>
            </a:r>
            <a:r>
              <a:rPr lang="ru-RU" sz="2800" b="1" dirty="0" err="1"/>
              <a:t>year</a:t>
            </a:r>
            <a:r>
              <a:rPr lang="ru-RU" sz="2800" b="1" dirty="0"/>
              <a:t>, </a:t>
            </a:r>
            <a:r>
              <a:rPr lang="ru-RU" sz="2800" b="1" dirty="0" err="1"/>
              <a:t>month</a:t>
            </a:r>
            <a:r>
              <a:rPr lang="ru-RU" sz="2800" b="1" dirty="0"/>
              <a:t>, </a:t>
            </a:r>
            <a:r>
              <a:rPr lang="ru-RU" sz="2800" b="1" dirty="0" err="1"/>
              <a:t>day</a:t>
            </a:r>
            <a:r>
              <a:rPr lang="ru-RU" sz="2800" b="1" dirty="0"/>
              <a:t>, </a:t>
            </a:r>
            <a:r>
              <a:rPr lang="ru-RU" sz="2800" b="1" dirty="0" err="1"/>
              <a:t>hour</a:t>
            </a:r>
            <a:r>
              <a:rPr lang="ru-RU" sz="2800" b="1" dirty="0"/>
              <a:t>=0, </a:t>
            </a:r>
            <a:r>
              <a:rPr lang="ru-RU" sz="2800" b="1" dirty="0" err="1"/>
              <a:t>minute</a:t>
            </a:r>
            <a:r>
              <a:rPr lang="ru-RU" sz="2800" b="1" dirty="0"/>
              <a:t>=0, </a:t>
            </a:r>
            <a:r>
              <a:rPr lang="ru-RU" sz="2800" b="1" dirty="0" err="1"/>
              <a:t>second</a:t>
            </a:r>
            <a:r>
              <a:rPr lang="ru-RU" sz="2800" b="1" dirty="0"/>
              <a:t>=0, </a:t>
            </a:r>
            <a:r>
              <a:rPr lang="ru-RU" sz="2800" b="1" dirty="0" err="1"/>
              <a:t>microsecond</a:t>
            </a:r>
            <a:r>
              <a:rPr lang="ru-RU" sz="2800" b="1" dirty="0"/>
              <a:t>=0, </a:t>
            </a:r>
            <a:r>
              <a:rPr lang="ru-RU" sz="2800" b="1" dirty="0" err="1"/>
              <a:t>tzinfo</a:t>
            </a:r>
            <a:r>
              <a:rPr lang="ru-RU" sz="2800" b="1" dirty="0"/>
              <a:t>=</a:t>
            </a:r>
            <a:r>
              <a:rPr lang="ru-RU" sz="2800" b="1" dirty="0" err="1"/>
              <a:t>None</a:t>
            </a:r>
            <a:r>
              <a:rPr lang="ru-RU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134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en-US" dirty="0" smtClean="0"/>
              <a:t> - </a:t>
            </a:r>
            <a:r>
              <a:rPr lang="en-US" sz="2400" b="1" i="1" dirty="0" err="1"/>
              <a:t>classmethod</a:t>
            </a: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713789"/>
              </p:ext>
            </p:extLst>
          </p:nvPr>
        </p:nvGraphicFramePr>
        <p:xfrm>
          <a:off x="257175" y="1466175"/>
          <a:ext cx="11677650" cy="45656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94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182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18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today()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текущую дату/время без учета временной зоны (tzinfo == None), например: 2015-09-16 16:52:57.484589.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508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now(tz=None)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текущую дату/время аналогично datetime.datetime.today(), но может быть точнее.Если задана временная зона tz, дата/время будет преобразовано учитывая ее.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715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utcnow()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текущую UTC дату и время,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Аналогично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datetime.datetime.now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но возвращает «неосведомленный» объект.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94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67896"/>
              </p:ext>
            </p:extLst>
          </p:nvPr>
        </p:nvGraphicFramePr>
        <p:xfrm>
          <a:off x="171450" y="1118298"/>
          <a:ext cx="11849100" cy="52143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6487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5808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fromordinal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ordinal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текущу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дату и время, соответствующую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ordinal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значению дней в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пролептическом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григорианском календаре; например: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datetime.fromordinal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(366) # 0002-01-01 00:00:00; время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tzinfo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устанавливаются.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637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combine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-объект, составленный из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696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strptime(date_string, format)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-объект, составленный из строки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date_string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по формату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format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(см. Функции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strftime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strptime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97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- операции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36" y="1257027"/>
            <a:ext cx="10931090" cy="54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6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- методы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39300"/>
              </p:ext>
            </p:extLst>
          </p:nvPr>
        </p:nvGraphicFramePr>
        <p:xfrm>
          <a:off x="311150" y="1118298"/>
          <a:ext cx="11569700" cy="50222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703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9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только дату (date) из datetime.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timetz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только время (time) из datetime. timetz() в отличие от time() возвращает «осведомленный» объект.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replace([year[, month[, day[, hour[, minute[, second[, microsecond[, tzinfo]]]]]]]])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исходные дату/время с измененными значениями указанных атрибутов.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astimezone(tz=None)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исходные дату/время в соответствии с временной зоной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если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==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используются системные настройки.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15507" y="6286789"/>
            <a:ext cx="69002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остальные методы как у классов </a:t>
            </a:r>
            <a:r>
              <a:rPr lang="en-US" sz="2800" dirty="0">
                <a:solidFill>
                  <a:schemeClr val="bg1"/>
                </a:solidFill>
              </a:rPr>
              <a:t>date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en-US" sz="2800" dirty="0">
                <a:solidFill>
                  <a:schemeClr val="bg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58144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- методы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180046"/>
              </p:ext>
            </p:extLst>
          </p:nvPr>
        </p:nvGraphicFramePr>
        <p:xfrm>
          <a:off x="128270" y="1733439"/>
          <a:ext cx="11569700" cy="34436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703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99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652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 smtClean="0"/>
                        <a:t>isoformat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='T'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 строковое представление даты в формате </a:t>
                      </a: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ISO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'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YYYY-MM-DDTHH:MM:SS.mmmmmm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 или 'YYYY-MM-DDTHH:MM:SS', например, '2015-10-16T17:49:04.594177'.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разделяет дату и время в выходной строке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15507" y="6286789"/>
            <a:ext cx="69002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остальные методы как у классов </a:t>
            </a:r>
            <a:r>
              <a:rPr lang="en-US" sz="2800" dirty="0">
                <a:solidFill>
                  <a:schemeClr val="bg1"/>
                </a:solidFill>
              </a:rPr>
              <a:t>date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en-US" sz="2800" dirty="0">
                <a:solidFill>
                  <a:schemeClr val="bg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682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3" y="1118298"/>
            <a:ext cx="6334347" cy="2105128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19"/>
          <a:stretch/>
        </p:blipFill>
        <p:spPr>
          <a:xfrm>
            <a:off x="199803" y="3857104"/>
            <a:ext cx="11901133" cy="180663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879" y="5319668"/>
            <a:ext cx="3915345" cy="121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4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datetime</a:t>
            </a:r>
            <a:r>
              <a:rPr lang="ru-RU" dirty="0" smtClean="0"/>
              <a:t> – форматирование дат и времени 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118298"/>
            <a:ext cx="87820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%a: аббревиатура дня недели. Например, </a:t>
            </a:r>
            <a:r>
              <a:rPr lang="ru-RU" sz="2400" dirty="0" err="1"/>
              <a:t>Wed</a:t>
            </a:r>
            <a:r>
              <a:rPr lang="ru-RU" sz="2400" dirty="0"/>
              <a:t>  </a:t>
            </a:r>
          </a:p>
          <a:p>
            <a:r>
              <a:rPr lang="ru-RU" sz="2400" dirty="0"/>
              <a:t>%A: день недели полностью, например, </a:t>
            </a:r>
            <a:r>
              <a:rPr lang="ru-RU" sz="2400" dirty="0" err="1"/>
              <a:t>Wednesday</a:t>
            </a:r>
            <a:endParaRPr lang="ru-RU" sz="2400" dirty="0"/>
          </a:p>
          <a:p>
            <a:r>
              <a:rPr lang="ru-RU" sz="2400" dirty="0"/>
              <a:t>%b: аббревиатура названия месяца. Например, </a:t>
            </a:r>
            <a:r>
              <a:rPr lang="ru-RU" sz="2400" dirty="0" err="1"/>
              <a:t>Oct</a:t>
            </a:r>
            <a:r>
              <a:rPr lang="ru-RU" sz="2400" dirty="0"/>
              <a:t>  </a:t>
            </a:r>
          </a:p>
          <a:p>
            <a:r>
              <a:rPr lang="ru-RU" sz="2400" dirty="0"/>
              <a:t>%B: название месяца полностью, например, </a:t>
            </a:r>
            <a:r>
              <a:rPr lang="ru-RU" sz="2400" dirty="0" err="1"/>
              <a:t>October</a:t>
            </a:r>
            <a:endParaRPr lang="ru-RU" sz="2400" dirty="0"/>
          </a:p>
          <a:p>
            <a:r>
              <a:rPr lang="ru-RU" sz="2400" dirty="0"/>
              <a:t>%d: день месяца, дополненный нулем, например, 01</a:t>
            </a:r>
          </a:p>
          <a:p>
            <a:r>
              <a:rPr lang="ru-RU" sz="2400" dirty="0"/>
              <a:t>%m: номер месяца, дополненный нулем, например, 05</a:t>
            </a:r>
          </a:p>
          <a:p>
            <a:r>
              <a:rPr lang="ru-RU" sz="2400" dirty="0"/>
              <a:t>%y: год в виде 2-х чисел</a:t>
            </a:r>
          </a:p>
          <a:p>
            <a:r>
              <a:rPr lang="ru-RU" sz="2400" dirty="0"/>
              <a:t>%Y: год в виде 4-х чисел</a:t>
            </a:r>
          </a:p>
          <a:p>
            <a:r>
              <a:rPr lang="ru-RU" sz="2400" dirty="0"/>
              <a:t>%H: час в 24-х часовом формате, например, 13</a:t>
            </a:r>
          </a:p>
          <a:p>
            <a:r>
              <a:rPr lang="ru-RU" sz="2400" dirty="0"/>
              <a:t>%I: час в 12-ти часовом формате, например, 01</a:t>
            </a:r>
          </a:p>
          <a:p>
            <a:r>
              <a:rPr lang="ru-RU" sz="2400" dirty="0"/>
              <a:t>%M: минута</a:t>
            </a:r>
          </a:p>
          <a:p>
            <a:r>
              <a:rPr lang="ru-RU" sz="2400" dirty="0"/>
              <a:t>%S: секунда</a:t>
            </a:r>
          </a:p>
          <a:p>
            <a:r>
              <a:rPr lang="ru-RU" sz="2400" dirty="0"/>
              <a:t>%f: микросекунда</a:t>
            </a:r>
          </a:p>
          <a:p>
            <a:r>
              <a:rPr lang="ru-RU" sz="2400" dirty="0"/>
              <a:t>%p: указатель </a:t>
            </a:r>
            <a:r>
              <a:rPr lang="ru-RU" sz="2400" dirty="0" smtClean="0"/>
              <a:t>AM/PM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248150" y="5180948"/>
            <a:ext cx="79438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%c: дата и время, отформатированные под текущую </a:t>
            </a:r>
            <a:r>
              <a:rPr lang="ru-RU" sz="2400" dirty="0" err="1"/>
              <a:t>локаль</a:t>
            </a:r>
            <a:endParaRPr lang="ru-RU" sz="2400" dirty="0"/>
          </a:p>
          <a:p>
            <a:r>
              <a:rPr lang="ru-RU" sz="2400" dirty="0"/>
              <a:t>%x: дата, отформатированная под текущую </a:t>
            </a:r>
            <a:r>
              <a:rPr lang="ru-RU" sz="2400" dirty="0" err="1"/>
              <a:t>локаль</a:t>
            </a:r>
            <a:endParaRPr lang="ru-RU" sz="2400" dirty="0"/>
          </a:p>
          <a:p>
            <a:r>
              <a:rPr lang="ru-RU" sz="2400" dirty="0"/>
              <a:t>%X: время, форматированное под текущую </a:t>
            </a:r>
            <a:r>
              <a:rPr lang="ru-RU" sz="2400" dirty="0" err="1"/>
              <a:t>локаль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561459" y="1282489"/>
            <a:ext cx="465076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/>
              <a:t>strftime</a:t>
            </a:r>
            <a:r>
              <a:rPr lang="en-US" sz="2800" b="1" dirty="0"/>
              <a:t>(format</a:t>
            </a:r>
            <a:r>
              <a:rPr lang="en-US" sz="2800" b="1" dirty="0" smtClean="0"/>
              <a:t>)</a:t>
            </a:r>
            <a:endParaRPr lang="ru-RU" sz="2800" b="1" dirty="0" smtClean="0"/>
          </a:p>
          <a:p>
            <a:r>
              <a:rPr lang="ru-RU" sz="2800" b="1" dirty="0" err="1"/>
              <a:t>strptime</a:t>
            </a:r>
            <a:r>
              <a:rPr lang="ru-RU" sz="2800" b="1" dirty="0"/>
              <a:t>(</a:t>
            </a:r>
            <a:r>
              <a:rPr lang="ru-RU" sz="2800" b="1" dirty="0" err="1"/>
              <a:t>date_string</a:t>
            </a:r>
            <a:r>
              <a:rPr lang="ru-RU" sz="2800" b="1" dirty="0"/>
              <a:t>, </a:t>
            </a:r>
            <a:r>
              <a:rPr lang="ru-RU" sz="2800" b="1" dirty="0" err="1"/>
              <a:t>format</a:t>
            </a:r>
            <a:r>
              <a:rPr lang="ru-RU" sz="2800" b="1" dirty="0"/>
              <a:t>)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2323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118298"/>
            <a:ext cx="8612361" cy="318099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492539" y="3797959"/>
            <a:ext cx="4495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%d: день месяца в виде числа</a:t>
            </a:r>
          </a:p>
          <a:p>
            <a:r>
              <a:rPr lang="ru-RU" sz="2400" dirty="0"/>
              <a:t>%m: порядковый номер месяца</a:t>
            </a:r>
          </a:p>
          <a:p>
            <a:r>
              <a:rPr lang="ru-RU" sz="2400" dirty="0"/>
              <a:t>%y: год в виде 2-х чисел</a:t>
            </a:r>
          </a:p>
          <a:p>
            <a:r>
              <a:rPr lang="ru-RU" sz="2400" dirty="0"/>
              <a:t>%Y: год в виде 4-х чисел</a:t>
            </a:r>
          </a:p>
          <a:p>
            <a:r>
              <a:rPr lang="ru-RU" sz="2400" dirty="0"/>
              <a:t>%H: час в 24-х часовом формате</a:t>
            </a:r>
          </a:p>
          <a:p>
            <a:r>
              <a:rPr lang="ru-RU" sz="2400" dirty="0"/>
              <a:t>%M: минута</a:t>
            </a:r>
          </a:p>
          <a:p>
            <a:r>
              <a:rPr lang="ru-RU" sz="2400" dirty="0"/>
              <a:t>%S: секунда</a:t>
            </a:r>
          </a:p>
        </p:txBody>
      </p:sp>
    </p:spTree>
    <p:extLst>
      <p:ext uri="{BB962C8B-B14F-4D97-AF65-F5344CB8AC3E}">
        <p14:creationId xmlns:p14="http://schemas.microsoft.com/office/powerpoint/2010/main" val="32242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datetime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23" y="1287055"/>
            <a:ext cx="5867511" cy="2893289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48" y="2019993"/>
            <a:ext cx="4806784" cy="216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1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**</a:t>
            </a:r>
            <a:r>
              <a:rPr lang="ru-RU" dirty="0" smtClean="0"/>
              <a:t>Стандартная </a:t>
            </a:r>
            <a:r>
              <a:rPr lang="ru-RU" dirty="0"/>
              <a:t>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tzinfo</a:t>
            </a:r>
            <a:endParaRPr lang="ru-RU" sz="28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46759" y="1386419"/>
            <a:ext cx="10698482" cy="481667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абстрактный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предназначенный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для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хранения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информации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временной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зоне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и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летнем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/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зимнем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времени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в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пределах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одного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класса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модуле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datetime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уже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существует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timezone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который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можно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использовать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для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представления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временных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зон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с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фиксированным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отклонением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например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UTC;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3"/>
              </a:rPr>
              <a:t>MSK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(</a:t>
            </a:r>
            <a:r>
              <a:rPr kumimoji="0" lang="en-US" altLang="en-US" sz="2800" b="0" i="1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англ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Moscow Time,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Московское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  <a:hlinkClick r:id="rId4"/>
              </a:rPr>
              <a:t>EST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(</a:t>
            </a:r>
            <a:r>
              <a:rPr kumimoji="0" lang="en-US" altLang="en-US" sz="2800" b="0" i="1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англ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Eastern Standard Time,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Североамериканское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восточное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и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др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728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tzinfo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898208"/>
              </p:ext>
            </p:extLst>
          </p:nvPr>
        </p:nvGraphicFramePr>
        <p:xfrm>
          <a:off x="99749" y="1018926"/>
          <a:ext cx="12011891" cy="58221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98341">
                  <a:extLst>
                    <a:ext uri="{9D8B030D-6E8A-4147-A177-3AD203B41FA5}">
                      <a16:colId xmlns="" xmlns:a16="http://schemas.microsoft.com/office/drawing/2014/main" val="1367188931"/>
                    </a:ext>
                  </a:extLst>
                </a:gridCol>
                <a:gridCol w="10013550">
                  <a:extLst>
                    <a:ext uri="{9D8B030D-6E8A-4147-A177-3AD203B41FA5}">
                      <a16:colId xmlns="" xmlns:a16="http://schemas.microsoft.com/office/drawing/2014/main" val="2990297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dst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отклонение для летнего/зимнего времени (англ.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Daylight Saving Time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от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(в минутах); если отклонение не известно, должен возвращать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6823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tzname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наименование (строку) временной зоны для 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-объекта 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(например,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GMT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EDT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', '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MSK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'); если наименование не известно, должен возвращать </a:t>
                      </a:r>
                      <a:r>
                        <a:rPr lang="en-US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79304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fromutc(dt)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дату/время </a:t>
                      </a:r>
                      <a:r>
                        <a:rPr lang="en-US" sz="24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относительно </a:t>
                      </a:r>
                      <a:r>
                        <a:rPr lang="en-US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UTC</a:t>
                      </a:r>
                      <a:r>
                        <a:rPr lang="ru-RU" sz="2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1678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>
                          <a:latin typeface="+mn-lt"/>
                        </a:rPr>
                        <a:t>utcoffset</a:t>
                      </a:r>
                      <a:r>
                        <a:rPr lang="en-US" sz="2800" dirty="0" smtClean="0">
                          <a:latin typeface="+mn-lt"/>
                        </a:rPr>
                        <a:t>(</a:t>
                      </a:r>
                      <a:r>
                        <a:rPr lang="en-US" sz="2800" dirty="0" err="1" smtClean="0">
                          <a:latin typeface="+mn-lt"/>
                        </a:rPr>
                        <a:t>dt</a:t>
                      </a:r>
                      <a:r>
                        <a:rPr lang="en-US" sz="2800" dirty="0" smtClean="0">
                          <a:latin typeface="+mn-lt"/>
                        </a:rPr>
                        <a:t>)</a:t>
                      </a:r>
                      <a:endParaRPr lang="en-US" sz="2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+mn-lt"/>
                        </a:rPr>
                        <a:t>Возвращает отклонение местного времени от UTC (в минутах), с учетом как часового пояса, так и летнего/зимнего времени. Если отклонение не известно, должен возвращать </a:t>
                      </a:r>
                      <a:r>
                        <a:rPr lang="ru-RU" sz="2400" dirty="0" err="1" smtClean="0">
                          <a:latin typeface="+mn-lt"/>
                        </a:rPr>
                        <a:t>None</a:t>
                      </a:r>
                      <a:r>
                        <a:rPr lang="ru-RU" sz="2400" dirty="0" smtClean="0">
                          <a:latin typeface="+mn-lt"/>
                        </a:rPr>
                        <a:t>.</a:t>
                      </a:r>
                    </a:p>
                    <a:p>
                      <a:r>
                        <a:rPr lang="ru-RU" sz="2400" dirty="0" smtClean="0">
                          <a:latin typeface="+mn-lt"/>
                        </a:rPr>
                        <a:t>Большинство реализаций содержит два варианта:</a:t>
                      </a:r>
                    </a:p>
                    <a:p>
                      <a:r>
                        <a:rPr lang="ru-RU" sz="2400" dirty="0" err="1" smtClean="0">
                          <a:latin typeface="+mn-lt"/>
                        </a:rPr>
                        <a:t>return</a:t>
                      </a:r>
                      <a:r>
                        <a:rPr lang="ru-RU" sz="2400" dirty="0" smtClean="0">
                          <a:latin typeface="+mn-lt"/>
                        </a:rPr>
                        <a:t> CONSTANT  # фиксированное отклонение</a:t>
                      </a:r>
                    </a:p>
                    <a:p>
                      <a:r>
                        <a:rPr lang="ru-RU" sz="2400" dirty="0" smtClean="0">
                          <a:latin typeface="+mn-lt"/>
                        </a:rPr>
                        <a:t># или</a:t>
                      </a:r>
                    </a:p>
                    <a:p>
                      <a:r>
                        <a:rPr lang="ru-RU" sz="2400" dirty="0" err="1" smtClean="0">
                          <a:latin typeface="+mn-lt"/>
                        </a:rPr>
                        <a:t>return</a:t>
                      </a:r>
                      <a:r>
                        <a:rPr lang="ru-RU" sz="2400" dirty="0" smtClean="0">
                          <a:latin typeface="+mn-lt"/>
                        </a:rPr>
                        <a:t> CONSTANT + </a:t>
                      </a:r>
                      <a:r>
                        <a:rPr lang="ru-RU" sz="2400" dirty="0" err="1" smtClean="0">
                          <a:latin typeface="+mn-lt"/>
                        </a:rPr>
                        <a:t>self.dst</a:t>
                      </a:r>
                      <a:r>
                        <a:rPr lang="ru-RU" sz="2400" dirty="0" smtClean="0">
                          <a:latin typeface="+mn-lt"/>
                        </a:rPr>
                        <a:t>(</a:t>
                      </a:r>
                      <a:r>
                        <a:rPr lang="ru-RU" sz="2400" dirty="0" err="1" smtClean="0">
                          <a:latin typeface="+mn-lt"/>
                        </a:rPr>
                        <a:t>dt</a:t>
                      </a:r>
                      <a:r>
                        <a:rPr lang="ru-RU" sz="2400" dirty="0" smtClean="0">
                          <a:latin typeface="+mn-lt"/>
                        </a:rPr>
                        <a:t>)  # фиксированное отклонение + летнее/зимнее время.</a:t>
                      </a:r>
                      <a:endParaRPr lang="en-US" sz="2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05554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25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/>
              <a:t>timezone</a:t>
            </a:r>
            <a:endParaRPr lang="ru-RU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4924" y="1001398"/>
            <a:ext cx="10083339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класс-потомок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E74C3C"/>
                </a:solidFill>
                <a:effectLst/>
                <a:latin typeface="+mn-lt"/>
              </a:rPr>
              <a:t>tzinfo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реализующий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фиксированное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отклонение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времени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от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UTC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не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учитывает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летнее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/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зимнее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время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  <a:latin typeface="+mn-lt"/>
              </a:rPr>
              <a:t>).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72590" y="1955505"/>
            <a:ext cx="61735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datetime.timezone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(</a:t>
            </a:r>
            <a:r>
              <a:rPr kumimoji="0" lang="en-US" altLang="en-US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offset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[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, </a:t>
            </a:r>
            <a:r>
              <a:rPr kumimoji="0" lang="en-US" altLang="en-US" sz="2800" b="1" i="1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name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]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1B7A41"/>
                </a:solidFill>
                <a:effectLst/>
                <a:latin typeface="+mn-lt"/>
              </a:rPr>
              <a:t>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4924" y="2593400"/>
            <a:ext cx="118650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offset (</a:t>
            </a:r>
            <a:r>
              <a:rPr lang="en-US" sz="2800" b="1" dirty="0" err="1"/>
              <a:t>timedelta</a:t>
            </a:r>
            <a:r>
              <a:rPr lang="en-US" sz="2800" b="1" dirty="0"/>
              <a:t>) </a:t>
            </a:r>
            <a:r>
              <a:rPr lang="en-US" sz="2800" dirty="0"/>
              <a:t>– </a:t>
            </a:r>
            <a:r>
              <a:rPr lang="en-US" sz="2800" dirty="0" err="1"/>
              <a:t>объект</a:t>
            </a:r>
            <a:r>
              <a:rPr lang="en-US" sz="2800" dirty="0"/>
              <a:t>, </a:t>
            </a:r>
            <a:r>
              <a:rPr lang="en-US" sz="2800" dirty="0" err="1"/>
              <a:t>хранящий</a:t>
            </a:r>
            <a:r>
              <a:rPr lang="en-US" sz="2800" dirty="0"/>
              <a:t> </a:t>
            </a:r>
            <a:r>
              <a:rPr lang="en-US" sz="2800" dirty="0" err="1"/>
              <a:t>разницу</a:t>
            </a:r>
            <a:r>
              <a:rPr lang="en-US" sz="2800" dirty="0"/>
              <a:t> </a:t>
            </a:r>
            <a:r>
              <a:rPr lang="en-US" sz="2800" dirty="0" err="1"/>
              <a:t>между</a:t>
            </a:r>
            <a:r>
              <a:rPr lang="en-US" sz="2800" dirty="0"/>
              <a:t> </a:t>
            </a:r>
            <a:r>
              <a:rPr lang="en-US" sz="2800" dirty="0" err="1"/>
              <a:t>местным</a:t>
            </a:r>
            <a:r>
              <a:rPr lang="en-US" sz="2800" dirty="0"/>
              <a:t> </a:t>
            </a:r>
            <a:r>
              <a:rPr lang="en-US" sz="2800" dirty="0" err="1"/>
              <a:t>временем</a:t>
            </a:r>
            <a:r>
              <a:rPr lang="en-US" sz="2800" dirty="0"/>
              <a:t> и UTC; </a:t>
            </a:r>
            <a:r>
              <a:rPr lang="en-US" sz="2800" dirty="0" err="1"/>
              <a:t>диапазон</a:t>
            </a:r>
            <a:r>
              <a:rPr lang="en-US" sz="2800" dirty="0"/>
              <a:t> </a:t>
            </a:r>
            <a:r>
              <a:rPr lang="en-US" sz="2800" dirty="0" err="1"/>
              <a:t>значений</a:t>
            </a:r>
            <a:r>
              <a:rPr lang="en-US" sz="2800" dirty="0"/>
              <a:t>: [-</a:t>
            </a:r>
            <a:r>
              <a:rPr lang="en-US" sz="2800" dirty="0" err="1"/>
              <a:t>timedelta</a:t>
            </a:r>
            <a:r>
              <a:rPr lang="en-US" sz="2800" dirty="0"/>
              <a:t>(hours=24); </a:t>
            </a:r>
            <a:r>
              <a:rPr lang="en-US" sz="2800" dirty="0" err="1"/>
              <a:t>timedelta</a:t>
            </a:r>
            <a:r>
              <a:rPr lang="en-US" sz="2800" dirty="0"/>
              <a:t>(hours=24)];</a:t>
            </a:r>
          </a:p>
          <a:p>
            <a:endParaRPr lang="en-US" sz="2800" dirty="0"/>
          </a:p>
          <a:p>
            <a:r>
              <a:rPr lang="en-US" sz="2800" b="1" dirty="0"/>
              <a:t>name (</a:t>
            </a:r>
            <a:r>
              <a:rPr lang="en-US" sz="2800" b="1" dirty="0" err="1"/>
              <a:t>str</a:t>
            </a:r>
            <a:r>
              <a:rPr lang="en-US" sz="2800" b="1" dirty="0"/>
              <a:t>) </a:t>
            </a:r>
            <a:r>
              <a:rPr lang="en-US" sz="2800" dirty="0"/>
              <a:t>– </a:t>
            </a:r>
            <a:r>
              <a:rPr lang="en-US" sz="2800" dirty="0" err="1"/>
              <a:t>наименование</a:t>
            </a:r>
            <a:r>
              <a:rPr lang="en-US" sz="2800" dirty="0"/>
              <a:t> </a:t>
            </a:r>
            <a:r>
              <a:rPr lang="en-US" sz="2800" dirty="0" err="1"/>
              <a:t>временной</a:t>
            </a:r>
            <a:r>
              <a:rPr lang="en-US" sz="2800" dirty="0"/>
              <a:t> </a:t>
            </a:r>
            <a:r>
              <a:rPr lang="en-US" sz="2800" dirty="0" err="1"/>
              <a:t>зоны</a:t>
            </a:r>
            <a:r>
              <a:rPr lang="en-US" sz="2800" dirty="0"/>
              <a:t> (</a:t>
            </a:r>
            <a:r>
              <a:rPr lang="en-US" sz="2800" dirty="0" err="1"/>
              <a:t>необязательный</a:t>
            </a:r>
            <a:r>
              <a:rPr lang="en-US" sz="2800" dirty="0"/>
              <a:t> </a:t>
            </a:r>
            <a:r>
              <a:rPr lang="en-US" sz="2800" dirty="0" err="1"/>
              <a:t>аргумент</a:t>
            </a:r>
            <a:r>
              <a:rPr lang="en-US" sz="2800" dirty="0"/>
              <a:t>); </a:t>
            </a:r>
            <a:r>
              <a:rPr lang="en-US" sz="2800" dirty="0" err="1"/>
              <a:t>по</a:t>
            </a:r>
            <a:r>
              <a:rPr lang="en-US" sz="2800" dirty="0"/>
              <a:t> </a:t>
            </a:r>
            <a:r>
              <a:rPr lang="en-US" sz="2800" dirty="0" err="1"/>
              <a:t>умолчанию</a:t>
            </a:r>
            <a:r>
              <a:rPr lang="en-US" sz="2800" dirty="0"/>
              <a:t> - ‘</a:t>
            </a:r>
            <a:r>
              <a:rPr lang="en-US" sz="2800" dirty="0" err="1"/>
              <a:t>UTCsHH:MM</a:t>
            </a:r>
            <a:r>
              <a:rPr lang="en-US" sz="2800" dirty="0"/>
              <a:t>’.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4924" y="4954844"/>
            <a:ext cx="116156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Поле</a:t>
            </a:r>
            <a:r>
              <a:rPr lang="en-US" sz="2800" dirty="0"/>
              <a:t> </a:t>
            </a:r>
            <a:r>
              <a:rPr lang="en-US" sz="2800" b="1" dirty="0" err="1"/>
              <a:t>utc</a:t>
            </a:r>
            <a:r>
              <a:rPr lang="en-US" sz="2800" dirty="0"/>
              <a:t> - </a:t>
            </a:r>
            <a:r>
              <a:rPr lang="en-US" sz="2800" dirty="0" err="1"/>
              <a:t>Возвращает</a:t>
            </a:r>
            <a:r>
              <a:rPr lang="en-US" sz="2800" dirty="0"/>
              <a:t> </a:t>
            </a:r>
            <a:r>
              <a:rPr lang="en-US" sz="2800" dirty="0" err="1"/>
              <a:t>отклонение</a:t>
            </a:r>
            <a:r>
              <a:rPr lang="en-US" sz="2800" dirty="0"/>
              <a:t> </a:t>
            </a:r>
            <a:r>
              <a:rPr lang="en-US" sz="2800" dirty="0" err="1"/>
              <a:t>местного</a:t>
            </a:r>
            <a:r>
              <a:rPr lang="en-US" sz="2800" dirty="0"/>
              <a:t> </a:t>
            </a:r>
            <a:r>
              <a:rPr lang="en-US" sz="2800" dirty="0" err="1"/>
              <a:t>времени</a:t>
            </a:r>
            <a:r>
              <a:rPr lang="en-US" sz="2800" dirty="0"/>
              <a:t> </a:t>
            </a:r>
            <a:r>
              <a:rPr lang="en-US" sz="2800" dirty="0" err="1"/>
              <a:t>от</a:t>
            </a:r>
            <a:r>
              <a:rPr lang="en-US" sz="2800" dirty="0"/>
              <a:t> UTC (в </a:t>
            </a:r>
            <a:r>
              <a:rPr lang="en-US" sz="2800" dirty="0" err="1"/>
              <a:t>минутах</a:t>
            </a:r>
            <a:r>
              <a:rPr lang="en-US" sz="2800" dirty="0"/>
              <a:t>), с </a:t>
            </a:r>
            <a:r>
              <a:rPr lang="en-US" sz="2800" dirty="0" err="1"/>
              <a:t>учетом</a:t>
            </a:r>
            <a:r>
              <a:rPr lang="en-US" sz="2800" dirty="0"/>
              <a:t> </a:t>
            </a:r>
            <a:r>
              <a:rPr lang="en-US" sz="2800" dirty="0" err="1"/>
              <a:t>как</a:t>
            </a:r>
            <a:r>
              <a:rPr lang="en-US" sz="2800" dirty="0"/>
              <a:t> </a:t>
            </a:r>
            <a:r>
              <a:rPr lang="en-US" sz="2800" dirty="0" err="1"/>
              <a:t>часового</a:t>
            </a:r>
            <a:r>
              <a:rPr lang="en-US" sz="2800" dirty="0"/>
              <a:t> </a:t>
            </a:r>
            <a:r>
              <a:rPr lang="en-US" sz="2800" dirty="0" err="1"/>
              <a:t>пояса</a:t>
            </a:r>
            <a:r>
              <a:rPr lang="en-US" sz="2800" dirty="0"/>
              <a:t>, </a:t>
            </a:r>
            <a:r>
              <a:rPr lang="en-US" sz="2800" dirty="0" err="1"/>
              <a:t>так</a:t>
            </a:r>
            <a:r>
              <a:rPr lang="en-US" sz="2800" dirty="0"/>
              <a:t> и </a:t>
            </a:r>
            <a:r>
              <a:rPr lang="en-US" sz="2800" dirty="0" err="1"/>
              <a:t>летнего</a:t>
            </a:r>
            <a:r>
              <a:rPr lang="en-US" sz="2800" dirty="0"/>
              <a:t>/</a:t>
            </a:r>
            <a:r>
              <a:rPr lang="en-US" sz="2800" dirty="0" err="1"/>
              <a:t>зимнего</a:t>
            </a:r>
            <a:r>
              <a:rPr lang="en-US" sz="2800" dirty="0"/>
              <a:t> </a:t>
            </a:r>
            <a:r>
              <a:rPr lang="en-US" sz="2800" dirty="0" err="1"/>
              <a:t>времени</a:t>
            </a:r>
            <a:r>
              <a:rPr lang="en-US" sz="2800" dirty="0"/>
              <a:t>. </a:t>
            </a:r>
            <a:r>
              <a:rPr lang="en-US" sz="2800" dirty="0" err="1"/>
              <a:t>Если</a:t>
            </a:r>
            <a:r>
              <a:rPr lang="en-US" sz="2800" dirty="0"/>
              <a:t> </a:t>
            </a:r>
            <a:r>
              <a:rPr lang="en-US" sz="2800" dirty="0" err="1"/>
              <a:t>отклонение</a:t>
            </a:r>
            <a:r>
              <a:rPr lang="en-US" sz="2800" dirty="0"/>
              <a:t> </a:t>
            </a:r>
            <a:r>
              <a:rPr lang="en-US" sz="2800" dirty="0" err="1"/>
              <a:t>не</a:t>
            </a:r>
            <a:r>
              <a:rPr lang="en-US" sz="2800" dirty="0"/>
              <a:t> </a:t>
            </a:r>
            <a:r>
              <a:rPr lang="en-US" sz="2800" dirty="0" err="1"/>
              <a:t>известно</a:t>
            </a:r>
            <a:r>
              <a:rPr lang="en-US" sz="2800" dirty="0"/>
              <a:t>, </a:t>
            </a:r>
            <a:r>
              <a:rPr lang="en-US" sz="2800" dirty="0" err="1"/>
              <a:t>должен</a:t>
            </a:r>
            <a:r>
              <a:rPr lang="en-US" sz="2800" dirty="0"/>
              <a:t> </a:t>
            </a:r>
            <a:r>
              <a:rPr lang="en-US" sz="2800" dirty="0" err="1"/>
              <a:t>возвращать</a:t>
            </a:r>
            <a:r>
              <a:rPr lang="en-US" sz="2800" dirty="0"/>
              <a:t> None.</a:t>
            </a:r>
          </a:p>
        </p:txBody>
      </p:sp>
    </p:spTree>
    <p:extLst>
      <p:ext uri="{BB962C8B-B14F-4D97-AF65-F5344CB8AC3E}">
        <p14:creationId xmlns:p14="http://schemas.microsoft.com/office/powerpoint/2010/main" val="332749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err="1" smtClean="0"/>
              <a:t>datetime</a:t>
            </a:r>
            <a:r>
              <a:rPr lang="ru-RU" dirty="0" smtClean="0"/>
              <a:t> – класс </a:t>
            </a:r>
            <a:r>
              <a:rPr lang="en-US" dirty="0" err="1" smtClean="0"/>
              <a:t>timezone</a:t>
            </a:r>
            <a:r>
              <a:rPr lang="ru-RU" dirty="0" smtClean="0"/>
              <a:t> - методы</a:t>
            </a:r>
            <a:endParaRPr lang="ru-RU" sz="28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75511"/>
              </p:ext>
            </p:extLst>
          </p:nvPr>
        </p:nvGraphicFramePr>
        <p:xfrm>
          <a:off x="485832" y="1788313"/>
          <a:ext cx="10254212" cy="31959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85694">
                  <a:extLst>
                    <a:ext uri="{9D8B030D-6E8A-4147-A177-3AD203B41FA5}">
                      <a16:colId xmlns="" xmlns:a16="http://schemas.microsoft.com/office/drawing/2014/main" val="3797984411"/>
                    </a:ext>
                  </a:extLst>
                </a:gridCol>
                <a:gridCol w="7668518">
                  <a:extLst>
                    <a:ext uri="{9D8B030D-6E8A-4147-A177-3AD203B41FA5}">
                      <a16:colId xmlns="" xmlns:a16="http://schemas.microsoft.com/office/drawing/2014/main" val="4093584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dst(dt)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None.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37678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tzname(dt)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наименование временной зоны или строку ‘UTCsHH:MM’, если наименование не было задано.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83289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fromutc(dt)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дату/время со сдвигом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offset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аргумент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должен быть «осведомленным»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-объектом.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89969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4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locale</a:t>
            </a:r>
            <a:endParaRPr lang="ru-RU" sz="28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092013"/>
              </p:ext>
            </p:extLst>
          </p:nvPr>
        </p:nvGraphicFramePr>
        <p:xfrm>
          <a:off x="108066" y="2453331"/>
          <a:ext cx="11962014" cy="41090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0907">
                  <a:extLst>
                    <a:ext uri="{9D8B030D-6E8A-4147-A177-3AD203B41FA5}">
                      <a16:colId xmlns="" xmlns:a16="http://schemas.microsoft.com/office/drawing/2014/main" val="3797984411"/>
                    </a:ext>
                  </a:extLst>
                </a:gridCol>
                <a:gridCol w="8261107">
                  <a:extLst>
                    <a:ext uri="{9D8B030D-6E8A-4147-A177-3AD203B41FA5}">
                      <a16:colId xmlns="" xmlns:a16="http://schemas.microsoft.com/office/drawing/2014/main" val="4093584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latin typeface="+mn-lt"/>
                        </a:rPr>
                        <a:t>locale.setlocale</a:t>
                      </a:r>
                      <a:r>
                        <a:rPr lang="ru-RU" sz="2800" b="0" dirty="0" smtClean="0">
                          <a:latin typeface="+mn-lt"/>
                        </a:rPr>
                        <a:t> 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locale=None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Устанавливает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локаль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для категории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category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 значение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locale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если оно не равно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None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В качестве категории может использоваться любое предопределенное значение, например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locale.LC_ALL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(все настройки), </a:t>
                      </a:r>
                      <a:r>
                        <a:rPr lang="ru-RU" sz="2800" b="0" dirty="0" err="1" smtClean="0">
                          <a:effectLst/>
                          <a:latin typeface="+mn-lt"/>
                        </a:rPr>
                        <a:t>locale.LC_TIME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(настройки отображения времени) и т.д.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37678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latin typeface="+mn-lt"/>
                        </a:rPr>
                        <a:t>locale.getlocale</a:t>
                      </a:r>
                      <a:r>
                        <a:rPr lang="ru-RU" sz="2800" b="0" dirty="0" smtClean="0">
                          <a:latin typeface="+mn-lt"/>
                        </a:rPr>
                        <a:t> 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category=LC_CTYPE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Возвращает текущую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локаль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для заданной категории.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832897384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08066" y="1118298"/>
            <a:ext cx="118373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предоставляет доступ к набору </a:t>
            </a:r>
            <a:r>
              <a:rPr lang="ru-RU" sz="2800" dirty="0" err="1"/>
              <a:t>локалей</a:t>
            </a:r>
            <a:r>
              <a:rPr lang="ru-RU" sz="2800" dirty="0"/>
              <a:t> и </a:t>
            </a:r>
            <a:r>
              <a:rPr lang="ru-RU" sz="2800" dirty="0" smtClean="0"/>
              <a:t>позволяет </a:t>
            </a:r>
            <a:r>
              <a:rPr lang="ru-RU" sz="2800" dirty="0"/>
              <a:t>взаимодействовать с национальными особенностями системы (языковыми, культурными и т.д.).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612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locale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09" y="1278926"/>
            <a:ext cx="2452729" cy="1106827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12" y="3013307"/>
            <a:ext cx="6633332" cy="30531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273161" y="4466305"/>
            <a:ext cx="2317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# ru_RU.utf8 </a:t>
            </a:r>
            <a:r>
              <a:rPr lang="ru-RU" dirty="0"/>
              <a:t>для </a:t>
            </a:r>
            <a:r>
              <a:rPr lang="en-US" dirty="0"/>
              <a:t>Unix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332119" y="5272640"/>
            <a:ext cx="1966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# C.UTF-8 </a:t>
            </a:r>
            <a:r>
              <a:rPr lang="ru-RU" dirty="0"/>
              <a:t>для </a:t>
            </a:r>
            <a:r>
              <a:rPr lang="en-US" dirty="0"/>
              <a:t>Unix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765778" y="1176036"/>
            <a:ext cx="78796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# Доступные </a:t>
            </a:r>
            <a:r>
              <a:rPr lang="ru-RU" sz="2000" dirty="0" err="1"/>
              <a:t>локали</a:t>
            </a:r>
            <a:r>
              <a:rPr lang="ru-RU" sz="2000" dirty="0"/>
              <a:t>: </a:t>
            </a:r>
            <a:endParaRPr lang="ru-RU" sz="2000" dirty="0" smtClean="0"/>
          </a:p>
          <a:p>
            <a:r>
              <a:rPr lang="ru-RU" sz="2000" dirty="0" smtClean="0"/>
              <a:t># </a:t>
            </a:r>
            <a:r>
              <a:rPr lang="ru-RU" sz="2000" dirty="0"/>
              <a:t>- </a:t>
            </a:r>
            <a:r>
              <a:rPr lang="ru-RU" sz="2000" dirty="0" err="1"/>
              <a:t>Windows</a:t>
            </a:r>
            <a:r>
              <a:rPr lang="ru-RU" sz="2000" dirty="0"/>
              <a:t>: https://msdn.microsoft.com/en-us/goglobal/bb895996.aspx </a:t>
            </a:r>
          </a:p>
          <a:p>
            <a:r>
              <a:rPr lang="ru-RU" sz="2000" dirty="0"/>
              <a:t># - </a:t>
            </a:r>
            <a:r>
              <a:rPr lang="ru-RU" sz="2000" dirty="0" err="1"/>
              <a:t>Unix</a:t>
            </a:r>
            <a:r>
              <a:rPr lang="ru-RU" sz="2000" dirty="0"/>
              <a:t>: команда $</a:t>
            </a:r>
            <a:r>
              <a:rPr lang="ru-RU" sz="2000" dirty="0" err="1"/>
              <a:t>locale</a:t>
            </a:r>
            <a:r>
              <a:rPr lang="ru-RU" sz="2000" dirty="0"/>
              <a:t> -a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920" y="2508412"/>
            <a:ext cx="4784589" cy="99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7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/>
              <a:t>calendar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76883" y="1118298"/>
            <a:ext cx="69125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содержит классы для работы с </a:t>
            </a:r>
            <a:r>
              <a:rPr lang="ru-RU" sz="2800" dirty="0" smtClean="0"/>
              <a:t>календарем:</a:t>
            </a:r>
            <a:endParaRPr lang="en-US" sz="28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855592"/>
              </p:ext>
            </p:extLst>
          </p:nvPr>
        </p:nvGraphicFramePr>
        <p:xfrm>
          <a:off x="434931" y="1872061"/>
          <a:ext cx="10813441" cy="414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04108">
                  <a:extLst>
                    <a:ext uri="{9D8B030D-6E8A-4147-A177-3AD203B41FA5}">
                      <a16:colId xmlns="" xmlns:a16="http://schemas.microsoft.com/office/drawing/2014/main" val="2016721585"/>
                    </a:ext>
                  </a:extLst>
                </a:gridCol>
                <a:gridCol w="6709333">
                  <a:extLst>
                    <a:ext uri="{9D8B030D-6E8A-4147-A177-3AD203B41FA5}">
                      <a16:colId xmlns="" xmlns:a16="http://schemas.microsoft.com/office/drawing/2014/main" val="1641517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>
                          <a:effectLst/>
                        </a:rPr>
                        <a:t>Calendar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Базовый класс для создания календарей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84761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>
                          <a:effectLst/>
                        </a:rPr>
                        <a:t>TextCalendar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 для создания календарей в текстовом виде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150913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>
                          <a:effectLst/>
                        </a:rPr>
                        <a:t>LocaleTextCalendar</a:t>
                      </a:r>
                      <a:endParaRPr lang="en-US" sz="28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 для создания календарей в текстовом виде с учетом </a:t>
                      </a:r>
                      <a:r>
                        <a:rPr lang="ru-RU" sz="28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локали</a:t>
                      </a:r>
                      <a:endParaRPr lang="ru-RU" sz="280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7080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dirty="0" err="1">
                          <a:effectLst/>
                        </a:rPr>
                        <a:t>HTMLCalendar</a:t>
                      </a:r>
                      <a:endParaRPr lang="en-US" sz="28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>
                          <a:effectLst/>
                        </a:rPr>
                        <a:t>Класс для создания календарей в HTML-формате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88084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>
                          <a:effectLst/>
                        </a:rPr>
                        <a:t>LocaleHTMLCalendar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>
                          <a:effectLst/>
                        </a:rPr>
                        <a:t>Класс для создания календарей в HTML-формате с учетом </a:t>
                      </a:r>
                      <a:r>
                        <a:rPr lang="ru-RU" sz="2800" u="none" strike="noStrike" dirty="0" err="1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локали</a:t>
                      </a:r>
                      <a:endParaRPr lang="ru-RU" sz="28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3627613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776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/>
              <a:t>calendar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0" y="1255674"/>
            <a:ext cx="5693465" cy="3416079"/>
          </a:xfrm>
          <a:prstGeom prst="rect">
            <a:avLst/>
          </a:prstGeom>
        </p:spPr>
      </p:pic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231" y="1720482"/>
            <a:ext cx="3473220" cy="30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time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63236" y="1118298"/>
            <a:ext cx="105848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</a:rPr>
              <a:t>содержит функции для работы с временем. Большинство функций является аналогом соответствующих функция языка Си (синтаксис и возможности могут различаться в зависимости от используемой платформы).</a:t>
            </a:r>
            <a:endParaRPr lang="en-US" sz="2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729197"/>
              </p:ext>
            </p:extLst>
          </p:nvPr>
        </p:nvGraphicFramePr>
        <p:xfrm>
          <a:off x="128385" y="2934180"/>
          <a:ext cx="11401367" cy="365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04771">
                  <a:extLst>
                    <a:ext uri="{9D8B030D-6E8A-4147-A177-3AD203B41FA5}">
                      <a16:colId xmlns="" xmlns:a16="http://schemas.microsoft.com/office/drawing/2014/main" val="1753675580"/>
                    </a:ext>
                  </a:extLst>
                </a:gridCol>
                <a:gridCol w="8096596">
                  <a:extLst>
                    <a:ext uri="{9D8B030D-6E8A-4147-A177-3AD203B41FA5}">
                      <a16:colId xmlns="" xmlns:a16="http://schemas.microsoft.com/office/drawing/2014/main" val="133011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time.ctime([seconds])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строку, содержащую время по истечении seconds секунд с момента начала эпохи.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0950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time.perf_counter()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доли секунды с момента начала работы ОС. Может использоваться для измерения достаточно малого промежутка времени.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3823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time.sleep(seconds)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Приостанавливает поток выполнения программы на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seconds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секунд (аргумент может быть вещественным - долей секунды).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475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13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11182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модуль </a:t>
            </a:r>
            <a:r>
              <a:rPr lang="en-US" dirty="0" smtClean="0"/>
              <a:t>time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7" y="1047287"/>
            <a:ext cx="11528977" cy="5062567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730" y="3480345"/>
            <a:ext cx="5668574" cy="328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0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980901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 smtClean="0"/>
              <a:t>pytz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487" y="2390385"/>
            <a:ext cx="112083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# Список идентификаторов находится в </a:t>
            </a:r>
            <a:r>
              <a:rPr lang="en-US" sz="2400" dirty="0" err="1"/>
              <a:t>pytz.all_timezones</a:t>
            </a:r>
            <a:r>
              <a:rPr lang="en-US" sz="2400" dirty="0"/>
              <a:t> </a:t>
            </a:r>
            <a:r>
              <a:rPr lang="ru-RU" sz="2400" dirty="0"/>
              <a:t>или </a:t>
            </a:r>
            <a:r>
              <a:rPr lang="en-US" sz="2400" dirty="0" err="1"/>
              <a:t>common_timezones</a:t>
            </a:r>
            <a:endParaRPr lang="en-US" sz="2400" dirty="0"/>
          </a:p>
          <a:p>
            <a:r>
              <a:rPr lang="en-US" sz="2400" dirty="0" smtClean="0"/>
              <a:t>   </a:t>
            </a:r>
            <a:r>
              <a:rPr lang="en-US" sz="2400" dirty="0"/>
              <a:t>for </a:t>
            </a:r>
            <a:r>
              <a:rPr lang="en-US" sz="2400" dirty="0" err="1"/>
              <a:t>tz</a:t>
            </a:r>
            <a:r>
              <a:rPr lang="en-US" sz="2400" dirty="0"/>
              <a:t> in </a:t>
            </a:r>
            <a:r>
              <a:rPr lang="en-US" sz="2400" dirty="0" err="1"/>
              <a:t>pytz.all_timezones</a:t>
            </a:r>
            <a:r>
              <a:rPr lang="en-US" sz="2400" dirty="0"/>
              <a:t>:</a:t>
            </a:r>
          </a:p>
          <a:p>
            <a:r>
              <a:rPr lang="en-US" sz="2400" dirty="0" smtClean="0"/>
              <a:t>         </a:t>
            </a:r>
            <a:r>
              <a:rPr lang="en-US" sz="2400" dirty="0"/>
              <a:t>print(</a:t>
            </a:r>
            <a:r>
              <a:rPr lang="en-US" sz="2400" dirty="0" err="1"/>
              <a:t>tz</a:t>
            </a:r>
            <a:r>
              <a:rPr lang="en-US" sz="2400" dirty="0"/>
              <a:t>)</a:t>
            </a:r>
          </a:p>
          <a:p>
            <a:r>
              <a:rPr lang="en-US" sz="2400" dirty="0" smtClean="0"/>
              <a:t>   </a:t>
            </a:r>
            <a:r>
              <a:rPr lang="en-US" sz="2400" dirty="0"/>
              <a:t>print(</a:t>
            </a:r>
            <a:r>
              <a:rPr lang="en-US" sz="2400" dirty="0" err="1"/>
              <a:t>pytz.common_timezones</a:t>
            </a:r>
            <a:r>
              <a:rPr lang="en-US" sz="2400" dirty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6487" y="1052590"/>
            <a:ext cx="112083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содержит данные о всех временных зонах согласно </a:t>
            </a:r>
            <a:r>
              <a:rPr lang="ru-RU" sz="2800" dirty="0">
                <a:solidFill>
                  <a:srgbClr val="067A34"/>
                </a:solidFill>
                <a:latin typeface="Lato" panose="020F0502020204030203" pitchFamily="34" charset="0"/>
                <a:hlinkClick r:id="rId3"/>
              </a:rPr>
              <a:t>базе данных часовых поясов</a:t>
            </a:r>
            <a:endParaRPr lang="en-US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30" y="4205800"/>
            <a:ext cx="2370996" cy="2123281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104" y="4343733"/>
            <a:ext cx="7901808" cy="184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1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980901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 smtClean="0"/>
              <a:t>pytz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53" y="689957"/>
            <a:ext cx="11987804" cy="6001788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261" y="930146"/>
            <a:ext cx="5798296" cy="191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1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1098686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>
                <a:solidFill>
                  <a:schemeClr val="tx1"/>
                </a:solidFill>
              </a:rPr>
              <a:t>zoneinfo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45" y="978759"/>
            <a:ext cx="11757603" cy="473272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5849035"/>
            <a:ext cx="107617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Datetime</a:t>
            </a:r>
            <a:r>
              <a:rPr lang="en-US" sz="2400" dirty="0"/>
              <a:t>: 2022-06-04 00:00:00-04:00, </a:t>
            </a:r>
            <a:r>
              <a:rPr lang="en-US" sz="2400" dirty="0" err="1"/>
              <a:t>Timezone</a:t>
            </a:r>
            <a:r>
              <a:rPr lang="en-US" sz="2400" dirty="0"/>
              <a:t>: EDT, TZ Info: America/</a:t>
            </a:r>
            <a:r>
              <a:rPr lang="en-US" sz="2400" dirty="0" err="1"/>
              <a:t>New_York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4016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08066"/>
            <a:ext cx="10986868" cy="681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ru-RU" dirty="0" smtClean="0"/>
              <a:t>пакет </a:t>
            </a:r>
            <a:r>
              <a:rPr lang="en-US" dirty="0" err="1" smtClean="0"/>
              <a:t>tzlocal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2541" y="1043953"/>
            <a:ext cx="107617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Узнать текущую </a:t>
            </a:r>
            <a:r>
              <a:rPr lang="ru-RU" sz="2400" dirty="0" err="1" smtClean="0"/>
              <a:t>таймзону</a:t>
            </a:r>
            <a:endParaRPr lang="ru-RU" sz="24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89" y="5238620"/>
            <a:ext cx="2138309" cy="46293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1" y="1759861"/>
            <a:ext cx="9473644" cy="218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7828" y="2044622"/>
            <a:ext cx="1173757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Регулярные выражения (англ. </a:t>
            </a:r>
            <a:r>
              <a:rPr lang="ru-RU" sz="2800" dirty="0" err="1"/>
              <a:t>Regular</a:t>
            </a:r>
            <a:r>
              <a:rPr lang="ru-RU" sz="2800" dirty="0"/>
              <a:t> </a:t>
            </a:r>
            <a:r>
              <a:rPr lang="ru-RU" sz="2800" dirty="0" err="1"/>
              <a:t>Expressions</a:t>
            </a:r>
            <a:r>
              <a:rPr lang="ru-RU" sz="2800" dirty="0"/>
              <a:t>) - это компактная форма записи (шаблон, маска или паттерн) представления о коллекции строк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endParaRPr lang="en-US" sz="2800" dirty="0"/>
          </a:p>
          <a:p>
            <a:r>
              <a:rPr lang="ru-RU" sz="2800" dirty="0" smtClean="0"/>
              <a:t>Используются для</a:t>
            </a:r>
            <a:r>
              <a:rPr lang="en-US" sz="2800" dirty="0" smtClean="0"/>
              <a:t>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проверки соответствия текста критериям,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поиска подстрок,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замены по шаблону</a:t>
            </a:r>
            <a:r>
              <a:rPr lang="en-US" sz="2800" dirty="0" smtClean="0"/>
              <a:t> </a:t>
            </a:r>
            <a:r>
              <a:rPr lang="ru-RU" sz="2800" dirty="0"/>
              <a:t>на указанную строку</a:t>
            </a:r>
            <a:r>
              <a:rPr lang="ru-RU" sz="2800" dirty="0" smtClean="0"/>
              <a:t>,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разбиения строк по точкам совпадения с шаблоном.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244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7829" y="2044622"/>
            <a:ext cx="1027283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404040"/>
                </a:solidFill>
              </a:rPr>
              <a:t>Регулярные выражения являются строкой-шаблоном для поиска, определяются с помощью мини-языка и могут содержать</a:t>
            </a:r>
            <a:r>
              <a:rPr lang="ru-RU" sz="2800" dirty="0" smtClean="0">
                <a:solidFill>
                  <a:srgbClr val="404040"/>
                </a:solidFill>
              </a:rPr>
              <a:t>:</a:t>
            </a:r>
          </a:p>
          <a:p>
            <a:pPr algn="just"/>
            <a:endParaRPr lang="ru-RU" sz="2800" dirty="0">
              <a:solidFill>
                <a:srgbClr val="404040"/>
              </a:solidFill>
            </a:endParaRP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Флаги.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Символы и классы символов.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Квантификаторы.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Группировка и выбор.</a:t>
            </a:r>
          </a:p>
          <a:p>
            <a:pPr algn="just">
              <a:buFont typeface="+mj-lt"/>
              <a:buAutoNum type="arabicPeriod"/>
            </a:pPr>
            <a:r>
              <a:rPr lang="ru-RU" sz="2800" dirty="0">
                <a:solidFill>
                  <a:srgbClr val="404040"/>
                </a:solidFill>
              </a:rPr>
              <a:t>Проверка границ (привязки).</a:t>
            </a:r>
            <a:endParaRPr lang="ru-RU" sz="2800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7829" y="5851338"/>
            <a:ext cx="118373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конструктор выражений (например, </a:t>
            </a:r>
            <a:r>
              <a:rPr lang="ru-RU" sz="2800" dirty="0" smtClean="0"/>
              <a:t>онлайн-сервис</a:t>
            </a:r>
            <a:r>
              <a:rPr lang="ru-RU" sz="2800" dirty="0"/>
              <a:t> </a:t>
            </a:r>
            <a:r>
              <a:rPr lang="ru-RU" sz="2800" dirty="0">
                <a:hlinkClick r:id="rId3"/>
              </a:rPr>
              <a:t>https://regex101.com</a:t>
            </a:r>
            <a:r>
              <a:rPr lang="ru-RU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427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флаги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6376" y="1430033"/>
            <a:ext cx="1207562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Флаги не входят непосредственно в регулярное выражение, однако расширяют его функции. Типичные флаги </a:t>
            </a:r>
            <a:r>
              <a:rPr lang="ru-RU" sz="2800" dirty="0" smtClean="0"/>
              <a:t>: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'g' - глобальный поиск (обрабатываются все совпадения с шаблоном поиска);</a:t>
            </a:r>
          </a:p>
          <a:p>
            <a:r>
              <a:rPr lang="ru-RU" sz="2800" dirty="0" smtClean="0"/>
              <a:t>'i</a:t>
            </a:r>
            <a:r>
              <a:rPr lang="ru-RU" sz="2800" dirty="0"/>
              <a:t>' - регистр букв не имеет значения (по умолчанию любой поиск </a:t>
            </a:r>
            <a:r>
              <a:rPr lang="ru-RU" sz="2800" dirty="0" err="1"/>
              <a:t>регистрозависим</a:t>
            </a:r>
            <a:r>
              <a:rPr lang="ru-RU" sz="2800" dirty="0"/>
              <a:t>);</a:t>
            </a:r>
          </a:p>
          <a:p>
            <a:r>
              <a:rPr lang="ru-RU" sz="2800" dirty="0" smtClean="0"/>
              <a:t>'m</a:t>
            </a:r>
            <a:r>
              <a:rPr lang="ru-RU" sz="2800" dirty="0"/>
              <a:t>' - многострочный поиск;</a:t>
            </a:r>
          </a:p>
          <a:p>
            <a:r>
              <a:rPr lang="ru-RU" sz="2800" dirty="0" smtClean="0"/>
              <a:t>и </a:t>
            </a:r>
            <a:r>
              <a:rPr lang="ru-RU" sz="2800" dirty="0"/>
              <a:t>др.</a:t>
            </a:r>
          </a:p>
          <a:p>
            <a:endParaRPr lang="ru-RU" sz="2800" dirty="0"/>
          </a:p>
          <a:p>
            <a:r>
              <a:rPr lang="ru-RU" sz="2800" dirty="0"/>
              <a:t>Флаг указывается после паттерна, например: '/[0-9]/m'.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685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1069" y="2413338"/>
            <a:ext cx="114050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 специальным символам (также символам-джокерам или символам подстановки) относятся:</a:t>
            </a:r>
          </a:p>
          <a:p>
            <a:endParaRPr lang="ru-RU" sz="2800" dirty="0"/>
          </a:p>
          <a:p>
            <a:r>
              <a:rPr lang="ru-RU" sz="2800" dirty="0"/>
              <a:t>\ . ~ $ ? + * { } [ ] ( ) </a:t>
            </a:r>
            <a:r>
              <a:rPr lang="ru-RU" sz="2800" dirty="0" smtClean="0"/>
              <a:t>|</a:t>
            </a:r>
          </a:p>
          <a:p>
            <a:endParaRPr lang="ru-RU" sz="2800" dirty="0"/>
          </a:p>
          <a:p>
            <a:r>
              <a:rPr lang="ru-RU" sz="2800" dirty="0"/>
              <a:t>В пределах регулярных выражений можно также использовать большинство стандартных экранированных последовательностей языка </a:t>
            </a:r>
            <a:r>
              <a:rPr lang="ru-RU" sz="2800" dirty="0" err="1"/>
              <a:t>Python</a:t>
            </a:r>
            <a:r>
              <a:rPr lang="ru-RU" sz="2800" dirty="0"/>
              <a:t>, например, '\n', '\t' и др.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41069" y="1797919"/>
            <a:ext cx="3961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404040"/>
                </a:solidFill>
              </a:rPr>
              <a:t>Поиск символов и строк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09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4690" y="1800144"/>
            <a:ext cx="114050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Для поиска не конкретной последовательности символов, а некоторого их множества предназначены классы символов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5400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символов </a:t>
            </a:r>
            <a:r>
              <a:rPr lang="ru-RU" sz="2800" b="1" dirty="0"/>
              <a:t>по соответствию</a:t>
            </a:r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216542"/>
              </p:ext>
            </p:extLst>
          </p:nvPr>
        </p:nvGraphicFramePr>
        <p:xfrm>
          <a:off x="92287" y="2754251"/>
          <a:ext cx="11870575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31568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8139007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группа_символов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любому одиночному символу, входящему в </a:t>
                      </a:r>
                      <a:r>
                        <a:rPr lang="ru-RU" sz="2400" dirty="0" err="1" smtClean="0"/>
                        <a:t>группа_символов</a:t>
                      </a:r>
                      <a:r>
                        <a:rPr lang="ru-RU" sz="2400" dirty="0" smtClean="0"/>
                        <a:t>. По умолчанию при сопоставлении учитывается регистр.</a:t>
                      </a:r>
                    </a:p>
                    <a:p>
                      <a:r>
                        <a:rPr lang="ru-RU" sz="2400" b="1" dirty="0" smtClean="0"/>
                        <a:t>'[</a:t>
                      </a:r>
                      <a:r>
                        <a:rPr lang="ru-RU" sz="2400" b="1" dirty="0" err="1" smtClean="0"/>
                        <a:t>аеёиоуэюя</a:t>
                      </a:r>
                      <a:r>
                        <a:rPr lang="ru-RU" sz="2400" b="1" dirty="0" smtClean="0"/>
                        <a:t>]'   </a:t>
                      </a:r>
                      <a:r>
                        <a:rPr lang="ru-RU" sz="2400" dirty="0" smtClean="0"/>
                        <a:t>- найти все гласные буквы в строке;</a:t>
                      </a:r>
                    </a:p>
                    <a:p>
                      <a:r>
                        <a:rPr lang="ru-RU" sz="2400" b="1" dirty="0" smtClean="0"/>
                        <a:t>'п[</a:t>
                      </a:r>
                      <a:r>
                        <a:rPr lang="ru-RU" sz="2400" b="1" dirty="0" err="1" smtClean="0"/>
                        <a:t>ое</a:t>
                      </a:r>
                      <a:r>
                        <a:rPr lang="ru-RU" sz="2400" b="1" dirty="0" smtClean="0"/>
                        <a:t>]л'   </a:t>
                      </a:r>
                      <a:r>
                        <a:rPr lang="ru-RU" sz="2400" dirty="0" smtClean="0"/>
                        <a:t>- совпадение для слов 'пел' и 'пол', но не найдет слова 'поел' или 'пил'.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dirty="0" smtClean="0"/>
                        <a:t>[^</a:t>
                      </a:r>
                      <a:r>
                        <a:rPr lang="ru-RU" sz="2800" b="1" dirty="0" err="1" smtClean="0"/>
                        <a:t>группа_символов</a:t>
                      </a:r>
                      <a:r>
                        <a:rPr lang="ru-RU" sz="2800" b="1" dirty="0" smtClean="0"/>
                        <a:t>]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любому одиночному символу, НЕ входящему в </a:t>
                      </a:r>
                      <a:r>
                        <a:rPr lang="ru-RU" sz="2400" dirty="0" err="1" smtClean="0"/>
                        <a:t>группа_символов</a:t>
                      </a:r>
                      <a:r>
                        <a:rPr lang="ru-RU" sz="2400" dirty="0" smtClean="0"/>
                        <a:t>. По умолчанию при сопоставлении учитывается регистр.</a:t>
                      </a:r>
                    </a:p>
                    <a:p>
                      <a:r>
                        <a:rPr lang="ru-RU" sz="2400" b="1" dirty="0" smtClean="0"/>
                        <a:t>'[^</a:t>
                      </a:r>
                      <a:r>
                        <a:rPr lang="ru-RU" sz="2400" b="1" dirty="0" err="1" smtClean="0"/>
                        <a:t>аеёиоуэюя</a:t>
                      </a:r>
                      <a:r>
                        <a:rPr lang="ru-RU" sz="2400" b="1" dirty="0" smtClean="0"/>
                        <a:t>]' </a:t>
                      </a:r>
                      <a:r>
                        <a:rPr lang="ru-RU" sz="2400" dirty="0" smtClean="0"/>
                        <a:t>- все символы в тексте, кроме гласных букв.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82293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39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54009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символов по соответствию</a:t>
            </a:r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6081"/>
              </p:ext>
            </p:extLst>
          </p:nvPr>
        </p:nvGraphicFramePr>
        <p:xfrm>
          <a:off x="92287" y="1989480"/>
          <a:ext cx="11870575" cy="2743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64818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8105757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[первый-последний]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одному символу в диапазоне от первый до последний.</a:t>
                      </a:r>
                    </a:p>
                    <a:p>
                      <a:r>
                        <a:rPr lang="ru-RU" sz="2800" dirty="0" smtClean="0"/>
                        <a:t>'[0-9]' - все цифры тексте.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dirty="0" smtClean="0"/>
                        <a:t>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dirty="0" smtClean="0"/>
                        <a:t> (точка)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какому-либо одному знаку, кроме '\n'. Для поиска точки необходимо использовать экранирование: '\.'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'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м.л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 найдет в тексте 'мел', 'мул' и т.д.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82293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1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 smtClean="0">
                <a:solidFill>
                  <a:srgbClr val="404040"/>
                </a:solidFill>
              </a:rPr>
              <a:t>символы </a:t>
            </a:r>
            <a:r>
              <a:rPr lang="ru-RU" dirty="0">
                <a:solidFill>
                  <a:srgbClr val="404040"/>
                </a:solidFill>
              </a:rPr>
              <a:t>и классы символов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520860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символов </a:t>
            </a:r>
            <a:r>
              <a:rPr lang="ru-RU" sz="2800" b="1" dirty="0"/>
              <a:t>о соответствию</a:t>
            </a:r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19188"/>
              </p:ext>
            </p:extLst>
          </p:nvPr>
        </p:nvGraphicFramePr>
        <p:xfrm>
          <a:off x="92287" y="1989480"/>
          <a:ext cx="11870575" cy="40012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1618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10848957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любому алфавитно-цифровому знаку.</a:t>
                      </a:r>
                    </a:p>
                    <a:p>
                      <a:r>
                        <a:rPr lang="ru-RU" sz="2800" dirty="0" smtClean="0"/>
                        <a:t>'\w1' найдет в тексте '11' или 'я1'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  <a:tr h="556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символу, НЕ являющимся алфавитно-цифровым знаком.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8229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пробельному символу (пробел, табуляция и др.)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3116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знаку, НЕ являющемуся пробельным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3542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любой десятичной цифре.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выражение '\d-й' найдет в тексте '1-й' или '2-й'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4408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любому символу, НЕ являющемуся десятичной цифрой.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31065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51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- </a:t>
            </a:r>
            <a:r>
              <a:rPr lang="ru-RU" dirty="0"/>
              <a:t>квантификаторы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24690" y="1306286"/>
            <a:ext cx="883453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Поиск </a:t>
            </a:r>
            <a:r>
              <a:rPr lang="ru-RU" sz="2800" b="1" dirty="0" smtClean="0"/>
              <a:t>с указанием количества возможных повторений</a:t>
            </a:r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660476"/>
              </p:ext>
            </p:extLst>
          </p:nvPr>
        </p:nvGraphicFramePr>
        <p:xfrm>
          <a:off x="124691" y="2845168"/>
          <a:ext cx="6798624" cy="33001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60481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4438143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600" b="1" dirty="0">
                          <a:effectLst/>
                        </a:rPr>
                        <a:t>Квантификатор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600" b="1" dirty="0">
                          <a:effectLst/>
                        </a:rPr>
                        <a:t>Описание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  <a:tr h="55698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'*'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Ноль или более совпадений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58229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 dirty="0">
                          <a:effectLst/>
                        </a:rPr>
                        <a:t>'+'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 dirty="0">
                          <a:effectLst/>
                        </a:rPr>
                        <a:t>Одно или больше совпадений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93116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'?'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Ноль или одно совпадение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53542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'{m}'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Совпадение ровно </a:t>
                      </a:r>
                      <a:r>
                        <a:rPr lang="en-US" sz="2600">
                          <a:effectLst/>
                        </a:rPr>
                        <a:t>m </a:t>
                      </a:r>
                      <a:r>
                        <a:rPr lang="ru-RU" sz="2600">
                          <a:effectLst/>
                        </a:rPr>
                        <a:t>раз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384408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'{m,}'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>
                          <a:effectLst/>
                        </a:rPr>
                        <a:t>Совпадение m и более раз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831065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600">
                          <a:effectLst/>
                        </a:rPr>
                        <a:t>'{m, n}'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600" dirty="0">
                          <a:effectLst/>
                        </a:rPr>
                        <a:t>Совпадение от m до n раз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415014720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24690" y="1891061"/>
            <a:ext cx="767453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записываются после </a:t>
            </a:r>
            <a:r>
              <a:rPr lang="ru-RU" sz="2800" dirty="0" smtClean="0"/>
              <a:t>символа/строки/множества</a:t>
            </a:r>
          </a:p>
          <a:p>
            <a:r>
              <a:rPr lang="ru-RU" sz="2800" dirty="0" smtClean="0"/>
              <a:t>? подключают «ленивый режим»</a:t>
            </a:r>
            <a:endParaRPr lang="en-US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166" y="1306286"/>
            <a:ext cx="2356608" cy="1514962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228" y="2845168"/>
            <a:ext cx="2629910" cy="1910283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770" y="2845168"/>
            <a:ext cx="2334381" cy="1539959"/>
          </a:xfrm>
          <a:prstGeom prst="rect">
            <a:avLst/>
          </a:prstGeom>
        </p:spPr>
      </p:pic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228" y="4931145"/>
            <a:ext cx="2250801" cy="1427055"/>
          </a:xfrm>
          <a:prstGeom prst="rect">
            <a:avLst/>
          </a:prstGeom>
        </p:spPr>
      </p:pic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769" y="4846296"/>
            <a:ext cx="2334381" cy="1511904"/>
          </a:xfrm>
          <a:prstGeom prst="rect">
            <a:avLst/>
          </a:prstGeom>
        </p:spPr>
      </p:pic>
      <p:pic>
        <p:nvPicPr>
          <p:cNvPr id="14" name="Рисунок 13" descr="Вырезка экрана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707" y="984365"/>
            <a:ext cx="2266298" cy="138374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259" y="145165"/>
            <a:ext cx="2353003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8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</a:t>
            </a:r>
            <a:r>
              <a:rPr lang="ru-RU" dirty="0"/>
              <a:t>– </a:t>
            </a:r>
            <a:r>
              <a:rPr lang="ru-RU" dirty="0" smtClean="0"/>
              <a:t>группировка </a:t>
            </a:r>
            <a:r>
              <a:rPr lang="ru-RU" dirty="0"/>
              <a:t>'( )' </a:t>
            </a:r>
            <a:r>
              <a:rPr lang="ru-RU" b="1" dirty="0" smtClean="0"/>
              <a:t> 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715645"/>
              </p:ext>
            </p:extLst>
          </p:nvPr>
        </p:nvGraphicFramePr>
        <p:xfrm>
          <a:off x="0" y="4063966"/>
          <a:ext cx="12055151" cy="2621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8549951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dirty="0" smtClean="0"/>
                        <a:t>'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часть_выражения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800" b="1" dirty="0" smtClean="0"/>
                        <a:t>'</a:t>
                      </a:r>
                      <a:endParaRPr lang="ru-RU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b="0" dirty="0" smtClean="0">
                          <a:effectLst/>
                        </a:rPr>
                        <a:t>Захватывает соответствующие выражения и присваиваем им нумерацию, начиная с 1.</a:t>
                      </a:r>
                    </a:p>
                    <a:p>
                      <a:pPr algn="just"/>
                      <a:r>
                        <a:rPr lang="ru-RU" sz="2800" b="0" dirty="0" smtClean="0">
                          <a:effectLst/>
                        </a:rPr>
                        <a:t>'</a:t>
                      </a:r>
                      <a:r>
                        <a:rPr lang="ru-RU" sz="2800" b="1" dirty="0" smtClean="0">
                          <a:effectLst/>
                        </a:rPr>
                        <a:t>(\w+)\s+\1' </a:t>
                      </a:r>
                      <a:r>
                        <a:rPr lang="ru-RU" sz="2800" b="0" dirty="0" smtClean="0">
                          <a:effectLst/>
                        </a:rPr>
                        <a:t>- поиск повторяющихся слов, разделенных пробельным символом (пример упрощен); </a:t>
                      </a:r>
                    </a:p>
                    <a:p>
                      <a:pPr algn="just"/>
                      <a:r>
                        <a:rPr lang="ru-RU" sz="2800" b="0" dirty="0" smtClean="0">
                          <a:effectLst/>
                        </a:rPr>
                        <a:t>при этом первое слово будет захвачено в отдельную группу под номером 1</a:t>
                      </a:r>
                      <a:endParaRPr lang="ru-RU" sz="2800" b="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1306286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сгруппировать </a:t>
            </a:r>
            <a:r>
              <a:rPr lang="ru-RU" sz="2800" dirty="0"/>
              <a:t>шаблон поиска (группировка) </a:t>
            </a:r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использовать </a:t>
            </a:r>
            <a:r>
              <a:rPr lang="ru-RU" sz="2800" dirty="0"/>
              <a:t>его в дальнейшем (группировка с сохранением или захватом</a:t>
            </a:r>
            <a:r>
              <a:rPr lang="ru-RU" sz="2800" dirty="0" smtClean="0"/>
              <a:t>)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Обращение к захваченной группе возможно:</a:t>
            </a:r>
          </a:p>
          <a:p>
            <a:r>
              <a:rPr lang="ru-RU" sz="2800" dirty="0" smtClean="0"/>
              <a:t>по </a:t>
            </a:r>
            <a:r>
              <a:rPr lang="ru-RU" sz="2800" dirty="0"/>
              <a:t>индексу: </a:t>
            </a:r>
            <a:r>
              <a:rPr lang="ru-RU" sz="2800" b="1" dirty="0"/>
              <a:t>'\i'</a:t>
            </a:r>
            <a:r>
              <a:rPr lang="ru-RU" sz="2800" dirty="0"/>
              <a:t>, где i - это порядковый номер группы;</a:t>
            </a:r>
          </a:p>
          <a:p>
            <a:r>
              <a:rPr lang="ru-RU" sz="2800" dirty="0" smtClean="0"/>
              <a:t>по </a:t>
            </a:r>
            <a:r>
              <a:rPr lang="ru-RU" sz="2800" dirty="0"/>
              <a:t>имени: </a:t>
            </a:r>
            <a:r>
              <a:rPr lang="ru-RU" sz="2800" b="1" dirty="0"/>
              <a:t>'\k&lt;Название&gt;'</a:t>
            </a:r>
            <a:r>
              <a:rPr lang="ru-RU" sz="2800" dirty="0"/>
              <a:t>, если группа была </a:t>
            </a:r>
            <a:r>
              <a:rPr lang="ru-RU" sz="2800" dirty="0" err="1"/>
              <a:t>именованой</a:t>
            </a:r>
            <a:r>
              <a:rPr lang="ru-RU" sz="2800" dirty="0"/>
              <a:t>.</a:t>
            </a:r>
            <a:endParaRPr lang="en-US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711" y="2166320"/>
            <a:ext cx="3284440" cy="14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9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</a:t>
            </a:r>
            <a:r>
              <a:rPr lang="ru-RU" dirty="0"/>
              <a:t>– </a:t>
            </a:r>
            <a:r>
              <a:rPr lang="ru-RU" dirty="0" smtClean="0"/>
              <a:t>группировка </a:t>
            </a:r>
            <a:r>
              <a:rPr lang="ru-RU" dirty="0"/>
              <a:t>'( )' </a:t>
            </a:r>
            <a:r>
              <a:rPr lang="ru-RU" b="1" dirty="0" smtClean="0"/>
              <a:t> 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190169"/>
              </p:ext>
            </p:extLst>
          </p:nvPr>
        </p:nvGraphicFramePr>
        <p:xfrm>
          <a:off x="116114" y="1634032"/>
          <a:ext cx="11939037" cy="4511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18266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7420771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(?&lt;имя&gt;</a:t>
                      </a:r>
                      <a:r>
                        <a:rPr lang="ru-RU" sz="2800" b="1" i="0" dirty="0" err="1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часть_выражения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)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ru-RU" sz="2800" b="1" dirty="0">
                        <a:effectLst/>
                        <a:latin typeface="+mn-lt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Выделяет соответствующую часть выражения в именованную группу. Именованные группы удобно использовать в длинных или сложных регулярных выражениях.</a:t>
                      </a:r>
                    </a:p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'(?&lt;</a:t>
                      </a:r>
                      <a:r>
                        <a:rPr lang="ru-RU" sz="24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&gt;\w+)\s+\k&lt;</a:t>
                      </a:r>
                      <a:r>
                        <a:rPr lang="ru-RU" sz="24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&gt;' 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2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поиск повторяющихся слов, разделенных пробельным символом (паттерн очень упрощен); при этом первое слово будет захвачено в отдельную группу под именем 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ru-RU" sz="2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(?:</a:t>
                      </a:r>
                      <a:r>
                        <a:rPr lang="ru-RU" sz="2800" b="1" i="0" dirty="0" err="1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часть_выражения</a:t>
                      </a:r>
                      <a:r>
                        <a:rPr lang="ru-RU" sz="2800" b="1" i="0" dirty="0" smtClean="0">
                          <a:solidFill>
                            <a:srgbClr val="404040"/>
                          </a:solidFill>
                          <a:effectLst/>
                          <a:latin typeface="+mn-lt"/>
                        </a:rPr>
                        <a:t>)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ru-RU" sz="2800" b="1" dirty="0">
                        <a:effectLst/>
                        <a:latin typeface="+mn-lt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невыделяемую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группу (без захвата).</a:t>
                      </a:r>
                    </a:p>
                    <a:p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'(?:\w+)\s'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выполнит в тексте поиск слов, отделенных пробельным символом; при этом слово НЕ будет захвачено в отдельную группу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852876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94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</a:t>
            </a:r>
            <a:r>
              <a:rPr lang="ru-RU" dirty="0"/>
              <a:t>– </a:t>
            </a:r>
            <a:r>
              <a:rPr lang="ru-RU" dirty="0" smtClean="0"/>
              <a:t>группировка </a:t>
            </a:r>
            <a:r>
              <a:rPr lang="ru-RU" dirty="0"/>
              <a:t>'( )' </a:t>
            </a:r>
            <a:r>
              <a:rPr lang="ru-RU" b="1" dirty="0" smtClean="0"/>
              <a:t> 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7" y="1540280"/>
            <a:ext cx="5816617" cy="2473511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7" y="4247785"/>
            <a:ext cx="5123490" cy="2119490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49" y="4350808"/>
            <a:ext cx="3162043" cy="235949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49" y="1540280"/>
            <a:ext cx="3528255" cy="230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9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– </a:t>
            </a:r>
            <a:r>
              <a:rPr lang="ru-RU" dirty="0"/>
              <a:t>выбор '|'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1440" y="1306286"/>
            <a:ext cx="116977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Операция выбора позволяет захватить одно из нескольких выражений в качестве результата поиска</a:t>
            </a:r>
            <a:endParaRPr lang="en-US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56339"/>
              </p:ext>
            </p:extLst>
          </p:nvPr>
        </p:nvGraphicFramePr>
        <p:xfrm>
          <a:off x="0" y="2438367"/>
          <a:ext cx="12192000" cy="304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8991600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'выражение1| выражение2| выражение3'</a:t>
                      </a:r>
                      <a:endParaRPr lang="ru-RU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Соотв. любому элементу, разделенному вертикальной чертой '|'.</a:t>
                      </a:r>
                    </a:p>
                    <a:p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красн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(?:</a:t>
                      </a:r>
                      <a:r>
                        <a:rPr lang="ru-RU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ый|оватый|енький</a:t>
                      </a:r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)'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найдет в тексте слова 'красный', 'красноватый', 'красненький'; 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этом окончание не будет захвачено в группу </a:t>
                      </a:r>
                    </a:p>
                    <a:p>
                      <a:pPr algn="just"/>
                      <a:endParaRPr lang="ru-RU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</a:tbl>
          </a:graphicData>
        </a:graphic>
      </p:graphicFrame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606" y="2438367"/>
            <a:ext cx="5770911" cy="24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3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7356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– проверка границ поиска текста(привязки)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106482"/>
              </p:ext>
            </p:extLst>
          </p:nvPr>
        </p:nvGraphicFramePr>
        <p:xfrm>
          <a:off x="113608" y="2143525"/>
          <a:ext cx="11827933" cy="4693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2325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11035608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'^'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начале строки или после знака переноса (для каждой строки в многострочном режиме)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7192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'$'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конце строки или до символа '\n' в конце строки (для каждой строки в многострочном режиме)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613428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'\A'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начале строки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3091909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'\Z'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конце строки или до символа '\n' в конце строки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3158479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'\z'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конце строки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36010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>
                          <a:effectLst/>
                        </a:rPr>
                        <a:t>'\G'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в </a:t>
                      </a:r>
                      <a:r>
                        <a:rPr lang="ru-RU" sz="2800" dirty="0">
                          <a:effectLst/>
                        </a:rPr>
                        <a:t>той точке, где заканчивается предыдущее соответствие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07066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 dirty="0">
                          <a:effectLst/>
                        </a:rPr>
                        <a:t>'\b'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dirty="0" smtClean="0">
                          <a:effectLst/>
                        </a:rPr>
                        <a:t>на </a:t>
                      </a:r>
                      <a:r>
                        <a:rPr lang="ru-RU" sz="2800" dirty="0">
                          <a:effectLst/>
                        </a:rPr>
                        <a:t>границе между символом '\w' (алфавитно-цифровым) и символом '\W' (не алфавитно-цифровым)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71320551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60868" y="1667931"/>
            <a:ext cx="61650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Соответствие должно </a:t>
            </a:r>
            <a:r>
              <a:rPr lang="ru-RU" sz="2800" dirty="0" smtClean="0"/>
              <a:t>обнаруживаться:</a:t>
            </a:r>
            <a:endParaRPr lang="en-US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953" y="1667931"/>
            <a:ext cx="5105693" cy="2265440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143" y="4204142"/>
            <a:ext cx="4515503" cy="19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9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7356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 smtClean="0"/>
              <a:t>регулярные выражения – проверка границ поиска текста(привязки)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240441"/>
              </p:ext>
            </p:extLst>
          </p:nvPr>
        </p:nvGraphicFramePr>
        <p:xfrm>
          <a:off x="113608" y="2783813"/>
          <a:ext cx="11827933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6325">
                  <a:extLst>
                    <a:ext uri="{9D8B030D-6E8A-4147-A177-3AD203B41FA5}">
                      <a16:colId xmlns="" xmlns:a16="http://schemas.microsoft.com/office/drawing/2014/main" val="3800547308"/>
                    </a:ext>
                  </a:extLst>
                </a:gridCol>
                <a:gridCol w="10781608">
                  <a:extLst>
                    <a:ext uri="{9D8B030D-6E8A-4147-A177-3AD203B41FA5}">
                      <a16:colId xmlns="" xmlns:a16="http://schemas.microsoft.com/office/drawing/2014/main" val="2429023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800" b="1" dirty="0" smtClean="0">
                          <a:effectLst/>
                        </a:rPr>
                        <a:t>'\B'</a:t>
                      </a:r>
                      <a:endParaRPr lang="en-US" sz="2800" b="1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 границе </a:t>
                      </a:r>
                      <a:r>
                        <a:rPr lang="ru-RU" sz="2800" dirty="0" smtClean="0">
                          <a:effectLst/>
                        </a:rPr>
                        <a:t>'\</a:t>
                      </a:r>
                      <a:r>
                        <a:rPr lang="en-US" sz="2800" dirty="0" smtClean="0">
                          <a:effectLst/>
                        </a:rPr>
                        <a:t>b‘</a:t>
                      </a:r>
                      <a:r>
                        <a:rPr lang="ru-RU" sz="2800" dirty="0" smtClean="0">
                          <a:effectLst/>
                        </a:rPr>
                        <a:t> - на </a:t>
                      </a:r>
                      <a:r>
                        <a:rPr lang="ru-RU" sz="2800" dirty="0">
                          <a:effectLst/>
                        </a:rPr>
                        <a:t>границе между символом '\w' (алфавитно-цифровым) и символом '\W' (не алфавитно-цифровым)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71320551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28601" y="1998130"/>
            <a:ext cx="66171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Соответствие </a:t>
            </a:r>
            <a:r>
              <a:rPr lang="ru-RU" sz="2800" dirty="0" smtClean="0"/>
              <a:t>не должно обнаруживаться: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6798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8601" y="0"/>
            <a:ext cx="11607800" cy="11853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/>
              <a:t>re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8601" y="1718730"/>
            <a:ext cx="1105970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Способы компиляции </a:t>
            </a:r>
            <a:r>
              <a:rPr lang="ru-RU" sz="2800" dirty="0"/>
              <a:t>регулярного выражения - </a:t>
            </a:r>
            <a:r>
              <a:rPr lang="ru-RU" sz="2800" dirty="0" smtClean="0"/>
              <a:t>перевода </a:t>
            </a:r>
            <a:r>
              <a:rPr lang="ru-RU" sz="2800" dirty="0"/>
              <a:t>заданного выражения во внутренний формат </a:t>
            </a:r>
            <a:r>
              <a:rPr lang="ru-RU" sz="2800" dirty="0" smtClean="0"/>
              <a:t>: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Для однократной проверки </a:t>
            </a:r>
            <a:r>
              <a:rPr lang="ru-RU" sz="2800" dirty="0"/>
              <a:t>- функции модуля </a:t>
            </a:r>
            <a:r>
              <a:rPr lang="ru-RU" sz="2800" dirty="0" err="1" smtClean="0"/>
              <a:t>re</a:t>
            </a:r>
            <a:r>
              <a:rPr lang="ru-RU" sz="2800" dirty="0" smtClean="0"/>
              <a:t>  - во </a:t>
            </a:r>
            <a:r>
              <a:rPr lang="ru-RU" sz="2800" dirty="0"/>
              <a:t>время вызова функции, произойдет компиляция регулярного выражения и дальнейший поиск соответствий</a:t>
            </a:r>
            <a:r>
              <a:rPr lang="ru-RU" sz="2800" dirty="0" smtClean="0"/>
              <a:t>.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Для многократной проверки </a:t>
            </a:r>
            <a:r>
              <a:rPr lang="ru-RU" sz="2800" dirty="0"/>
              <a:t>- один раз скомпилировать выражение (получив специальный объект класса </a:t>
            </a:r>
            <a:r>
              <a:rPr lang="ru-RU" sz="2800" dirty="0" err="1"/>
              <a:t>re.regex</a:t>
            </a:r>
            <a:r>
              <a:rPr lang="ru-RU" sz="2800" dirty="0"/>
              <a:t>), а затем использовать его методы.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48731" y="5452893"/>
            <a:ext cx="109728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регулярные выражения обычно записываются в виде «сырых» строк </a:t>
            </a:r>
            <a:endParaRPr lang="ru-RU" sz="2800" dirty="0" smtClean="0"/>
          </a:p>
          <a:p>
            <a:r>
              <a:rPr lang="ru-RU" sz="2800" dirty="0" smtClean="0"/>
              <a:t>(</a:t>
            </a:r>
            <a:r>
              <a:rPr lang="ru-RU" sz="2800" dirty="0"/>
              <a:t>с префиксом r, подавляющих </a:t>
            </a:r>
            <a:r>
              <a:rPr lang="ru-RU" sz="2800" dirty="0" smtClean="0"/>
              <a:t>экранирование):   r</a:t>
            </a:r>
            <a:r>
              <a:rPr lang="ru-RU" sz="2800" dirty="0"/>
              <a:t>"\n" вместо "\\n"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6788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96334" y="-1"/>
            <a:ext cx="11607800" cy="1473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- константы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86544" y="1694934"/>
            <a:ext cx="79549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устанавливаются при вызове функции </a:t>
            </a:r>
            <a:r>
              <a:rPr lang="ru-RU" sz="2800" dirty="0" err="1"/>
              <a:t>re.compile</a:t>
            </a:r>
            <a:r>
              <a:rPr lang="ru-RU" sz="2800" dirty="0" smtClean="0"/>
              <a:t>()</a:t>
            </a:r>
            <a:endParaRPr lang="en-US" sz="2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516117"/>
              </p:ext>
            </p:extLst>
          </p:nvPr>
        </p:nvGraphicFramePr>
        <p:xfrm>
          <a:off x="499533" y="2439888"/>
          <a:ext cx="11192934" cy="365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6867">
                  <a:extLst>
                    <a:ext uri="{9D8B030D-6E8A-4147-A177-3AD203B41FA5}">
                      <a16:colId xmlns="" xmlns:a16="http://schemas.microsoft.com/office/drawing/2014/main" val="3680208947"/>
                    </a:ext>
                  </a:extLst>
                </a:gridCol>
                <a:gridCol w="8746067">
                  <a:extLst>
                    <a:ext uri="{9D8B030D-6E8A-4147-A177-3AD203B41FA5}">
                      <a16:colId xmlns="" xmlns:a16="http://schemas.microsoft.com/office/drawing/2014/main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re.IGNORECASE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 проверки регулярного выражения без учета регистра. Не зависит от текущей локали.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re.MULTILINE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 включения многострочного режима. При этом '^' определяет начало, а '$' - окончание каждой строки (без этого режима, определяется соответствие до первого символа переноса строки).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re.DOTALL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 включает соответствие '.' любому символу, включая перенос строки.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717456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86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- функции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57425"/>
              </p:ext>
            </p:extLst>
          </p:nvPr>
        </p:nvGraphicFramePr>
        <p:xfrm>
          <a:off x="101601" y="1270001"/>
          <a:ext cx="11963400" cy="55118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1866">
                  <a:extLst>
                    <a:ext uri="{9D8B030D-6E8A-4147-A177-3AD203B41FA5}">
                      <a16:colId xmlns="" xmlns:a16="http://schemas.microsoft.com/office/drawing/2014/main" val="3680208947"/>
                    </a:ext>
                  </a:extLst>
                </a:gridCol>
                <a:gridCol w="8881534">
                  <a:extLst>
                    <a:ext uri="{9D8B030D-6E8A-4147-A177-3AD203B41FA5}">
                      <a16:colId xmlns="" xmlns:a16="http://schemas.microsoft.com/office/drawing/2014/main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re.compile</a:t>
                      </a:r>
                      <a:r>
                        <a:rPr lang="en-US" sz="2800" b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(pattern, flags=0)</a:t>
                      </a:r>
                      <a:endParaRPr lang="en-US" sz="2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Компилирует регулярное выражение 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pattern, 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используя флаги 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flags (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например, </a:t>
                      </a:r>
                      <a:r>
                        <a:rPr lang="en-US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re.MULTILINE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 возвращая объект класса </a:t>
                      </a:r>
                      <a:r>
                        <a:rPr lang="en-US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re.regex</a:t>
                      </a:r>
                      <a:r>
                        <a:rPr lang="en-US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regex = </a:t>
                      </a:r>
                      <a:r>
                        <a:rPr lang="en-US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re.compile</a:t>
                      </a:r>
                      <a:r>
                        <a:rPr lang="en-US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("^.+?(\d)")</a:t>
                      </a:r>
                      <a:endParaRPr lang="en-US" sz="2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 err="1" smtClean="0">
                          <a:latin typeface="+mn-lt"/>
                        </a:rPr>
                        <a:t>re.search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8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Сканирует строку </a:t>
                      </a:r>
                      <a:r>
                        <a:rPr lang="ru-RU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первое вхождение регулярного выражения. Возвращает: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объект класса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re.match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если вхождение найдено;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если вхождение не найдено.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результат функции - не </a:t>
                      </a:r>
                      <a:r>
                        <a:rPr lang="ru-RU" sz="26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457200" indent="-4572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достаточно было найти первое вхождение, можно использовать имеющийся объект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re.match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457200" indent="-4572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если необходимо найти все вхождения, следует воспользоваться функциями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re.finditer</a:t>
                      </a:r>
                      <a:r>
                        <a:rPr lang="ru-RU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 </a:t>
                      </a:r>
                      <a:r>
                        <a:rPr lang="ru-RU" sz="2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или </a:t>
                      </a:r>
                      <a:r>
                        <a:rPr lang="ru-RU" sz="26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re.findall</a:t>
                      </a:r>
                      <a:r>
                        <a:rPr lang="ru-RU" sz="2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8472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66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– функции (возвращают)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991945"/>
              </p:ext>
            </p:extLst>
          </p:nvPr>
        </p:nvGraphicFramePr>
        <p:xfrm>
          <a:off x="101601" y="1270001"/>
          <a:ext cx="11963400" cy="554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92399">
                  <a:extLst>
                    <a:ext uri="{9D8B030D-6E8A-4147-A177-3AD203B41FA5}">
                      <a16:colId xmlns="" xmlns:a16="http://schemas.microsoft.com/office/drawing/2014/main" val="3680208947"/>
                    </a:ext>
                  </a:extLst>
                </a:gridCol>
                <a:gridCol w="9271001">
                  <a:extLst>
                    <a:ext uri="{9D8B030D-6E8A-4147-A177-3AD203B41FA5}">
                      <a16:colId xmlns="" xmlns:a16="http://schemas.microsoft.com/office/drawing/2014/main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re.split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maxsplit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список - результат разбиения строки 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по совпадениям шаблона 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Последним элементом всегда идет «остаток» строки, 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maxsplit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количество разбиений (0 - любое).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re.findall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список строк всех неперекрывающихся совпадений, просматривая текст для поиска слева направо. Если в регулярном выражении используется группировка, она возвращается в списке.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re.findall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(r"\d+", "123aaa bb456b ccc789") </a:t>
                      </a:r>
                      <a:r>
                        <a:rPr lang="ru-RU" sz="26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['123', '456', '789']</a:t>
                      </a:r>
                      <a:endParaRPr lang="ru-RU" sz="2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re.finditer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итератор, возвращающий объект класса </a:t>
                      </a:r>
                      <a:r>
                        <a:rPr lang="ru-RU" sz="26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re.match"/>
                        </a:rPr>
                        <a:t>re.match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 каждого непересекающегося совпадения регулярного выражения в строке.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re.finditer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(r"\d+", "123aaa bb456b ccc789")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604043232"/>
                  </a:ext>
                </a:extLst>
              </a:tr>
            </a:tbl>
          </a:graphicData>
        </a:graphic>
      </p:graphicFrame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369" y="5718628"/>
            <a:ext cx="6881099" cy="90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6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– функции </a:t>
            </a:r>
            <a:r>
              <a:rPr lang="ru-RU" dirty="0"/>
              <a:t>(возвращают</a:t>
            </a:r>
            <a:r>
              <a:rPr lang="ru-RU" dirty="0" smtClean="0"/>
              <a:t>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731678"/>
              </p:ext>
            </p:extLst>
          </p:nvPr>
        </p:nvGraphicFramePr>
        <p:xfrm>
          <a:off x="101601" y="1270001"/>
          <a:ext cx="11963400" cy="554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92399">
                  <a:extLst>
                    <a:ext uri="{9D8B030D-6E8A-4147-A177-3AD203B41FA5}">
                      <a16:colId xmlns="" xmlns:a16="http://schemas.microsoft.com/office/drawing/2014/main" val="3680208947"/>
                    </a:ext>
                  </a:extLst>
                </a:gridCol>
                <a:gridCol w="9271001">
                  <a:extLst>
                    <a:ext uri="{9D8B030D-6E8A-4147-A177-3AD203B41FA5}">
                      <a16:colId xmlns="" xmlns:a16="http://schemas.microsoft.com/office/drawing/2014/main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re.sub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flags=0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строку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в которой произведена замена всех неперекрывающихся совпадений с шаблоном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на строку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Если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 функция, она вызывается для каждого совпадения.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re.sub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(r"\D+", "_", "123aaa bb456b ccc789") </a:t>
                      </a:r>
                      <a:r>
                        <a:rPr lang="ru-RU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'123_456_789'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 err="1" smtClean="0"/>
                        <a:t>re.escape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US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строку </a:t>
                      </a:r>
                      <a:r>
                        <a:rPr lang="ru-RU" sz="2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экранируя все символы кроме ASCII, чисел и '_'. Удобно использовать, если в регулярном выражении необходимо отследить часть, которая может являться специальным символом.</a:t>
                      </a:r>
                    </a:p>
                    <a:p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regex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re.escape</a:t>
                      </a:r>
                      <a:r>
                        <a:rPr lang="ru-RU" sz="2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('\d+') </a:t>
                      </a:r>
                      <a:r>
                        <a:rPr lang="ru-RU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'\\d\+'</a:t>
                      </a:r>
                      <a:endParaRPr lang="ru-RU" sz="2600" b="1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Exception</a:t>
                      </a:r>
                      <a:r>
                        <a:rPr lang="ru-RU" sz="26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600" b="1" dirty="0" err="1" smtClean="0"/>
                        <a:t>re.error</a:t>
                      </a:r>
                      <a:endParaRPr lang="en-US" sz="2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Исключение возбуждается, когда строка, переданная в качестве регулярного выражения, содержит ошибки (например, нет парной скобки) или произошла ошибка во время компиляции или поиска вхождений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604043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66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/>
              <a:t>regex («</a:t>
            </a:r>
            <a:r>
              <a:rPr lang="ru-RU" dirty="0"/>
              <a:t>регулярное выражение»)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066317"/>
              </p:ext>
            </p:extLst>
          </p:nvPr>
        </p:nvGraphicFramePr>
        <p:xfrm>
          <a:off x="448732" y="3437468"/>
          <a:ext cx="11548535" cy="22828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5535">
                  <a:extLst>
                    <a:ext uri="{9D8B030D-6E8A-4147-A177-3AD203B41FA5}">
                      <a16:colId xmlns="" xmlns:a16="http://schemas.microsoft.com/office/drawing/2014/main" val="3680208947"/>
                    </a:ext>
                  </a:extLst>
                </a:gridCol>
                <a:gridCol w="10033000">
                  <a:extLst>
                    <a:ext uri="{9D8B030D-6E8A-4147-A177-3AD203B41FA5}">
                      <a16:colId xmlns="" xmlns:a16="http://schemas.microsoft.com/office/drawing/2014/main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flags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Флаги, переданные в функцию re.compile() или записанные непосредственно в регулярном выражении.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groups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Количество захваченных групп в регулярном выражении.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pattern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Регулярное выражение в виде, переданном в функцию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re.compile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604043232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3868" y="1773535"/>
            <a:ext cx="1215813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Объект </a:t>
            </a:r>
            <a:r>
              <a:rPr lang="ru-RU" sz="2800" dirty="0"/>
              <a:t>класса </a:t>
            </a:r>
            <a:r>
              <a:rPr lang="ru-RU" sz="2800" dirty="0" err="1" smtClean="0"/>
              <a:t>re.regex</a:t>
            </a:r>
            <a:r>
              <a:rPr lang="ru-RU" sz="2800" dirty="0" smtClean="0"/>
              <a:t> </a:t>
            </a:r>
            <a:r>
              <a:rPr lang="ru-RU" sz="2800" dirty="0"/>
              <a:t>является скомпилированным регулярным </a:t>
            </a:r>
            <a:r>
              <a:rPr lang="ru-RU" sz="2800" dirty="0" smtClean="0"/>
              <a:t>выражением</a:t>
            </a:r>
            <a:endParaRPr lang="en-US" sz="2800" dirty="0" smtClean="0"/>
          </a:p>
          <a:p>
            <a:r>
              <a:rPr lang="en-US" sz="2800" dirty="0" smtClean="0"/>
              <a:t>(</a:t>
            </a:r>
            <a:r>
              <a:rPr lang="ru-RU" sz="2800" dirty="0" smtClean="0"/>
              <a:t>возвращается функцией </a:t>
            </a:r>
            <a:r>
              <a:rPr lang="en-US" sz="2800" dirty="0" err="1"/>
              <a:t>re.compile</a:t>
            </a:r>
            <a:r>
              <a:rPr lang="en-US" sz="2800" dirty="0"/>
              <a:t>(pattern, flags=0</a:t>
            </a:r>
            <a:r>
              <a:rPr lang="en-US" sz="2800" dirty="0" smtClean="0"/>
              <a:t>))</a:t>
            </a:r>
            <a:endParaRPr lang="ru-RU" sz="2800" dirty="0" smtClean="0"/>
          </a:p>
          <a:p>
            <a:endParaRPr lang="ru-RU" sz="2800" dirty="0"/>
          </a:p>
          <a:p>
            <a:r>
              <a:rPr lang="ru-RU" sz="2800" dirty="0" smtClean="0"/>
              <a:t>Поля: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1226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/>
              <a:t>regex («</a:t>
            </a:r>
            <a:r>
              <a:rPr lang="ru-RU" dirty="0"/>
              <a:t>регулярное выражение»)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76793"/>
              </p:ext>
            </p:extLst>
          </p:nvPr>
        </p:nvGraphicFramePr>
        <p:xfrm>
          <a:off x="135466" y="2514601"/>
          <a:ext cx="11548535" cy="365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34467">
                  <a:extLst>
                    <a:ext uri="{9D8B030D-6E8A-4147-A177-3AD203B41FA5}">
                      <a16:colId xmlns="" xmlns:a16="http://schemas.microsoft.com/office/drawing/2014/main" val="3680208947"/>
                    </a:ext>
                  </a:extLst>
                </a:gridCol>
                <a:gridCol w="6714068">
                  <a:extLst>
                    <a:ext uri="{9D8B030D-6E8A-4147-A177-3AD203B41FA5}">
                      <a16:colId xmlns="" xmlns:a16="http://schemas.microsoft.com/office/drawing/2014/main" val="1030724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search(string[, </a:t>
                      </a:r>
                      <a:r>
                        <a:rPr lang="en-US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[, </a:t>
                      </a:r>
                      <a:r>
                        <a:rPr lang="en-US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endpos</a:t>
                      </a: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]])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search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().Необязательные параметры 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endpos</a:t>
                      </a: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определяют начальную и конечную позицию поиска в строке.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4254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split(string, maxsplit=0)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re.split().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8472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findall(string[, pos[, endpos]])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re.findall().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604043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finditer(string[, pos[, endpos]])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 re.finditer().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69998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sub(</a:t>
                      </a:r>
                      <a:r>
                        <a:rPr lang="en-US" sz="2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repl</a:t>
                      </a:r>
                      <a:r>
                        <a:rPr lang="en-US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string, count=0)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Аналогично</a:t>
                      </a: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re.sub</a:t>
                      </a: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897993343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3868" y="1773535"/>
            <a:ext cx="121581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 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207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 smtClean="0"/>
              <a:t>match («</a:t>
            </a:r>
            <a:r>
              <a:rPr lang="ru-RU" dirty="0" smtClean="0"/>
              <a:t>совпадение»)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1" y="1147805"/>
            <a:ext cx="119718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Объект класса </a:t>
            </a:r>
            <a:r>
              <a:rPr lang="ru-RU" sz="2800" dirty="0" err="1"/>
              <a:t>match</a:t>
            </a:r>
            <a:r>
              <a:rPr lang="ru-RU" sz="2800" dirty="0"/>
              <a:t> содержит соответствия строки регулярному выражению и имеет ряд атрибутов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11668" y="2473977"/>
            <a:ext cx="348826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Объекты данного типа всегда равны </a:t>
            </a:r>
            <a:r>
              <a:rPr lang="ru-RU" sz="2800" dirty="0" err="1"/>
              <a:t>True</a:t>
            </a:r>
            <a:r>
              <a:rPr lang="ru-RU" sz="2800" dirty="0"/>
              <a:t>, поэтому типовая проверка на </a:t>
            </a:r>
            <a:r>
              <a:rPr lang="ru-RU" sz="2800" dirty="0" smtClean="0"/>
              <a:t>вхождение:</a:t>
            </a:r>
            <a:endParaRPr lang="en-US" sz="2800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60" y="1752601"/>
            <a:ext cx="6912367" cy="486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 smtClean="0"/>
              <a:t>match («</a:t>
            </a:r>
            <a:r>
              <a:rPr lang="ru-RU" dirty="0" smtClean="0"/>
              <a:t>совпадение»)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2192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Поля: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907614"/>
              </p:ext>
            </p:extLst>
          </p:nvPr>
        </p:nvGraphicFramePr>
        <p:xfrm>
          <a:off x="821268" y="2260600"/>
          <a:ext cx="11065932" cy="18262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8199">
                  <a:extLst>
                    <a:ext uri="{9D8B030D-6E8A-4147-A177-3AD203B41FA5}">
                      <a16:colId xmlns="" xmlns:a16="http://schemas.microsoft.com/office/drawing/2014/main" val="3044116942"/>
                    </a:ext>
                  </a:extLst>
                </a:gridCol>
                <a:gridCol w="8957733">
                  <a:extLst>
                    <a:ext uri="{9D8B030D-6E8A-4147-A177-3AD203B41FA5}">
                      <a16:colId xmlns="" xmlns:a16="http://schemas.microsoft.com/office/drawing/2014/main" val="301832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</a:t>
                      </a:r>
                      <a:endParaRPr lang="ru-RU" sz="28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endpos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Содержат соответствующие значения, переданные через метод re.regex.search().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57439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Регулярное выражение, с которым был создан объект.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68419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Строка поиска, с которой был создан объект.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38284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9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класс </a:t>
            </a:r>
            <a:r>
              <a:rPr lang="en-US" dirty="0" smtClean="0"/>
              <a:t>match («</a:t>
            </a:r>
            <a:r>
              <a:rPr lang="ru-RU" dirty="0" smtClean="0"/>
              <a:t>совпадение»)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197898"/>
              </p:ext>
            </p:extLst>
          </p:nvPr>
        </p:nvGraphicFramePr>
        <p:xfrm>
          <a:off x="177802" y="1854200"/>
          <a:ext cx="11675532" cy="45656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59198">
                  <a:extLst>
                    <a:ext uri="{9D8B030D-6E8A-4147-A177-3AD203B41FA5}">
                      <a16:colId xmlns="" xmlns:a16="http://schemas.microsoft.com/office/drawing/2014/main" val="3044116942"/>
                    </a:ext>
                  </a:extLst>
                </a:gridCol>
                <a:gridCol w="7916334">
                  <a:extLst>
                    <a:ext uri="{9D8B030D-6E8A-4147-A177-3AD203B41FA5}">
                      <a16:colId xmlns="" xmlns:a16="http://schemas.microsoft.com/office/drawing/2014/main" val="301832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latin typeface="+mn-lt"/>
                        </a:rPr>
                        <a:t>group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group1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одну или несколько подгрупп совпадений (если аргумент один - строку, если несколько - кортеж).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800" b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Параметр может быть числом или строкой (в случае именованной группы).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57439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groups(default=None)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кортеж, содержащий все группы совпадений или </a:t>
                      </a:r>
                      <a:r>
                        <a:rPr lang="ru-RU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default</a:t>
                      </a: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56972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groupdict</a:t>
                      </a: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(default=None)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 словарь, содержащий все именованные группы совпадений или </a:t>
                      </a:r>
                      <a:r>
                        <a:rPr lang="ru-RU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default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614168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6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932255"/>
            <a:ext cx="11682856" cy="985549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6899"/>
            <a:ext cx="11983657" cy="104113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8453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8368903" y="1636550"/>
            <a:ext cx="33125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r</a:t>
            </a:r>
            <a:r>
              <a:rPr lang="ru-RU" sz="2400" dirty="0" err="1" smtClean="0"/>
              <a:t>e.match</a:t>
            </a:r>
            <a:r>
              <a:rPr lang="ru-RU" sz="2400" dirty="0" smtClean="0"/>
              <a:t>(</a:t>
            </a:r>
            <a:r>
              <a:rPr lang="ru-RU" sz="2400" dirty="0" err="1" smtClean="0"/>
              <a:t>pattern</a:t>
            </a:r>
            <a:r>
              <a:rPr lang="ru-RU" sz="2400" dirty="0"/>
              <a:t>, </a:t>
            </a:r>
            <a:r>
              <a:rPr lang="ru-RU" sz="2400" dirty="0" err="1"/>
              <a:t>string</a:t>
            </a:r>
            <a:r>
              <a:rPr lang="ru-RU" sz="2400" dirty="0"/>
              <a:t>)</a:t>
            </a:r>
          </a:p>
          <a:p>
            <a:r>
              <a:rPr lang="ru-RU" sz="2400" dirty="0"/>
              <a:t>Этот метод ищет по заданному шаблону в начале строки.</a:t>
            </a:r>
          </a:p>
        </p:txBody>
      </p:sp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2004670"/>
            <a:ext cx="6610544" cy="416710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9314"/>
            <a:ext cx="712367" cy="367673"/>
          </a:xfrm>
          <a:prstGeom prst="rect">
            <a:avLst/>
          </a:prstGeom>
        </p:spPr>
      </p:pic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7343"/>
            <a:ext cx="11983657" cy="1020753"/>
          </a:xfrm>
          <a:prstGeom prst="rect">
            <a:avLst/>
          </a:prstGeom>
        </p:spPr>
      </p:pic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31" y="5858096"/>
            <a:ext cx="820715" cy="4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7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20" y="1793221"/>
            <a:ext cx="11988780" cy="328408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66297" y="5842061"/>
            <a:ext cx="6344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m.group</a:t>
            </a:r>
            <a:r>
              <a:rPr lang="en-US" dirty="0"/>
              <a:t>(0</a:t>
            </a:r>
            <a:r>
              <a:rPr lang="en-US" dirty="0" smtClean="0"/>
              <a:t>)</a:t>
            </a:r>
            <a:r>
              <a:rPr lang="ru-RU" dirty="0" smtClean="0"/>
              <a:t>, </a:t>
            </a:r>
            <a:r>
              <a:rPr lang="en-US" dirty="0" err="1" smtClean="0"/>
              <a:t>m.groups</a:t>
            </a:r>
            <a:r>
              <a:rPr lang="en-US" dirty="0"/>
              <a:t>(), </a:t>
            </a:r>
            <a:r>
              <a:rPr lang="en-US" dirty="0" err="1" smtClean="0"/>
              <a:t>m.group</a:t>
            </a:r>
            <a:r>
              <a:rPr lang="en-US" dirty="0" smtClean="0"/>
              <a:t>(1, 2) </a:t>
            </a:r>
            <a:r>
              <a:rPr lang="ru-RU" dirty="0" smtClean="0"/>
              <a:t>– все группы совпадений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90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9" y="2379098"/>
            <a:ext cx="12150937" cy="1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73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1270001"/>
            <a:ext cx="1650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Методы:</a:t>
            </a:r>
            <a:endParaRPr lang="ru-RU" sz="2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352303"/>
              </p:ext>
            </p:extLst>
          </p:nvPr>
        </p:nvGraphicFramePr>
        <p:xfrm>
          <a:off x="177802" y="1854200"/>
          <a:ext cx="11675532" cy="18262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8465">
                  <a:extLst>
                    <a:ext uri="{9D8B030D-6E8A-4147-A177-3AD203B41FA5}">
                      <a16:colId xmlns="" xmlns:a16="http://schemas.microsoft.com/office/drawing/2014/main" val="3044116942"/>
                    </a:ext>
                  </a:extLst>
                </a:gridCol>
                <a:gridCol w="7857067">
                  <a:extLst>
                    <a:ext uri="{9D8B030D-6E8A-4147-A177-3AD203B41FA5}">
                      <a16:colId xmlns="" xmlns:a16="http://schemas.microsoft.com/office/drawing/2014/main" val="301832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start([group])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end([group])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Возвращают начальную и конечную позиции вхождения группы </a:t>
                      </a:r>
                      <a:r>
                        <a:rPr lang="ru-RU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r>
                        <a:rPr lang="ru-RU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или -1, если группа существует, но ей не найдено соответствие.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57439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span([group])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Возвращает</a:t>
                      </a: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кортеж</a:t>
                      </a:r>
                      <a:r>
                        <a:rPr lang="en-US" sz="2800" b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(start([group]), end([group])).</a:t>
                      </a:r>
                      <a:endParaRPr lang="en-US" sz="2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5697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79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6" y="2131393"/>
            <a:ext cx="12027904" cy="1043128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3456306"/>
            <a:ext cx="823502" cy="4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9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1667" y="5595816"/>
            <a:ext cx="111579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search</a:t>
            </a:r>
            <a:r>
              <a:rPr lang="ru-RU" dirty="0"/>
              <a:t>() ищет по всей строке, но возвращает только первое найденное совпадение</a:t>
            </a:r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52" y="1777041"/>
            <a:ext cx="12032948" cy="94890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11668" y="3232987"/>
            <a:ext cx="1224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Python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31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2116"/>
            <a:ext cx="12068454" cy="782073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3201040"/>
            <a:ext cx="3835095" cy="45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5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10" y="1145481"/>
            <a:ext cx="11986846" cy="1097387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10" y="2415482"/>
            <a:ext cx="10649141" cy="47279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10" y="3634124"/>
            <a:ext cx="11874340" cy="592819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10" y="4739098"/>
            <a:ext cx="8233265" cy="3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3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" y="1270001"/>
            <a:ext cx="11998688" cy="972867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3106485"/>
            <a:ext cx="6982763" cy="34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8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23468" y="56449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можем собрать регулярное выражение в отдельный объект, который может быть использован для поиска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828492"/>
            <a:ext cx="11840030" cy="2570979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5212797"/>
            <a:ext cx="3399113" cy="7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5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1668" y="769669"/>
            <a:ext cx="109336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 smtClean="0"/>
              <a:t>result</a:t>
            </a:r>
            <a:r>
              <a:rPr lang="ru-RU" sz="2800" dirty="0" smtClean="0"/>
              <a:t> = </a:t>
            </a:r>
            <a:r>
              <a:rPr lang="ru-RU" sz="2800" dirty="0" err="1" smtClean="0"/>
              <a:t>re.</a:t>
            </a:r>
            <a:r>
              <a:rPr lang="ru-RU" sz="2800" dirty="0" err="1" smtClean="0">
                <a:solidFill>
                  <a:srgbClr val="92D050"/>
                </a:solidFill>
              </a:rPr>
              <a:t>findall</a:t>
            </a:r>
            <a:r>
              <a:rPr lang="ru-RU" sz="2800" dirty="0" smtClean="0">
                <a:solidFill>
                  <a:srgbClr val="92D050"/>
                </a:solidFill>
              </a:rPr>
              <a:t>(</a:t>
            </a:r>
            <a:r>
              <a:rPr lang="ru-RU" sz="2800" b="1" dirty="0" smtClean="0">
                <a:solidFill>
                  <a:srgbClr val="92D050"/>
                </a:solidFill>
              </a:rPr>
              <a:t>r'.', </a:t>
            </a:r>
            <a:r>
              <a:rPr lang="ru-RU" sz="2800" dirty="0" smtClean="0">
                <a:solidFill>
                  <a:srgbClr val="92D050"/>
                </a:solidFill>
              </a:rPr>
              <a:t>'AV </a:t>
            </a:r>
            <a:r>
              <a:rPr lang="ru-RU" sz="2800" dirty="0" err="1" smtClean="0">
                <a:solidFill>
                  <a:srgbClr val="92D050"/>
                </a:solidFill>
              </a:rPr>
              <a:t>is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largest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Analytics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community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of</a:t>
            </a:r>
            <a:r>
              <a:rPr lang="ru-RU" sz="2800" dirty="0" smtClean="0">
                <a:solidFill>
                  <a:srgbClr val="92D050"/>
                </a:solidFill>
              </a:rPr>
              <a:t> </a:t>
            </a:r>
            <a:r>
              <a:rPr lang="ru-RU" sz="2800" dirty="0" err="1" smtClean="0">
                <a:solidFill>
                  <a:srgbClr val="92D050"/>
                </a:solidFill>
              </a:rPr>
              <a:t>India</a:t>
            </a:r>
            <a:r>
              <a:rPr lang="ru-RU" sz="2800" dirty="0" smtClean="0">
                <a:solidFill>
                  <a:srgbClr val="92D050"/>
                </a:solidFill>
              </a:rPr>
              <a:t>')</a:t>
            </a:r>
          </a:p>
          <a:p>
            <a:r>
              <a:rPr lang="en-US" sz="2800" dirty="0"/>
              <a:t>print(result)</a:t>
            </a:r>
            <a:endParaRPr lang="ru-RU" sz="2800" dirty="0" smtClean="0"/>
          </a:p>
          <a:p>
            <a:endParaRPr lang="en-US" sz="2800" dirty="0" smtClean="0"/>
          </a:p>
          <a:p>
            <a:r>
              <a:rPr lang="ru-RU" sz="2800" dirty="0" smtClean="0"/>
              <a:t>Результат:</a:t>
            </a:r>
          </a:p>
          <a:p>
            <a:r>
              <a:rPr lang="ru-RU" sz="2800" dirty="0" smtClean="0">
                <a:solidFill>
                  <a:srgbClr val="92D050"/>
                </a:solidFill>
              </a:rPr>
              <a:t>['A', 'V', ' ', 'i', 's', ' ', 'l', 'a', 'r', 'g', 'e', 's', 't', ' ', 'A', 'n', 'a', 'l', 'y', 't', 'i', 'c', 's', ' ', 'c', 'o', 'm', 'm', 'u', 'n', 'i', 't', 'y', ' ', 'o', 'f', ' ', 'I', 'n', 'd', 'i', 'a']</a:t>
            </a:r>
            <a:endParaRPr lang="ru-RU" sz="2800" dirty="0">
              <a:solidFill>
                <a:srgbClr val="92D05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1668" y="3769942"/>
            <a:ext cx="1112689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re.</a:t>
            </a:r>
            <a:r>
              <a:rPr lang="en-US" sz="2800" dirty="0" err="1">
                <a:solidFill>
                  <a:srgbClr val="92D050"/>
                </a:solidFill>
              </a:rPr>
              <a:t>findall</a:t>
            </a:r>
            <a:r>
              <a:rPr lang="en-US" sz="2800" dirty="0">
                <a:solidFill>
                  <a:srgbClr val="92D050"/>
                </a:solidFill>
              </a:rPr>
              <a:t>(</a:t>
            </a:r>
            <a:r>
              <a:rPr lang="en-US" sz="2800" b="1" dirty="0">
                <a:solidFill>
                  <a:srgbClr val="92D050"/>
                </a:solidFill>
              </a:rPr>
              <a:t>r'\w', </a:t>
            </a:r>
            <a:r>
              <a:rPr lang="en-US" sz="2800" dirty="0">
                <a:solidFill>
                  <a:srgbClr val="92D050"/>
                </a:solidFill>
              </a:rPr>
              <a:t>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800" dirty="0"/>
              <a:t>Результат:</a:t>
            </a:r>
          </a:p>
          <a:p>
            <a:r>
              <a:rPr lang="ru-RU" sz="2800" dirty="0">
                <a:solidFill>
                  <a:srgbClr val="92D050"/>
                </a:solidFill>
              </a:rPr>
              <a:t>['</a:t>
            </a:r>
            <a:r>
              <a:rPr lang="en-US" sz="2800" dirty="0">
                <a:solidFill>
                  <a:srgbClr val="92D050"/>
                </a:solidFill>
              </a:rPr>
              <a:t>A', 'V',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's', 'l', 'a', 'r', 'g', 'e', 's', 't', 'A', 'n', 'a', 'l', 'y', 't',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'c', 's', 'c', 'o', 'm', 'm', 'u', 'n',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't', 'y', 'o', 'f', 'I', 'n', 'd', '</a:t>
            </a:r>
            <a:r>
              <a:rPr lang="en-US" sz="2800" dirty="0" err="1">
                <a:solidFill>
                  <a:srgbClr val="92D050"/>
                </a:solidFill>
              </a:rPr>
              <a:t>i</a:t>
            </a:r>
            <a:r>
              <a:rPr lang="en-US" sz="2800" dirty="0">
                <a:solidFill>
                  <a:srgbClr val="92D050"/>
                </a:solidFill>
              </a:rPr>
              <a:t>', 'a']</a:t>
            </a:r>
            <a:endParaRPr lang="ru-RU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68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1668" y="1270001"/>
            <a:ext cx="118308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result</a:t>
            </a:r>
            <a:r>
              <a:rPr lang="ru-RU" sz="2800" dirty="0"/>
              <a:t> = </a:t>
            </a:r>
            <a:r>
              <a:rPr lang="ru-RU" sz="2800" dirty="0" err="1"/>
              <a:t>re.</a:t>
            </a:r>
            <a:r>
              <a:rPr lang="ru-RU" sz="2800" dirty="0" err="1">
                <a:solidFill>
                  <a:srgbClr val="92D050"/>
                </a:solidFill>
              </a:rPr>
              <a:t>findall</a:t>
            </a:r>
            <a:r>
              <a:rPr lang="ru-RU" sz="2800" dirty="0">
                <a:solidFill>
                  <a:srgbClr val="92D050"/>
                </a:solidFill>
              </a:rPr>
              <a:t>(r'\w*', 'AV </a:t>
            </a:r>
            <a:r>
              <a:rPr lang="ru-RU" sz="2800" dirty="0" err="1">
                <a:solidFill>
                  <a:srgbClr val="92D050"/>
                </a:solidFill>
              </a:rPr>
              <a:t>is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largest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Analytics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community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of</a:t>
            </a:r>
            <a:r>
              <a:rPr lang="ru-RU" sz="2800" dirty="0">
                <a:solidFill>
                  <a:srgbClr val="92D050"/>
                </a:solidFill>
              </a:rPr>
              <a:t> </a:t>
            </a:r>
            <a:r>
              <a:rPr lang="ru-RU" sz="2800" dirty="0" err="1">
                <a:solidFill>
                  <a:srgbClr val="92D050"/>
                </a:solidFill>
              </a:rPr>
              <a:t>India</a:t>
            </a:r>
            <a:r>
              <a:rPr lang="ru-RU" sz="2800" dirty="0">
                <a:solidFill>
                  <a:srgbClr val="92D050"/>
                </a:solidFill>
              </a:rPr>
              <a:t>')</a:t>
            </a:r>
          </a:p>
          <a:p>
            <a:r>
              <a:rPr lang="en-US" sz="2800" dirty="0"/>
              <a:t>print(result</a:t>
            </a:r>
            <a:r>
              <a:rPr lang="en-US" sz="2800" dirty="0" smtClean="0"/>
              <a:t>)</a:t>
            </a:r>
          </a:p>
          <a:p>
            <a:endParaRPr lang="ru-RU" sz="2800" dirty="0"/>
          </a:p>
          <a:p>
            <a:r>
              <a:rPr lang="ru-RU" sz="2800" dirty="0"/>
              <a:t>Результат</a:t>
            </a:r>
            <a:r>
              <a:rPr lang="ru-RU" sz="2800" dirty="0" smtClean="0"/>
              <a:t>: все слова, включая пробелы</a:t>
            </a:r>
            <a:endParaRPr lang="ru-RU" sz="2800" dirty="0"/>
          </a:p>
          <a:p>
            <a:r>
              <a:rPr lang="ru-RU" sz="2800" dirty="0">
                <a:solidFill>
                  <a:srgbClr val="92D050"/>
                </a:solidFill>
              </a:rPr>
              <a:t>['AV',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is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largest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Analytics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community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of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', 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ru-RU" sz="2800" dirty="0" err="1">
                <a:solidFill>
                  <a:srgbClr val="92D050"/>
                </a:solidFill>
              </a:rPr>
              <a:t>India</a:t>
            </a:r>
            <a:r>
              <a:rPr lang="ru-RU" sz="2800" dirty="0">
                <a:solidFill>
                  <a:srgbClr val="92D050"/>
                </a:solidFill>
              </a:rPr>
              <a:t>', </a:t>
            </a:r>
            <a:r>
              <a:rPr lang="ru-RU" sz="2800" dirty="0" smtClean="0">
                <a:solidFill>
                  <a:srgbClr val="92D050"/>
                </a:solidFill>
              </a:rPr>
              <a:t>' ']</a:t>
            </a:r>
            <a:endParaRPr lang="ru-RU" sz="2800" dirty="0">
              <a:solidFill>
                <a:srgbClr val="92D05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1668" y="3996825"/>
            <a:ext cx="109299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re.</a:t>
            </a:r>
            <a:r>
              <a:rPr lang="en-US" sz="2800" dirty="0" err="1">
                <a:solidFill>
                  <a:srgbClr val="92D050"/>
                </a:solidFill>
              </a:rPr>
              <a:t>findall</a:t>
            </a:r>
            <a:r>
              <a:rPr lang="en-US" sz="2800" dirty="0">
                <a:solidFill>
                  <a:srgbClr val="92D050"/>
                </a:solidFill>
              </a:rPr>
              <a:t>(r'\w+', 'AV is largest Analytics community of India')</a:t>
            </a:r>
          </a:p>
          <a:p>
            <a:r>
              <a:rPr lang="en-US" sz="2800" dirty="0"/>
              <a:t>print(result</a:t>
            </a:r>
            <a:r>
              <a:rPr lang="en-US" sz="2800" dirty="0" smtClean="0"/>
              <a:t>)</a:t>
            </a:r>
          </a:p>
          <a:p>
            <a:endParaRPr lang="en-US" sz="2800" dirty="0" smtClean="0"/>
          </a:p>
          <a:p>
            <a:r>
              <a:rPr lang="ru-RU" sz="2800" dirty="0" smtClean="0"/>
              <a:t>Результат</a:t>
            </a:r>
            <a:r>
              <a:rPr lang="ru-RU" sz="2800" dirty="0"/>
              <a:t>: все слова, </a:t>
            </a:r>
            <a:r>
              <a:rPr lang="ru-RU" sz="2800" dirty="0" smtClean="0"/>
              <a:t>не включая </a:t>
            </a:r>
            <a:r>
              <a:rPr lang="ru-RU" sz="2800" dirty="0"/>
              <a:t>пробелы</a:t>
            </a:r>
          </a:p>
          <a:p>
            <a:r>
              <a:rPr lang="ru-RU" sz="2800" dirty="0" smtClean="0">
                <a:solidFill>
                  <a:srgbClr val="92D050"/>
                </a:solidFill>
              </a:rPr>
              <a:t>[</a:t>
            </a:r>
            <a:r>
              <a:rPr lang="ru-RU" sz="2800" dirty="0">
                <a:solidFill>
                  <a:srgbClr val="92D050"/>
                </a:solidFill>
              </a:rPr>
              <a:t>'</a:t>
            </a:r>
            <a:r>
              <a:rPr lang="en-US" sz="2800" dirty="0">
                <a:solidFill>
                  <a:srgbClr val="92D050"/>
                </a:solidFill>
              </a:rPr>
              <a:t>AV', 'is', 'largest', 'Analytics', 'community', 'of', 'India']</a:t>
            </a:r>
            <a:endParaRPr lang="ru-RU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43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925" y="1707508"/>
            <a:ext cx="117445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(r'^\w+', 'AV is largest Analytics community of India')</a:t>
            </a:r>
          </a:p>
          <a:p>
            <a:r>
              <a:rPr lang="en-US" sz="2800" dirty="0" smtClean="0"/>
              <a:t>print(result)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Результат</a:t>
            </a:r>
            <a:r>
              <a:rPr lang="en-US" sz="2800" dirty="0" smtClean="0"/>
              <a:t>:</a:t>
            </a:r>
            <a:r>
              <a:rPr lang="ru-RU" sz="2800" dirty="0"/>
              <a:t> первое слово из строки</a:t>
            </a:r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['AV']</a:t>
            </a:r>
            <a:endParaRPr lang="ru-RU" sz="2800" dirty="0">
              <a:solidFill>
                <a:schemeClr val="accent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4167498"/>
            <a:ext cx="121758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(r'\w+$', 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en-US" sz="2800" dirty="0" err="1"/>
              <a:t>Результат</a:t>
            </a:r>
            <a:r>
              <a:rPr lang="en-US" sz="2800" dirty="0" smtClean="0"/>
              <a:t>:</a:t>
            </a:r>
            <a:r>
              <a:rPr lang="ru-RU" sz="2800" dirty="0"/>
              <a:t> последнее слово из строки</a:t>
            </a:r>
            <a:endParaRPr lang="en-US" sz="2800" dirty="0"/>
          </a:p>
          <a:p>
            <a:r>
              <a:rPr lang="en-US" sz="2800" dirty="0">
                <a:solidFill>
                  <a:schemeClr val="accent2"/>
                </a:solidFill>
              </a:rPr>
              <a:t>[‘India’]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91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925" y="1742013"/>
            <a:ext cx="1210091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(r'\w\w', 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600" dirty="0"/>
              <a:t>Результат</a:t>
            </a:r>
            <a:r>
              <a:rPr lang="ru-RU" sz="2600" dirty="0" smtClean="0"/>
              <a:t>: </a:t>
            </a:r>
            <a:r>
              <a:rPr lang="ru-RU" sz="2600" dirty="0"/>
              <a:t>два последовательных символа, кроме </a:t>
            </a:r>
            <a:r>
              <a:rPr lang="ru-RU" sz="2600" dirty="0" smtClean="0"/>
              <a:t>пробельных</a:t>
            </a:r>
            <a:r>
              <a:rPr lang="en-US" sz="2600" dirty="0" smtClean="0"/>
              <a:t> </a:t>
            </a:r>
            <a:endParaRPr lang="ru-RU" sz="2600" dirty="0"/>
          </a:p>
          <a:p>
            <a:r>
              <a:rPr lang="ru-RU" sz="2800" dirty="0">
                <a:solidFill>
                  <a:schemeClr val="accent2"/>
                </a:solidFill>
              </a:rPr>
              <a:t>['</a:t>
            </a:r>
            <a:r>
              <a:rPr lang="en-US" sz="2800" dirty="0">
                <a:solidFill>
                  <a:schemeClr val="accent2"/>
                </a:solidFill>
              </a:rPr>
              <a:t>AV', 'is', 'la', '</a:t>
            </a:r>
            <a:r>
              <a:rPr lang="en-US" sz="2800" dirty="0" err="1">
                <a:solidFill>
                  <a:schemeClr val="accent2"/>
                </a:solidFill>
              </a:rPr>
              <a:t>rg</a:t>
            </a:r>
            <a:r>
              <a:rPr lang="en-US" sz="2800" dirty="0">
                <a:solidFill>
                  <a:schemeClr val="accent2"/>
                </a:solidFill>
              </a:rPr>
              <a:t>', '</a:t>
            </a:r>
            <a:r>
              <a:rPr lang="en-US" sz="2800" dirty="0" err="1">
                <a:solidFill>
                  <a:schemeClr val="accent2"/>
                </a:solidFill>
              </a:rPr>
              <a:t>es</a:t>
            </a:r>
            <a:r>
              <a:rPr lang="en-US" sz="2800" dirty="0">
                <a:solidFill>
                  <a:schemeClr val="accent2"/>
                </a:solidFill>
              </a:rPr>
              <a:t>', 'An', 'al', '</a:t>
            </a:r>
            <a:r>
              <a:rPr lang="en-US" sz="2800" dirty="0" err="1">
                <a:solidFill>
                  <a:schemeClr val="accent2"/>
                </a:solidFill>
              </a:rPr>
              <a:t>yt</a:t>
            </a:r>
            <a:r>
              <a:rPr lang="en-US" sz="2800" dirty="0">
                <a:solidFill>
                  <a:schemeClr val="accent2"/>
                </a:solidFill>
              </a:rPr>
              <a:t>', '</a:t>
            </a:r>
            <a:r>
              <a:rPr lang="en-US" sz="2800" dirty="0" err="1">
                <a:solidFill>
                  <a:schemeClr val="accent2"/>
                </a:solidFill>
              </a:rPr>
              <a:t>ic</a:t>
            </a:r>
            <a:r>
              <a:rPr lang="en-US" sz="2800" dirty="0">
                <a:solidFill>
                  <a:schemeClr val="accent2"/>
                </a:solidFill>
              </a:rPr>
              <a:t>', 'co', 'mm', 'un', 'it', 'of', 'In', 'di']</a:t>
            </a:r>
            <a:endParaRPr lang="ru-RU" sz="2800" dirty="0">
              <a:solidFill>
                <a:schemeClr val="accent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4167498"/>
            <a:ext cx="1217583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(r'\b\w.', 'AV is largest Analytics community of India')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en-US" sz="2600" dirty="0" err="1"/>
              <a:t>Результат</a:t>
            </a:r>
            <a:r>
              <a:rPr lang="en-US" sz="2600" dirty="0" smtClean="0"/>
              <a:t>:</a:t>
            </a:r>
            <a:r>
              <a:rPr lang="ru-RU" sz="2600" dirty="0"/>
              <a:t> два последовательных символа, используя символ границы слова (\b) </a:t>
            </a:r>
            <a:endParaRPr lang="ru-RU" sz="2600" dirty="0" smtClean="0"/>
          </a:p>
          <a:p>
            <a:r>
              <a:rPr lang="en-US" sz="2800" dirty="0">
                <a:solidFill>
                  <a:schemeClr val="accent2"/>
                </a:solidFill>
              </a:rPr>
              <a:t>['AV', 'is', 'la', 'An', 'co', 'of', 'In']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33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6204" y="689618"/>
            <a:ext cx="4984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F1111"/>
                </a:solidFill>
                <a:latin typeface="Inter"/>
              </a:rPr>
              <a:t>Вернуть домены из списка </a:t>
            </a:r>
            <a:r>
              <a:rPr lang="ru-RU" b="1" dirty="0" err="1">
                <a:solidFill>
                  <a:srgbClr val="0F1111"/>
                </a:solidFill>
                <a:latin typeface="Inter"/>
              </a:rPr>
              <a:t>email</a:t>
            </a:r>
            <a:r>
              <a:rPr lang="ru-RU" b="1" dirty="0">
                <a:solidFill>
                  <a:srgbClr val="0F1111"/>
                </a:solidFill>
                <a:latin typeface="Inter"/>
              </a:rPr>
              <a:t>-адресов</a:t>
            </a:r>
            <a:endParaRPr lang="ru-RU" b="1" i="0" dirty="0">
              <a:solidFill>
                <a:srgbClr val="0F1111"/>
              </a:solidFill>
              <a:effectLst/>
              <a:latin typeface="Inter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940" y="1270001"/>
            <a:ext cx="1198033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(r'@\w+', 'abc.test@gmail.com, xyz@test.in, test.first@analyticsvidhya.com, first.test@rest.biz')</a:t>
            </a:r>
          </a:p>
          <a:p>
            <a:r>
              <a:rPr lang="en-US" sz="2800" dirty="0"/>
              <a:t>print(result)</a:t>
            </a:r>
          </a:p>
          <a:p>
            <a:r>
              <a:rPr lang="en-US" sz="2800" dirty="0" err="1" smtClean="0"/>
              <a:t>Результат</a:t>
            </a:r>
            <a:r>
              <a:rPr lang="en-US" sz="2800" dirty="0"/>
              <a:t>:</a:t>
            </a:r>
          </a:p>
          <a:p>
            <a:r>
              <a:rPr lang="en-US" sz="2800" dirty="0">
                <a:solidFill>
                  <a:schemeClr val="accent2"/>
                </a:solidFill>
              </a:rPr>
              <a:t>['@</a:t>
            </a:r>
            <a:r>
              <a:rPr lang="en-US" sz="2800" dirty="0" err="1">
                <a:solidFill>
                  <a:schemeClr val="accent2"/>
                </a:solidFill>
              </a:rPr>
              <a:t>gmail</a:t>
            </a:r>
            <a:r>
              <a:rPr lang="en-US" sz="2800" dirty="0">
                <a:solidFill>
                  <a:schemeClr val="accent2"/>
                </a:solidFill>
              </a:rPr>
              <a:t>', '@test', '@</a:t>
            </a:r>
            <a:r>
              <a:rPr lang="en-US" sz="2800" dirty="0" err="1">
                <a:solidFill>
                  <a:schemeClr val="accent2"/>
                </a:solidFill>
              </a:rPr>
              <a:t>analyticsvidhya</a:t>
            </a:r>
            <a:r>
              <a:rPr lang="en-US" sz="2800" dirty="0">
                <a:solidFill>
                  <a:schemeClr val="accent2"/>
                </a:solidFill>
              </a:rPr>
              <a:t>', '@rest']</a:t>
            </a:r>
            <a:endParaRPr lang="ru-RU" sz="2800" dirty="0">
              <a:solidFill>
                <a:schemeClr val="accent2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204" y="3727821"/>
            <a:ext cx="121457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(r'@\w+.\w+', 'abc.test@gmail.com, xyz@test.in, test.first@analyticsvidhya.com, first.test@rest.biz')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en-US" sz="2800" dirty="0" err="1"/>
              <a:t>Результат</a:t>
            </a:r>
            <a:r>
              <a:rPr lang="en-US" sz="2800" dirty="0"/>
              <a:t>:</a:t>
            </a:r>
          </a:p>
          <a:p>
            <a:r>
              <a:rPr lang="en-US" sz="2800" dirty="0">
                <a:solidFill>
                  <a:schemeClr val="accent2"/>
                </a:solidFill>
              </a:rPr>
              <a:t>['@gmail.com', '@test.in', '@analyticsvidhya.com', '@rest.biz']</a:t>
            </a:r>
            <a:endParaRPr lang="ru-RU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9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1668" y="900669"/>
            <a:ext cx="4984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F1111"/>
                </a:solidFill>
                <a:latin typeface="Inter"/>
              </a:rPr>
              <a:t>Вернуть домены из списка </a:t>
            </a:r>
            <a:r>
              <a:rPr lang="ru-RU" b="1" dirty="0" err="1">
                <a:solidFill>
                  <a:srgbClr val="0F1111"/>
                </a:solidFill>
                <a:latin typeface="Inter"/>
              </a:rPr>
              <a:t>email</a:t>
            </a:r>
            <a:r>
              <a:rPr lang="ru-RU" b="1" dirty="0">
                <a:solidFill>
                  <a:srgbClr val="0F1111"/>
                </a:solidFill>
                <a:latin typeface="Inter"/>
              </a:rPr>
              <a:t>-адресов</a:t>
            </a:r>
            <a:endParaRPr lang="ru-RU" b="1" i="0" dirty="0">
              <a:solidFill>
                <a:srgbClr val="0F1111"/>
              </a:solidFill>
              <a:effectLst/>
              <a:latin typeface="Inter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551837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(r'@\w+.(\w+)', 'abc.test@gmail.com, xyz@test.in, test.first@analyticsvidhya.com, first.test@rest.biz')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800" dirty="0"/>
              <a:t>Результат:</a:t>
            </a:r>
          </a:p>
          <a:p>
            <a:r>
              <a:rPr lang="ru-RU" sz="2800" dirty="0">
                <a:solidFill>
                  <a:srgbClr val="00B0F0"/>
                </a:solidFill>
              </a:rPr>
              <a:t>['</a:t>
            </a:r>
            <a:r>
              <a:rPr lang="en-US" sz="2800" dirty="0">
                <a:solidFill>
                  <a:srgbClr val="00B0F0"/>
                </a:solidFill>
              </a:rPr>
              <a:t>com', 'in', 'com', 'biz']</a:t>
            </a:r>
            <a:endParaRPr lang="ru-RU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29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0"/>
            <a:ext cx="11607800" cy="1270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1668" y="635000"/>
            <a:ext cx="2903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F1111"/>
                </a:solidFill>
                <a:latin typeface="Inter"/>
              </a:rPr>
              <a:t>Извлечь дату из строки</a:t>
            </a:r>
            <a:endParaRPr lang="ru-RU" b="1" i="0" dirty="0">
              <a:solidFill>
                <a:srgbClr val="0F1111"/>
              </a:solidFill>
              <a:effectLst/>
              <a:latin typeface="Inter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7665" y="1281441"/>
            <a:ext cx="1173180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(r'\d{2}-\d{2}-\d{4}', 'Amit 34-3456 12-05-2007, XYZ 56-4532 11-11-2011, ABC 67-8945 12-01-2009')</a:t>
            </a:r>
          </a:p>
          <a:p>
            <a:r>
              <a:rPr lang="en-US" sz="2800" dirty="0"/>
              <a:t>print(result)</a:t>
            </a:r>
          </a:p>
          <a:p>
            <a:r>
              <a:rPr lang="ru-RU" sz="2800" dirty="0" smtClean="0"/>
              <a:t>Результат</a:t>
            </a:r>
            <a:r>
              <a:rPr lang="ru-RU" sz="2800" dirty="0"/>
              <a:t>:</a:t>
            </a:r>
          </a:p>
          <a:p>
            <a:r>
              <a:rPr lang="ru-RU" sz="2800" dirty="0">
                <a:solidFill>
                  <a:srgbClr val="00B0F0"/>
                </a:solidFill>
              </a:rPr>
              <a:t>['12-05-2007', '11-11-2011', '12-01-2009']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7665" y="3728751"/>
            <a:ext cx="124639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result = </a:t>
            </a:r>
            <a:r>
              <a:rPr lang="en-US" sz="2800" dirty="0" err="1"/>
              <a:t>re</a:t>
            </a:r>
            <a:r>
              <a:rPr lang="en-US" sz="2800" dirty="0" err="1">
                <a:solidFill>
                  <a:srgbClr val="92D050"/>
                </a:solidFill>
              </a:rPr>
              <a:t>.findall</a:t>
            </a:r>
            <a:r>
              <a:rPr lang="en-US" sz="2800" dirty="0">
                <a:solidFill>
                  <a:srgbClr val="92D050"/>
                </a:solidFill>
              </a:rPr>
              <a:t>(r'\d{2}-\d{2}-(\d{4})', 'Amit 34-3456 12-05-2007, XYZ 56-4532 11-11-2011, ABC 67-8945 12-01-2009')</a:t>
            </a:r>
          </a:p>
          <a:p>
            <a:r>
              <a:rPr lang="en-US" sz="2800" dirty="0"/>
              <a:t>print(result)</a:t>
            </a:r>
          </a:p>
          <a:p>
            <a:endParaRPr lang="en-US" sz="2800" dirty="0"/>
          </a:p>
          <a:p>
            <a:r>
              <a:rPr lang="ru-RU" sz="2800" dirty="0"/>
              <a:t>Результат:</a:t>
            </a:r>
          </a:p>
          <a:p>
            <a:r>
              <a:rPr lang="ru-RU" sz="2800" dirty="0">
                <a:solidFill>
                  <a:srgbClr val="00B0F0"/>
                </a:solidFill>
              </a:rPr>
              <a:t>['2007', '2011', '2009']</a:t>
            </a:r>
          </a:p>
        </p:txBody>
      </p:sp>
    </p:spTree>
    <p:extLst>
      <p:ext uri="{BB962C8B-B14F-4D97-AF65-F5344CB8AC3E}">
        <p14:creationId xmlns:p14="http://schemas.microsoft.com/office/powerpoint/2010/main" val="51124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7" y="1052750"/>
            <a:ext cx="11946470" cy="396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4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625"/>
          <a:stretch/>
        </p:blipFill>
        <p:spPr>
          <a:xfrm>
            <a:off x="33814" y="992269"/>
            <a:ext cx="12158186" cy="3160009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52"/>
          <a:stretch/>
        </p:blipFill>
        <p:spPr>
          <a:xfrm>
            <a:off x="111119" y="4157731"/>
            <a:ext cx="11808897" cy="215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8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84" r="25982"/>
          <a:stretch/>
        </p:blipFill>
        <p:spPr>
          <a:xfrm>
            <a:off x="451972" y="1304143"/>
            <a:ext cx="8999327" cy="2329166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91" r="35720"/>
          <a:stretch/>
        </p:blipFill>
        <p:spPr>
          <a:xfrm>
            <a:off x="346579" y="4227226"/>
            <a:ext cx="7590712" cy="20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3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36" y="1341470"/>
            <a:ext cx="11301573" cy="401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3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1260854"/>
            <a:ext cx="11137675" cy="2244346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6" y="4069882"/>
            <a:ext cx="11895672" cy="189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7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39" y="4393520"/>
            <a:ext cx="11798734" cy="1871813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6" y="1204968"/>
            <a:ext cx="11365840" cy="292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1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939801"/>
            <a:ext cx="11758355" cy="3081500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68" y="4266837"/>
            <a:ext cx="11856601" cy="18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3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97639" y="1104983"/>
            <a:ext cx="4434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Извлечь слова, начинающиеся на гласную</a:t>
            </a: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879627"/>
            <a:ext cx="11780786" cy="846320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3026469"/>
            <a:ext cx="6028695" cy="40684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11668" y="3734313"/>
            <a:ext cx="4654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Извлечь слова, начинающиеся на </a:t>
            </a:r>
            <a:r>
              <a:rPr lang="ru-RU" b="1" dirty="0" smtClean="0"/>
              <a:t>согласную</a:t>
            </a:r>
            <a:endParaRPr lang="ru-RU" b="1" dirty="0"/>
          </a:p>
        </p:txBody>
      </p:sp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6487"/>
            <a:ext cx="11950001" cy="836834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5083416"/>
            <a:ext cx="4256815" cy="41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2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44382" y="2002130"/>
            <a:ext cx="8273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Проверить формат телефонного </a:t>
            </a:r>
            <a:r>
              <a:rPr lang="ru-RU" dirty="0" smtClean="0"/>
              <a:t>номера</a:t>
            </a:r>
            <a:r>
              <a:rPr lang="en-US" dirty="0" smtClean="0"/>
              <a:t>: </a:t>
            </a:r>
            <a:r>
              <a:rPr lang="ru-RU" dirty="0"/>
              <a:t>длиной 10 знаков и начинаться с 8 или 9</a:t>
            </a:r>
          </a:p>
        </p:txBody>
      </p:sp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2688182"/>
            <a:ext cx="10932866" cy="96941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44382" y="3750511"/>
            <a:ext cx="4616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Разбить строку по нескольким разделителям</a:t>
            </a:r>
          </a:p>
        </p:txBody>
      </p:sp>
      <p:pic>
        <p:nvPicPr>
          <p:cNvPr id="14" name="Рисунок 1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4212755"/>
            <a:ext cx="5098235" cy="583532"/>
          </a:xfrm>
          <a:prstGeom prst="rect">
            <a:avLst/>
          </a:prstGeom>
        </p:spPr>
      </p:pic>
      <p:pic>
        <p:nvPicPr>
          <p:cNvPr id="15" name="Рисунок 14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5179968"/>
            <a:ext cx="5715030" cy="56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5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модуль </a:t>
            </a:r>
            <a:r>
              <a:rPr lang="en-US" dirty="0" smtClean="0"/>
              <a:t>re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42823" y="1845901"/>
            <a:ext cx="11099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извлечь информацию из </a:t>
            </a:r>
            <a:r>
              <a:rPr lang="ru-RU" sz="2400" dirty="0" err="1"/>
              <a:t>html</a:t>
            </a:r>
            <a:r>
              <a:rPr lang="ru-RU" sz="2400" dirty="0"/>
              <a:t>-файла, заключенную между &lt;</a:t>
            </a:r>
            <a:r>
              <a:rPr lang="ru-RU" sz="2400" dirty="0" err="1"/>
              <a:t>td</a:t>
            </a:r>
            <a:r>
              <a:rPr lang="ru-RU" sz="2400" dirty="0"/>
              <a:t>&gt; и &lt;/</a:t>
            </a:r>
            <a:r>
              <a:rPr lang="ru-RU" sz="2400" dirty="0" err="1"/>
              <a:t>td</a:t>
            </a:r>
            <a:r>
              <a:rPr lang="ru-RU" sz="2400" dirty="0"/>
              <a:t>&gt;, кроме первого столбца с номером. Также будем считать, что </a:t>
            </a:r>
            <a:r>
              <a:rPr lang="ru-RU" sz="2400" dirty="0" err="1"/>
              <a:t>html</a:t>
            </a:r>
            <a:r>
              <a:rPr lang="ru-RU" sz="2400" dirty="0"/>
              <a:t>-код содержится в строке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23" y="3421050"/>
            <a:ext cx="11080412" cy="47809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865662" y="5510455"/>
            <a:ext cx="6793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4"/>
              </a:rPr>
              <a:t>https://habr.com/ru/companies/rosbank/articles/765538</a:t>
            </a:r>
            <a:r>
              <a:rPr lang="ru-RU" dirty="0" smtClean="0">
                <a:hlinkClick r:id="rId4"/>
              </a:rPr>
              <a:t>/</a:t>
            </a:r>
            <a:r>
              <a:rPr lang="ru-RU" dirty="0" smtClean="0"/>
              <a:t>  - примеры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713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08971" y="949700"/>
            <a:ext cx="971556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</a:t>
            </a:r>
            <a:r>
              <a:rPr lang="en-US" sz="2800" dirty="0" smtClean="0"/>
              <a:t>np</a:t>
            </a:r>
          </a:p>
          <a:p>
            <a:endParaRPr lang="en-US" sz="2800" dirty="0"/>
          </a:p>
          <a:p>
            <a:r>
              <a:rPr lang="en-US" sz="2800" dirty="0" smtClean="0"/>
              <a:t>#</a:t>
            </a:r>
            <a:r>
              <a:rPr lang="ru-RU" sz="2800" dirty="0" smtClean="0"/>
              <a:t>Создание </a:t>
            </a:r>
            <a:r>
              <a:rPr lang="ru-RU" sz="2800" dirty="0"/>
              <a:t>массива из списка</a:t>
            </a:r>
            <a:r>
              <a:rPr lang="ru-RU" sz="2800" dirty="0" smtClean="0"/>
              <a:t>: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a </a:t>
            </a:r>
            <a:r>
              <a:rPr lang="en-US" sz="2800" dirty="0"/>
              <a:t>= </a:t>
            </a:r>
            <a:r>
              <a:rPr lang="en-US" sz="2800" dirty="0" err="1"/>
              <a:t>np.array</a:t>
            </a:r>
            <a:r>
              <a:rPr lang="en-US" sz="2800" dirty="0"/>
              <a:t>([1, 4, 5, 8], float)</a:t>
            </a:r>
          </a:p>
          <a:p>
            <a:r>
              <a:rPr lang="en-US" sz="2800" dirty="0"/>
              <a:t>&gt;&gt;&gt; a</a:t>
            </a:r>
          </a:p>
          <a:p>
            <a:r>
              <a:rPr lang="en-US" sz="2800" dirty="0"/>
              <a:t>array([ 1.,  4.,  5.,  8.])</a:t>
            </a:r>
          </a:p>
          <a:p>
            <a:r>
              <a:rPr lang="en-US" sz="2800" dirty="0"/>
              <a:t>&gt;&gt;&gt; type(a)</a:t>
            </a:r>
          </a:p>
          <a:p>
            <a:r>
              <a:rPr lang="en-US" sz="2800" dirty="0"/>
              <a:t>&lt;class '</a:t>
            </a:r>
            <a:r>
              <a:rPr lang="en-US" sz="2800" dirty="0" err="1"/>
              <a:t>numpy.ndarray</a:t>
            </a:r>
            <a:r>
              <a:rPr lang="en-US" sz="2800" dirty="0" smtClean="0"/>
              <a:t>'&gt;</a:t>
            </a:r>
          </a:p>
          <a:p>
            <a:r>
              <a:rPr lang="en-US" sz="2800" dirty="0"/>
              <a:t>&gt;&gt;&gt; </a:t>
            </a:r>
            <a:r>
              <a:rPr lang="en-US" sz="2800" dirty="0" err="1"/>
              <a:t>a.ndim</a:t>
            </a:r>
            <a:r>
              <a:rPr lang="en-US" sz="2800" dirty="0"/>
              <a:t> </a:t>
            </a:r>
            <a:r>
              <a:rPr lang="en-US" sz="2800" dirty="0" smtClean="0"/>
              <a:t>     #1 - </a:t>
            </a:r>
            <a:r>
              <a:rPr lang="ru-RU" sz="2800" dirty="0" smtClean="0"/>
              <a:t>ос</a:t>
            </a:r>
            <a:r>
              <a:rPr lang="ru-RU" sz="2800" dirty="0"/>
              <a:t>и</a:t>
            </a:r>
            <a:endParaRPr lang="en-US" sz="2800" dirty="0" smtClean="0"/>
          </a:p>
          <a:p>
            <a:r>
              <a:rPr lang="en-US" sz="2800" dirty="0" smtClean="0"/>
              <a:t>&gt;&gt;&gt; </a:t>
            </a:r>
            <a:r>
              <a:rPr lang="en-US" sz="2800" dirty="0" err="1"/>
              <a:t>a.size</a:t>
            </a:r>
            <a:r>
              <a:rPr lang="en-US" sz="2800" dirty="0"/>
              <a:t> </a:t>
            </a:r>
            <a:r>
              <a:rPr lang="en-US" sz="2800" dirty="0" smtClean="0"/>
              <a:t>       #4  - </a:t>
            </a:r>
            <a:r>
              <a:rPr lang="ru-RU" sz="2800" dirty="0" smtClean="0"/>
              <a:t>длин</a:t>
            </a:r>
            <a:r>
              <a:rPr lang="en-US" sz="2800" dirty="0" smtClean="0"/>
              <a:t>a</a:t>
            </a:r>
            <a:r>
              <a:rPr lang="ru-RU" sz="2800" dirty="0" smtClean="0"/>
              <a:t> </a:t>
            </a:r>
            <a:r>
              <a:rPr lang="ru-RU" sz="2800" dirty="0"/>
              <a:t>массива</a:t>
            </a:r>
            <a:endParaRPr lang="en-US" sz="2800" dirty="0" smtClean="0"/>
          </a:p>
          <a:p>
            <a:r>
              <a:rPr lang="en-US" sz="2800" dirty="0" smtClean="0"/>
              <a:t>&gt;&gt;&gt; </a:t>
            </a:r>
            <a:r>
              <a:rPr lang="en-US" sz="2800" dirty="0" err="1"/>
              <a:t>a.shape</a:t>
            </a:r>
            <a:r>
              <a:rPr lang="en-US" sz="2800" dirty="0"/>
              <a:t> </a:t>
            </a:r>
            <a:r>
              <a:rPr lang="en-US" sz="2800" dirty="0" smtClean="0"/>
              <a:t>   #(4,) - </a:t>
            </a:r>
            <a:r>
              <a:rPr lang="ru-RU" sz="2400" dirty="0" smtClean="0"/>
              <a:t>форм</a:t>
            </a:r>
            <a:r>
              <a:rPr lang="en-US" sz="2400" dirty="0" smtClean="0"/>
              <a:t>a </a:t>
            </a:r>
            <a:r>
              <a:rPr lang="ru-RU" sz="2400" dirty="0" smtClean="0"/>
              <a:t>массива</a:t>
            </a:r>
            <a:r>
              <a:rPr lang="en-US" sz="2400" dirty="0" smtClean="0"/>
              <a:t>, </a:t>
            </a:r>
            <a:r>
              <a:rPr lang="ru-RU" sz="2400" dirty="0"/>
              <a:t>количество строк и столбцов</a:t>
            </a:r>
          </a:p>
          <a:p>
            <a:endParaRPr lang="en-US" sz="2000" dirty="0" smtClean="0"/>
          </a:p>
          <a:p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255567" y="339636"/>
            <a:ext cx="43334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Массивы схожи со списками в </a:t>
            </a:r>
            <a:r>
              <a:rPr lang="ru-RU" dirty="0" err="1">
                <a:solidFill>
                  <a:srgbClr val="333333"/>
                </a:solidFill>
                <a:latin typeface="-apple-system"/>
              </a:rPr>
              <a:t>python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, </a:t>
            </a:r>
            <a:r>
              <a:rPr lang="ru-RU" dirty="0" smtClean="0">
                <a:solidFill>
                  <a:srgbClr val="333333"/>
                </a:solidFill>
                <a:latin typeface="-apple-system"/>
              </a:rPr>
              <a:t>но элементы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массива должны иметь одинаковый тип данных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553674" y="1602601"/>
            <a:ext cx="373724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&gt;&gt;&gt; a[:2]</a:t>
            </a:r>
          </a:p>
          <a:p>
            <a:r>
              <a:rPr lang="en-US" sz="2800" dirty="0"/>
              <a:t>array([ 1.,  4.])</a:t>
            </a:r>
          </a:p>
          <a:p>
            <a:r>
              <a:rPr lang="en-US" sz="2800" dirty="0"/>
              <a:t>&gt;&gt;&gt; a[3]</a:t>
            </a:r>
          </a:p>
          <a:p>
            <a:r>
              <a:rPr lang="en-US" sz="2800" dirty="0"/>
              <a:t>8.0</a:t>
            </a:r>
          </a:p>
          <a:p>
            <a:r>
              <a:rPr lang="en-US" sz="2800" dirty="0"/>
              <a:t>&gt;&gt;&gt; a[0] = 5.</a:t>
            </a:r>
          </a:p>
          <a:p>
            <a:r>
              <a:rPr lang="en-US" sz="2800" dirty="0"/>
              <a:t>&gt;&gt;&gt; a</a:t>
            </a:r>
          </a:p>
          <a:p>
            <a:r>
              <a:rPr lang="en-US" sz="2800" dirty="0"/>
              <a:t>array([ 5.,  4.,  5.,  8.])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9764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22107" y="910104"/>
            <a:ext cx="4333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-apple-system"/>
              </a:rPr>
              <a:t>Массив с комплексными числами</a:t>
            </a:r>
            <a:endParaRPr lang="ru-RU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7" y="1279436"/>
            <a:ext cx="9091725" cy="195795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22107" y="3577027"/>
            <a:ext cx="43334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-apple-system"/>
              </a:rPr>
              <a:t>Массив со случайными значениями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7" y="3946359"/>
            <a:ext cx="8251607" cy="238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6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089660"/>
            <a:ext cx="7700282" cy="283810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509733" y="193056"/>
            <a:ext cx="45476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многомерны</a:t>
            </a:r>
            <a:r>
              <a:rPr lang="ru-RU" sz="2000" dirty="0"/>
              <a:t>е</a:t>
            </a:r>
            <a:r>
              <a:rPr lang="ru-RU" sz="2000" dirty="0" smtClean="0"/>
              <a:t> </a:t>
            </a:r>
            <a:r>
              <a:rPr lang="ru-RU" sz="2000" dirty="0" smtClean="0"/>
              <a:t>массивы можно создать на основе списков, кортежей, последовательности кортежей</a:t>
            </a:r>
            <a:endParaRPr lang="ru-RU" sz="2000" dirty="0"/>
          </a:p>
        </p:txBody>
      </p:sp>
      <p:pic>
        <p:nvPicPr>
          <p:cNvPr id="11" name="Рисунок 10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4077621"/>
            <a:ext cx="2947168" cy="214339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174580" y="3965611"/>
            <a:ext cx="4754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#</a:t>
            </a:r>
            <a:r>
              <a:rPr lang="ru-RU" sz="2800" dirty="0" smtClean="0"/>
              <a:t>количество строк и столбцов</a:t>
            </a:r>
            <a:endParaRPr lang="ru-RU" sz="28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174580" y="4626099"/>
            <a:ext cx="28964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#</a:t>
            </a:r>
            <a:r>
              <a:rPr lang="ru-RU" sz="2800" dirty="0" smtClean="0"/>
              <a:t>тип переменных</a:t>
            </a:r>
            <a:endParaRPr lang="ru-RU" sz="28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174580" y="5535968"/>
            <a:ext cx="43820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#</a:t>
            </a:r>
            <a:r>
              <a:rPr lang="ru-RU" sz="2800" dirty="0" smtClean="0"/>
              <a:t>длина первого измерения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635" y="2161519"/>
            <a:ext cx="2276720" cy="2327312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3988374" y="3161857"/>
            <a:ext cx="58810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#</a:t>
            </a:r>
            <a:r>
              <a:rPr lang="ru-RU" sz="2400" dirty="0" smtClean="0"/>
              <a:t>обратиться к элементу 2-мерного массива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9450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433074" y="349827"/>
            <a:ext cx="43863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Переформировать массивы</a:t>
            </a:r>
            <a:endParaRPr lang="ru-RU" sz="2800" dirty="0"/>
          </a:p>
        </p:txBody>
      </p:sp>
      <p:pic>
        <p:nvPicPr>
          <p:cNvPr id="15" name="Рисунок 14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30" y="1073102"/>
            <a:ext cx="9493441" cy="5786071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5609032" y="2516200"/>
            <a:ext cx="6574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#</a:t>
            </a:r>
            <a:r>
              <a:rPr lang="ru-RU" sz="2000" dirty="0" smtClean="0"/>
              <a:t>создает </a:t>
            </a:r>
            <a:r>
              <a:rPr lang="ru-RU" sz="2000" dirty="0"/>
              <a:t>новый </a:t>
            </a:r>
            <a:r>
              <a:rPr lang="en-US" sz="2000" dirty="0" smtClean="0"/>
              <a:t>2-</a:t>
            </a:r>
            <a:r>
              <a:rPr lang="ru-RU" sz="2000" dirty="0" smtClean="0"/>
              <a:t>мерный массив на основе одномерного</a:t>
            </a:r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781092" y="1071159"/>
            <a:ext cx="28786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#</a:t>
            </a:r>
            <a:r>
              <a:rPr lang="ru-RU" sz="2000" dirty="0" smtClean="0"/>
              <a:t>массив на основе </a:t>
            </a:r>
            <a:r>
              <a:rPr lang="en-US" sz="2000" dirty="0" smtClean="0"/>
              <a:t>range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5852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24507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Копия массива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838037"/>
            <a:ext cx="5781304" cy="4853707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676" y="1838037"/>
            <a:ext cx="5210278" cy="215207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942676" y="1127309"/>
            <a:ext cx="3028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Список из массива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6265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91091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/>
              <a:t>переконвертировать</a:t>
            </a:r>
            <a:r>
              <a:rPr lang="ru-RU" sz="2800" dirty="0"/>
              <a:t> массив в бинарную </a:t>
            </a:r>
            <a:r>
              <a:rPr lang="ru-RU" sz="2800" dirty="0" smtClean="0"/>
              <a:t>строку и обратно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1838036"/>
            <a:ext cx="7914023" cy="365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8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7119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Заполнение массива одинаковым значением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983510"/>
            <a:ext cx="6686660" cy="36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9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46117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Транспонирование массивов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838036"/>
            <a:ext cx="8267996" cy="38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3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56909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/>
              <a:t>переконвертировать</a:t>
            </a:r>
            <a:r>
              <a:rPr lang="ru-RU" sz="2800" dirty="0"/>
              <a:t> в одномерный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838037"/>
            <a:ext cx="8865920" cy="333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5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11668" y="1127309"/>
            <a:ext cx="60958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Два или больше </a:t>
            </a:r>
            <a:r>
              <a:rPr lang="ru-RU" sz="2800" dirty="0" smtClean="0"/>
              <a:t>массивов объединить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650529"/>
            <a:ext cx="10008196" cy="331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7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282247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Два или больше </a:t>
            </a:r>
            <a:r>
              <a:rPr lang="ru-RU" sz="2800" dirty="0" smtClean="0"/>
              <a:t>массивов объединить, указав ось объединения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727" y="1"/>
            <a:ext cx="6165273" cy="682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Функция </a:t>
            </a:r>
            <a:r>
              <a:rPr lang="ru-RU" sz="2800" dirty="0" err="1"/>
              <a:t>arange</a:t>
            </a:r>
            <a:r>
              <a:rPr lang="ru-RU" sz="2800" dirty="0"/>
              <a:t> аналогична функции </a:t>
            </a:r>
            <a:r>
              <a:rPr lang="ru-RU" sz="2800" dirty="0" err="1"/>
              <a:t>range</a:t>
            </a:r>
            <a:r>
              <a:rPr lang="ru-RU" sz="2800" dirty="0"/>
              <a:t>, но возвращает массив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1912871"/>
            <a:ext cx="6883957" cy="234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1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Функции </a:t>
            </a:r>
            <a:r>
              <a:rPr lang="ru-RU" sz="2800" dirty="0" err="1"/>
              <a:t>zeros</a:t>
            </a:r>
            <a:r>
              <a:rPr lang="ru-RU" sz="2800" dirty="0"/>
              <a:t> и </a:t>
            </a:r>
            <a:r>
              <a:rPr lang="ru-RU" sz="2800" dirty="0" err="1"/>
              <a:t>ones</a:t>
            </a:r>
            <a:r>
              <a:rPr lang="ru-RU" sz="2800" dirty="0"/>
              <a:t> создают новые массивы с установленной размерностью, заполненные этими значениями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04" y="2343758"/>
            <a:ext cx="6100748" cy="2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8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Функции </a:t>
            </a:r>
            <a:r>
              <a:rPr lang="ru-RU" sz="2800" dirty="0" err="1"/>
              <a:t>zeros_like</a:t>
            </a:r>
            <a:r>
              <a:rPr lang="ru-RU" sz="2800" dirty="0"/>
              <a:t> и </a:t>
            </a:r>
            <a:r>
              <a:rPr lang="ru-RU" sz="2800" dirty="0" err="1"/>
              <a:t>ones_like</a:t>
            </a:r>
            <a:r>
              <a:rPr lang="ru-RU" sz="2800" dirty="0"/>
              <a:t> могут преобразовать уже созданный массив, заполнив его нулями и единицами соответственно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04" y="2343758"/>
            <a:ext cx="8264624" cy="347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0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164726"/>
            <a:ext cx="105533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Создание квадратной </a:t>
            </a:r>
            <a:r>
              <a:rPr lang="ru-RU" sz="2800" dirty="0"/>
              <a:t>матрицы с </a:t>
            </a:r>
            <a:r>
              <a:rPr lang="ru-RU" sz="2800" dirty="0" smtClean="0"/>
              <a:t>главной и к-й </a:t>
            </a:r>
            <a:r>
              <a:rPr lang="ru-RU" sz="2800" dirty="0"/>
              <a:t>диагональю, которая </a:t>
            </a:r>
            <a:r>
              <a:rPr lang="ru-RU" sz="2800" dirty="0" smtClean="0"/>
              <a:t>заполнена </a:t>
            </a:r>
            <a:r>
              <a:rPr lang="ru-RU" sz="2800" dirty="0"/>
              <a:t>единицами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8832"/>
            <a:ext cx="5653196" cy="2577859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45" y="2118832"/>
            <a:ext cx="5898738" cy="273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1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Математические операции над </a:t>
            </a:r>
            <a:r>
              <a:rPr lang="ru-RU" sz="2800" dirty="0" smtClean="0"/>
              <a:t>массивами – </a:t>
            </a:r>
            <a:r>
              <a:rPr lang="ru-RU" sz="2800" dirty="0"/>
              <a:t>прибавление и умножение на скаляр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17" y="2089376"/>
            <a:ext cx="3916789" cy="351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8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Математические операции над </a:t>
            </a:r>
            <a:r>
              <a:rPr lang="ru-RU" sz="2800" dirty="0" smtClean="0"/>
              <a:t>массивами – массивы одинакового размера (поэлементные действия)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2871"/>
            <a:ext cx="6338614" cy="447431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318" y="1514588"/>
            <a:ext cx="5020684" cy="395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2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Математические операции над </a:t>
            </a:r>
            <a:r>
              <a:rPr lang="ru-RU" sz="2000" dirty="0" smtClean="0"/>
              <a:t>массивами – массивы одинакового размера (поэлементные действия</a:t>
            </a:r>
            <a:r>
              <a:rPr lang="ru-RU" sz="2000" dirty="0" smtClean="0"/>
              <a:t>) </a:t>
            </a:r>
            <a:r>
              <a:rPr lang="ru-RU" sz="2000" dirty="0"/>
              <a:t>- можно перемножить массив на синус или квадратный корень элементов массива b</a:t>
            </a:r>
            <a:endParaRPr lang="ru-RU" sz="20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39" y="1968409"/>
            <a:ext cx="8724662" cy="30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3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8704" y="1037535"/>
            <a:ext cx="117932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Математические операции над </a:t>
            </a:r>
            <a:r>
              <a:rPr lang="ru-RU" sz="2800" dirty="0" smtClean="0"/>
              <a:t>массивами – массивы </a:t>
            </a:r>
            <a:r>
              <a:rPr lang="ru-RU" sz="2800" dirty="0" smtClean="0"/>
              <a:t>должны быть </a:t>
            </a:r>
            <a:r>
              <a:rPr lang="ru-RU" sz="2800" dirty="0" smtClean="0"/>
              <a:t>одинакового </a:t>
            </a:r>
            <a:r>
              <a:rPr lang="ru-RU" sz="2800" dirty="0" smtClean="0"/>
              <a:t>размера (поэлементные действия)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04" y="2089376"/>
            <a:ext cx="6253416" cy="1886276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4073386"/>
            <a:ext cx="10515643" cy="250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9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037535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abs, sign, </a:t>
            </a:r>
            <a:r>
              <a:rPr lang="en-US" sz="2800" dirty="0" err="1"/>
              <a:t>sqrt</a:t>
            </a:r>
            <a:r>
              <a:rPr lang="en-US" sz="2800" dirty="0"/>
              <a:t>, log, log10, </a:t>
            </a:r>
            <a:r>
              <a:rPr lang="en-US" sz="2800" dirty="0" err="1"/>
              <a:t>exp</a:t>
            </a:r>
            <a:r>
              <a:rPr lang="en-US" sz="2800" dirty="0"/>
              <a:t>, sin, cos, tan, </a:t>
            </a:r>
            <a:r>
              <a:rPr lang="en-US" sz="2800" dirty="0" err="1"/>
              <a:t>arcsin</a:t>
            </a:r>
            <a:r>
              <a:rPr lang="en-US" sz="2800" dirty="0"/>
              <a:t>, </a:t>
            </a:r>
            <a:r>
              <a:rPr lang="en-US" sz="2800" dirty="0" err="1"/>
              <a:t>arccos</a:t>
            </a:r>
            <a:r>
              <a:rPr lang="en-US" sz="2800" dirty="0"/>
              <a:t>, </a:t>
            </a:r>
            <a:r>
              <a:rPr lang="en-US" sz="2800" dirty="0" err="1"/>
              <a:t>arctan</a:t>
            </a:r>
            <a:r>
              <a:rPr lang="en-US" sz="2800" dirty="0"/>
              <a:t>, </a:t>
            </a:r>
            <a:r>
              <a:rPr lang="en-US" sz="2800" dirty="0" err="1"/>
              <a:t>sinh</a:t>
            </a:r>
            <a:r>
              <a:rPr lang="en-US" sz="2800" dirty="0"/>
              <a:t>, </a:t>
            </a:r>
            <a:r>
              <a:rPr lang="en-US" sz="2800" dirty="0" err="1"/>
              <a:t>cosh</a:t>
            </a:r>
            <a:r>
              <a:rPr lang="en-US" sz="2800" dirty="0"/>
              <a:t>, </a:t>
            </a:r>
            <a:r>
              <a:rPr lang="en-US" sz="2800" dirty="0" err="1"/>
              <a:t>tanh</a:t>
            </a:r>
            <a:r>
              <a:rPr lang="en-US" sz="2800" dirty="0"/>
              <a:t>, </a:t>
            </a:r>
            <a:r>
              <a:rPr lang="en-US" sz="2800" dirty="0" err="1"/>
              <a:t>arcsinh</a:t>
            </a:r>
            <a:r>
              <a:rPr lang="en-US" sz="2800" dirty="0"/>
              <a:t>, </a:t>
            </a:r>
            <a:r>
              <a:rPr lang="en-US" sz="2800" dirty="0" err="1"/>
              <a:t>arccosh</a:t>
            </a:r>
            <a:r>
              <a:rPr lang="en-US" sz="2800" dirty="0"/>
              <a:t>, </a:t>
            </a:r>
            <a:r>
              <a:rPr lang="ru-RU" sz="2800" dirty="0" smtClean="0"/>
              <a:t> </a:t>
            </a:r>
            <a:r>
              <a:rPr lang="en-US" sz="2800" dirty="0" err="1" smtClean="0"/>
              <a:t>arctanh</a:t>
            </a:r>
            <a:r>
              <a:rPr lang="ru-RU" sz="2800" dirty="0" smtClean="0"/>
              <a:t>, </a:t>
            </a:r>
            <a:r>
              <a:rPr lang="en-US" sz="2800" dirty="0"/>
              <a:t>floor, ceil </a:t>
            </a:r>
            <a:r>
              <a:rPr lang="ru-RU" sz="2800" dirty="0"/>
              <a:t>и </a:t>
            </a:r>
            <a:r>
              <a:rPr lang="en-US" sz="2800" dirty="0" err="1"/>
              <a:t>rint</a:t>
            </a:r>
            <a:r>
              <a:rPr lang="ru-RU" sz="2800" dirty="0" smtClean="0"/>
              <a:t> используются поэлементно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9376"/>
            <a:ext cx="6579704" cy="1644926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6688"/>
            <a:ext cx="6102626" cy="3051312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307" y="2016990"/>
            <a:ext cx="2719076" cy="171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4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61" y="1404591"/>
            <a:ext cx="4470961" cy="242036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211668" y="939801"/>
            <a:ext cx="17300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Итерация 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626" y="1201411"/>
            <a:ext cx="7316374" cy="26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3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11668" y="939801"/>
            <a:ext cx="5474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Базовые операции над массивами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1463020"/>
            <a:ext cx="5124843" cy="2132235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568" y="1934939"/>
            <a:ext cx="2062289" cy="166031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095411" y="2267527"/>
            <a:ext cx="7553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или</a:t>
            </a:r>
            <a:endParaRPr lang="ru-RU" sz="2800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632" y="3477561"/>
            <a:ext cx="5063836" cy="327659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6" y="3793906"/>
            <a:ext cx="5420491" cy="22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0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11668" y="939801"/>
            <a:ext cx="101654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индекс минимального или максимального </a:t>
            </a:r>
            <a:r>
              <a:rPr lang="ru-RU" sz="2800" dirty="0" smtClean="0"/>
              <a:t>элемента, сортировка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463021"/>
            <a:ext cx="5796298" cy="2443961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759" y="3616036"/>
            <a:ext cx="6148452" cy="276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9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11668" y="939801"/>
            <a:ext cx="10904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Уникальные элементы, диагональ, сократить до заданного диапазона</a:t>
            </a:r>
            <a:endParaRPr lang="ru-RU" sz="2800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1565232"/>
            <a:ext cx="7353465" cy="1336994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3004437"/>
            <a:ext cx="7192965" cy="1510748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84" y="4584025"/>
            <a:ext cx="7325975" cy="147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7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сравнение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317641"/>
            <a:ext cx="5942511" cy="3485510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5155515"/>
            <a:ext cx="5374123" cy="1237574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75" y="455872"/>
            <a:ext cx="5075593" cy="101511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827" y="1567086"/>
            <a:ext cx="5632174" cy="1761047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847" y="3355337"/>
            <a:ext cx="5746107" cy="337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Функция </a:t>
            </a:r>
            <a:r>
              <a:rPr lang="ru-RU" sz="2800" dirty="0" err="1"/>
              <a:t>where</a:t>
            </a:r>
            <a:r>
              <a:rPr lang="ru-RU" sz="2800" dirty="0"/>
              <a:t> создает новый </a:t>
            </a:r>
            <a:r>
              <a:rPr lang="ru-RU" sz="2800" dirty="0" smtClean="0"/>
              <a:t>массив , </a:t>
            </a:r>
            <a:r>
              <a:rPr lang="ru-RU" sz="2800" dirty="0"/>
              <a:t>используя булев фильтр</a:t>
            </a: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421"/>
            <a:ext cx="8012474" cy="1709031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3658858"/>
            <a:ext cx="4880339" cy="137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1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nonzero</a:t>
            </a:r>
            <a:r>
              <a:rPr lang="ru-RU" sz="2800" dirty="0"/>
              <a:t> возвращает кортеж индексов ненулевых значений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5562"/>
            <a:ext cx="7307836" cy="155629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3049782"/>
            <a:ext cx="5705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проверить значения на конечность и </a:t>
            </a:r>
            <a:r>
              <a:rPr lang="ru-RU" dirty="0" err="1"/>
              <a:t>NaN</a:t>
            </a:r>
            <a:r>
              <a:rPr lang="ru-RU" dirty="0"/>
              <a:t>(</a:t>
            </a:r>
            <a:r>
              <a:rPr lang="ru-RU" dirty="0" err="1"/>
              <a:t>not</a:t>
            </a:r>
            <a:r>
              <a:rPr lang="ru-RU" dirty="0"/>
              <a:t> a </a:t>
            </a:r>
            <a:r>
              <a:rPr lang="ru-RU" dirty="0" err="1"/>
              <a:t>number</a:t>
            </a:r>
            <a:r>
              <a:rPr lang="ru-RU" dirty="0"/>
              <a:t>)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7035"/>
            <a:ext cx="6899000" cy="31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7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фильтрация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7641"/>
            <a:ext cx="5975364" cy="2419472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5708"/>
            <a:ext cx="5718059" cy="1651490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5793"/>
            <a:ext cx="6776950" cy="1272207"/>
          </a:xfrm>
          <a:prstGeom prst="rect">
            <a:avLst/>
          </a:prstGeom>
        </p:spPr>
      </p:pic>
      <p:pic>
        <p:nvPicPr>
          <p:cNvPr id="9" name="Рисунок 8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995" y="1317641"/>
            <a:ext cx="5923373" cy="163720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054640" y="949257"/>
            <a:ext cx="568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целочисленный массив хранит индексы элементов</a:t>
            </a:r>
            <a:endParaRPr lang="ru-RU" dirty="0"/>
          </a:p>
        </p:txBody>
      </p:sp>
      <p:pic>
        <p:nvPicPr>
          <p:cNvPr id="12" name="Рисунок 11" descr="Вырезка экрана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948" y="3726521"/>
            <a:ext cx="5478063" cy="1322933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6335237" y="3171200"/>
            <a:ext cx="3928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-apple-system"/>
              </a:rPr>
              <a:t>Список хранит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индексы элементов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68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фильтрация</a:t>
            </a:r>
            <a:endParaRPr lang="ru-RU" sz="28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054640" y="949257"/>
            <a:ext cx="568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целочисленный массив хранит индексы элементов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317641"/>
            <a:ext cx="6315371" cy="2200811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4423549"/>
            <a:ext cx="6328280" cy="1782890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243" y="1434856"/>
            <a:ext cx="5436684" cy="1785421"/>
          </a:xfrm>
          <a:prstGeom prst="rect">
            <a:avLst/>
          </a:prstGeom>
        </p:spPr>
      </p:pic>
      <p:pic>
        <p:nvPicPr>
          <p:cNvPr id="14" name="Рисунок 13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243" y="4613301"/>
            <a:ext cx="5364050" cy="1403386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6679243" y="3966970"/>
            <a:ext cx="48560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Исходный массив будет повторен если необходимо в случае не соответствия длин</a:t>
            </a:r>
          </a:p>
        </p:txBody>
      </p:sp>
    </p:spTree>
    <p:extLst>
      <p:ext uri="{BB962C8B-B14F-4D97-AF65-F5344CB8AC3E}">
        <p14:creationId xmlns:p14="http://schemas.microsoft.com/office/powerpoint/2010/main" val="138695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Векторная и матричная </a:t>
            </a:r>
            <a:r>
              <a:rPr lang="ru-RU" sz="2800" dirty="0" smtClean="0"/>
              <a:t>математика</a:t>
            </a:r>
          </a:p>
          <a:p>
            <a:r>
              <a:rPr lang="ru-RU" sz="2800" dirty="0" smtClean="0"/>
              <a:t>Скалярное произведение векторов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8" y="1707191"/>
            <a:ext cx="5457841" cy="171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2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Векторная и матричная </a:t>
            </a:r>
            <a:r>
              <a:rPr lang="ru-RU" sz="2800" dirty="0" smtClean="0"/>
              <a:t>математика</a:t>
            </a:r>
          </a:p>
          <a:p>
            <a:r>
              <a:rPr lang="ru-RU" sz="2800" dirty="0" smtClean="0"/>
              <a:t>Умножение матриц</a:t>
            </a:r>
            <a:endParaRPr lang="ru-RU" sz="2800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697" y="38552"/>
            <a:ext cx="6266440" cy="68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8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Векторная и матричная </a:t>
            </a:r>
            <a:r>
              <a:rPr lang="ru-RU" sz="2800" dirty="0" smtClean="0"/>
              <a:t>математика</a:t>
            </a:r>
          </a:p>
          <a:p>
            <a:r>
              <a:rPr lang="ru-RU" sz="2800" dirty="0"/>
              <a:t>Определитель матрицы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420"/>
            <a:ext cx="9683638" cy="329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6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Функция </a:t>
            </a:r>
            <a:r>
              <a:rPr lang="ru-RU" sz="2800" dirty="0" err="1"/>
              <a:t>where</a:t>
            </a:r>
            <a:r>
              <a:rPr lang="ru-RU" sz="2800" dirty="0"/>
              <a:t> </a:t>
            </a:r>
            <a:r>
              <a:rPr lang="ru-RU" sz="2800" dirty="0"/>
              <a:t>в</a:t>
            </a:r>
            <a:r>
              <a:rPr lang="ru-RU" sz="2800" dirty="0" smtClean="0"/>
              <a:t>озвращает </a:t>
            </a:r>
            <a:r>
              <a:rPr lang="ru-RU" sz="2800" dirty="0"/>
              <a:t>элементы, выбранные </a:t>
            </a:r>
            <a:r>
              <a:rPr lang="en-US" sz="2800" dirty="0" smtClean="0"/>
              <a:t> </a:t>
            </a:r>
            <a:r>
              <a:rPr lang="ru-RU" sz="2800" dirty="0"/>
              <a:t> в зависимости от </a:t>
            </a:r>
            <a:r>
              <a:rPr lang="ru-RU" sz="2800" i="1" dirty="0"/>
              <a:t>условия</a:t>
            </a:r>
            <a:endParaRPr lang="ru-RU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421"/>
            <a:ext cx="8012474" cy="17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3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Библиотека </a:t>
            </a:r>
            <a:r>
              <a:rPr lang="en-US" dirty="0" err="1" smtClean="0"/>
              <a:t>NumPy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94421"/>
            <a:ext cx="8534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Чтение и запись (в бинарных файлах) - </a:t>
            </a:r>
            <a:r>
              <a:rPr lang="en-US" sz="2800" dirty="0"/>
              <a:t>save() </a:t>
            </a:r>
            <a:r>
              <a:rPr lang="ru-RU" sz="2800" dirty="0"/>
              <a:t>и </a:t>
            </a:r>
            <a:r>
              <a:rPr lang="en-US" sz="2800" dirty="0"/>
              <a:t>load</a:t>
            </a:r>
            <a:r>
              <a:rPr lang="en-US" sz="2800" dirty="0" smtClean="0"/>
              <a:t>()</a:t>
            </a:r>
            <a:r>
              <a:rPr lang="ru-RU" sz="2800" dirty="0" smtClean="0"/>
              <a:t> 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1317641"/>
            <a:ext cx="8447939" cy="2339959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4035439"/>
            <a:ext cx="7323666" cy="268802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0030487" y="1528823"/>
            <a:ext cx="17889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Файл автоматически получит расширение .</a:t>
            </a:r>
            <a:r>
              <a:rPr lang="ru-RU" dirty="0" err="1"/>
              <a:t>npy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035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Библиотека </a:t>
            </a:r>
            <a:r>
              <a:rPr lang="en-US" dirty="0" err="1"/>
              <a:t>SciPy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397201" y="353308"/>
            <a:ext cx="4097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Содержит набор пакетов 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52039" y="5683467"/>
            <a:ext cx="107430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dirty="0" err="1"/>
              <a:t>SciPy</a:t>
            </a:r>
            <a:r>
              <a:rPr lang="ru-RU" dirty="0"/>
              <a:t> (</a:t>
            </a:r>
            <a:r>
              <a:rPr lang="ru-RU" dirty="0" err="1"/>
              <a:t>Scientific</a:t>
            </a:r>
            <a:r>
              <a:rPr lang="ru-RU" dirty="0"/>
              <a:t> Python) расширяет функционал </a:t>
            </a:r>
            <a:r>
              <a:rPr lang="ru-RU" dirty="0" err="1"/>
              <a:t>numpy</a:t>
            </a:r>
            <a:r>
              <a:rPr lang="ru-RU" dirty="0"/>
              <a:t> огромной коллекцией полезных алгоритмов, таких как минимизация, преобразование Фурье, регрессия, и другие прикладные математические техники.</a:t>
            </a:r>
            <a:endParaRPr lang="ru-RU" sz="14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946633"/>
              </p:ext>
            </p:extLst>
          </p:nvPr>
        </p:nvGraphicFramePr>
        <p:xfrm>
          <a:off x="406401" y="929115"/>
          <a:ext cx="10329332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579"/>
                <a:gridCol w="8026753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Название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Описание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cluster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Алгоритмы кластерного анализа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</a:rPr>
                        <a:t>constants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Физические и математические константы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fftpack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Быстрое преобразование Фурье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integrate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>
                          <a:effectLst/>
                        </a:rPr>
                        <a:t>Решения интегральных и обычных дифференциальных уравнений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interpolate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 dirty="0">
                          <a:effectLst/>
                        </a:rPr>
                        <a:t>Интерполяция и сглаживание сплайнов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io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 dirty="0">
                          <a:effectLst/>
                        </a:rPr>
                        <a:t>Ввод и вывод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>
                          <a:effectLst/>
                        </a:rPr>
                        <a:t>linalg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600" dirty="0">
                          <a:effectLst/>
                        </a:rPr>
                        <a:t>Линейная алгебра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210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Библиотека </a:t>
            </a:r>
            <a:r>
              <a:rPr lang="en-US" dirty="0" err="1"/>
              <a:t>SciPy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397201" y="353308"/>
            <a:ext cx="4097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Содержит набор пакетов </a:t>
            </a: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86803"/>
              </p:ext>
            </p:extLst>
          </p:nvPr>
        </p:nvGraphicFramePr>
        <p:xfrm>
          <a:off x="406401" y="929115"/>
          <a:ext cx="10329332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579"/>
                <a:gridCol w="8026753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Название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600" b="1" dirty="0">
                          <a:effectLst/>
                        </a:rPr>
                        <a:t>Описание</a:t>
                      </a:r>
                      <a:endParaRPr lang="ru-RU" sz="260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ndimage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N-</a:t>
                      </a:r>
                      <a:r>
                        <a:rPr lang="ru-RU" sz="2800">
                          <a:effectLst/>
                        </a:rPr>
                        <a:t>размерная обработка изображений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odr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Метод ортогональных расстояний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optimize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Оптимизация и численное решение уравнений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signal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Обработка сигналов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sparse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Разреженные матрицы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spatial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Разреженные структуры данных и алгоритмы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special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>
                          <a:effectLst/>
                        </a:rPr>
                        <a:t>Специальные функции</a:t>
                      </a:r>
                    </a:p>
                  </a:txBody>
                  <a:tcPr marL="114300" marR="1143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</a:rPr>
                        <a:t>stats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Статистические распределения и функции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5427878" y="116055"/>
            <a:ext cx="5114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https://docs.scipy.org/doc/scipy/reference/tutorial</a:t>
            </a:r>
            <a:r>
              <a:rPr lang="ru-RU" dirty="0" smtClean="0">
                <a:hlinkClick r:id="rId3"/>
              </a:rPr>
              <a:t>/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998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1668" y="1"/>
            <a:ext cx="11607800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Библиотека </a:t>
            </a:r>
            <a:r>
              <a:rPr lang="en-US" dirty="0" err="1"/>
              <a:t>SciPy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1668" y="1059933"/>
            <a:ext cx="734656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Функции для получения справки - </a:t>
            </a:r>
            <a:r>
              <a:rPr lang="en-US" sz="2800" dirty="0" smtClean="0"/>
              <a:t>help</a:t>
            </a:r>
            <a:r>
              <a:rPr lang="en-US" sz="2800" dirty="0"/>
              <a:t>(), info() </a:t>
            </a:r>
            <a:endParaRPr lang="ru-RU" sz="2800" dirty="0" smtClean="0"/>
          </a:p>
          <a:p>
            <a:r>
              <a:rPr lang="ru-RU" sz="2800" dirty="0" smtClean="0"/>
              <a:t>Получить исходный код - </a:t>
            </a:r>
            <a:r>
              <a:rPr lang="en-US" sz="2800" dirty="0"/>
              <a:t>source()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80893" y="2476268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from </a:t>
            </a:r>
            <a:r>
              <a:rPr lang="en-US" sz="2800" dirty="0" err="1"/>
              <a:t>scipy</a:t>
            </a:r>
            <a:r>
              <a:rPr lang="en-US" sz="2800" dirty="0"/>
              <a:t> import cluster</a:t>
            </a:r>
          </a:p>
          <a:p>
            <a:r>
              <a:rPr lang="en-US" sz="2800" dirty="0"/>
              <a:t>help(cluster)               # с </a:t>
            </a:r>
            <a:r>
              <a:rPr lang="en-US" sz="2800" dirty="0" err="1"/>
              <a:t>параметром</a:t>
            </a:r>
            <a:endParaRPr lang="en-US" sz="2800" dirty="0"/>
          </a:p>
          <a:p>
            <a:r>
              <a:rPr lang="en-US" sz="2800" dirty="0"/>
              <a:t>help()                      # </a:t>
            </a:r>
            <a:r>
              <a:rPr lang="en-US" sz="2800" dirty="0" err="1"/>
              <a:t>без</a:t>
            </a:r>
            <a:r>
              <a:rPr lang="en-US" sz="2800" dirty="0"/>
              <a:t> </a:t>
            </a:r>
            <a:r>
              <a:rPr lang="en-US" sz="2800" dirty="0" err="1" smtClean="0"/>
              <a:t>параметра</a:t>
            </a:r>
            <a:endParaRPr lang="ru-RU" sz="2800" dirty="0" smtClean="0"/>
          </a:p>
          <a:p>
            <a:endParaRPr lang="ru-RU" sz="2800" dirty="0"/>
          </a:p>
          <a:p>
            <a:r>
              <a:rPr lang="en-US" sz="2800" dirty="0"/>
              <a:t>scipy.info(cluster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endParaRPr lang="ru-RU" sz="2800" dirty="0"/>
          </a:p>
          <a:p>
            <a:r>
              <a:rPr lang="en-US" sz="2800" dirty="0" err="1"/>
              <a:t>scipy.source</a:t>
            </a:r>
            <a:r>
              <a:rPr lang="en-US" sz="2800" dirty="0"/>
              <a:t>(cluster)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791314" y="2346529"/>
            <a:ext cx="30281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Для выхода достаточно ввести </a:t>
            </a:r>
            <a:r>
              <a:rPr lang="ru-RU" sz="2800" dirty="0" err="1"/>
              <a:t>quit</a:t>
            </a:r>
            <a:r>
              <a:rPr lang="ru-RU" sz="2800" dirty="0"/>
              <a:t> и нажать </a:t>
            </a:r>
            <a:r>
              <a:rPr lang="ru-RU" sz="2800" dirty="0" err="1"/>
              <a:t>Enter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115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 smtClean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1217171"/>
            <a:ext cx="695289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поддерживает многие виды диаграмм:</a:t>
            </a:r>
          </a:p>
          <a:p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графики;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диаграммы </a:t>
            </a:r>
            <a:r>
              <a:rPr lang="ru-RU" sz="2800" dirty="0"/>
              <a:t>разброса;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столбчатые </a:t>
            </a:r>
            <a:r>
              <a:rPr lang="ru-RU" sz="2800" dirty="0"/>
              <a:t>диаграммы и гистограммы;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круговые </a:t>
            </a:r>
            <a:r>
              <a:rPr lang="ru-RU" sz="2800" dirty="0"/>
              <a:t>диаграммы;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ствол-лист </a:t>
            </a:r>
            <a:r>
              <a:rPr lang="ru-RU" sz="2800" dirty="0"/>
              <a:t>диаграммы;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контурные </a:t>
            </a:r>
            <a:r>
              <a:rPr lang="ru-RU" sz="2800" dirty="0"/>
              <a:t>графики;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поля </a:t>
            </a:r>
            <a:r>
              <a:rPr lang="ru-RU" sz="2800" dirty="0"/>
              <a:t>градиентов;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спектральные </a:t>
            </a:r>
            <a:r>
              <a:rPr lang="ru-RU" sz="2800" dirty="0"/>
              <a:t>диаграммы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и </a:t>
            </a:r>
            <a:r>
              <a:rPr lang="ru-RU" sz="2800" dirty="0"/>
              <a:t>др.</a:t>
            </a:r>
          </a:p>
        </p:txBody>
      </p:sp>
    </p:spTree>
    <p:extLst>
      <p:ext uri="{BB962C8B-B14F-4D97-AF65-F5344CB8AC3E}">
        <p14:creationId xmlns:p14="http://schemas.microsoft.com/office/powerpoint/2010/main" val="130870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2397038"/>
            <a:ext cx="109900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Можно </a:t>
            </a:r>
            <a:r>
              <a:rPr lang="ru-RU" sz="2800" dirty="0"/>
              <a:t>указать оси координат, сетку, добавить аннотации, использовать логарифмическую шкалу или полярные координаты. </a:t>
            </a:r>
            <a:endParaRPr lang="ru-RU" sz="2800" dirty="0" smtClean="0"/>
          </a:p>
          <a:p>
            <a:endParaRPr lang="ru-RU" sz="2800" dirty="0"/>
          </a:p>
          <a:p>
            <a:r>
              <a:rPr lang="ru-RU" sz="2800" dirty="0" smtClean="0"/>
              <a:t>Созданные </a:t>
            </a:r>
            <a:r>
              <a:rPr lang="ru-RU" sz="2800" dirty="0"/>
              <a:t>изображения могут быть легко сохранены, в частности, в популярные форматы (JPEG, PNG и др.).</a:t>
            </a:r>
          </a:p>
        </p:txBody>
      </p:sp>
    </p:spTree>
    <p:extLst>
      <p:ext uri="{BB962C8B-B14F-4D97-AF65-F5344CB8AC3E}">
        <p14:creationId xmlns:p14="http://schemas.microsoft.com/office/powerpoint/2010/main" val="93870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90" y="1974971"/>
            <a:ext cx="6375381" cy="112353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89590" y="3725645"/>
            <a:ext cx="107835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на базе </a:t>
            </a:r>
            <a:r>
              <a:rPr lang="ru-RU" sz="2800" dirty="0" err="1"/>
              <a:t>Linux</a:t>
            </a:r>
            <a:r>
              <a:rPr lang="ru-RU" sz="2800" dirty="0"/>
              <a:t> можно воспользоваться пакетным менеджером и установить python3-matplotlib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89590" y="5112606"/>
            <a:ext cx="115024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hlinkClick r:id="rId4"/>
              </a:rPr>
              <a:t>http://</a:t>
            </a:r>
            <a:r>
              <a:rPr lang="en-US" sz="2800" dirty="0" smtClean="0">
                <a:hlinkClick r:id="rId4"/>
              </a:rPr>
              <a:t>matplotlib.org/users/screenshots.html</a:t>
            </a:r>
            <a:r>
              <a:rPr lang="ru-RU" sz="2800" dirty="0" smtClean="0"/>
              <a:t>   - см </a:t>
            </a:r>
            <a:r>
              <a:rPr lang="en-US" sz="2800" dirty="0"/>
              <a:t>(</a:t>
            </a:r>
            <a:r>
              <a:rPr lang="en-US" sz="2800" dirty="0">
                <a:hlinkClick r:id="rId5"/>
              </a:rPr>
              <a:t>Source code</a:t>
            </a:r>
            <a:r>
              <a:rPr lang="en-US" sz="2800" dirty="0"/>
              <a:t>)</a:t>
            </a:r>
            <a:endParaRPr lang="ru-RU" sz="2800" dirty="0"/>
          </a:p>
          <a:p>
            <a:r>
              <a:rPr lang="en-US" sz="2800" dirty="0"/>
              <a:t>http://matplotlib.org/gallery.html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0537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5570" y="1997363"/>
            <a:ext cx="1140987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Все функции построения диаграмм ожидают аргументы следующих типов:</a:t>
            </a:r>
          </a:p>
          <a:p>
            <a:endParaRPr lang="ru-RU" sz="280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/>
              <a:t>np.array</a:t>
            </a:r>
            <a:r>
              <a:rPr lang="ru-RU" sz="2800" dirty="0"/>
              <a:t>,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err="1" smtClean="0"/>
              <a:t>np.ma.masked_array</a:t>
            </a:r>
            <a:endParaRPr lang="ru-RU" sz="2800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dirty="0" smtClean="0"/>
              <a:t>набор </a:t>
            </a:r>
            <a:r>
              <a:rPr lang="ru-RU" sz="2800" dirty="0"/>
              <a:t>или массив значений из пакета </a:t>
            </a:r>
            <a:r>
              <a:rPr lang="ru-RU" sz="2800" dirty="0" err="1"/>
              <a:t>NumPy</a:t>
            </a:r>
            <a:r>
              <a:rPr lang="ru-RU" sz="2800" dirty="0"/>
              <a:t> (устанавливается вместе с </a:t>
            </a:r>
            <a:r>
              <a:rPr lang="ru-RU" sz="2800" dirty="0" err="1"/>
              <a:t>matplotlib</a:t>
            </a:r>
            <a:r>
              <a:rPr lang="ru-RU" sz="2800" dirty="0"/>
              <a:t>), однако стандартные последовательности Python также допускаются к использованию</a:t>
            </a:r>
          </a:p>
        </p:txBody>
      </p:sp>
    </p:spTree>
    <p:extLst>
      <p:ext uri="{BB962C8B-B14F-4D97-AF65-F5344CB8AC3E}">
        <p14:creationId xmlns:p14="http://schemas.microsoft.com/office/powerpoint/2010/main" val="346799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72035" y="1225240"/>
            <a:ext cx="1140758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Модуль верхнего уровня </a:t>
            </a:r>
            <a:r>
              <a:rPr lang="en-US" sz="2800" dirty="0" err="1"/>
              <a:t>matplotlib</a:t>
            </a:r>
            <a:r>
              <a:rPr lang="en-US" sz="2800" dirty="0"/>
              <a:t> </a:t>
            </a:r>
            <a:r>
              <a:rPr lang="ru-RU" sz="2800" dirty="0"/>
              <a:t>содержит функции для конфигурации библиотеки.</a:t>
            </a:r>
          </a:p>
          <a:p>
            <a:endParaRPr lang="ru-RU" sz="2800" dirty="0"/>
          </a:p>
          <a:p>
            <a:r>
              <a:rPr lang="en-US" sz="2800" b="1" dirty="0" err="1"/>
              <a:t>matplotlib.rc</a:t>
            </a:r>
            <a:r>
              <a:rPr lang="en-US" sz="2800" b="1" dirty="0"/>
              <a:t>(group, **</a:t>
            </a:r>
            <a:r>
              <a:rPr lang="en-US" sz="2800" b="1" dirty="0" err="1"/>
              <a:t>kwargs</a:t>
            </a:r>
            <a:r>
              <a:rPr lang="en-US" sz="2800" b="1" dirty="0"/>
              <a:t>)</a:t>
            </a:r>
          </a:p>
          <a:p>
            <a:r>
              <a:rPr lang="ru-RU" sz="2800" dirty="0"/>
              <a:t>Устанавливает параметры </a:t>
            </a:r>
            <a:r>
              <a:rPr lang="ru-RU" sz="2800" b="1" dirty="0"/>
              <a:t>**</a:t>
            </a:r>
            <a:r>
              <a:rPr lang="en-US" sz="2800" b="1" dirty="0" err="1"/>
              <a:t>kwargs</a:t>
            </a:r>
            <a:r>
              <a:rPr lang="en-US" sz="2800" b="1" dirty="0"/>
              <a:t> </a:t>
            </a:r>
            <a:r>
              <a:rPr lang="ru-RU" sz="2800" dirty="0"/>
              <a:t>для группы объектов </a:t>
            </a:r>
            <a:r>
              <a:rPr lang="en-US" sz="2800" b="1" dirty="0"/>
              <a:t>group</a:t>
            </a:r>
            <a:r>
              <a:rPr lang="en-US" sz="2800" dirty="0"/>
              <a:t> (</a:t>
            </a:r>
            <a:r>
              <a:rPr lang="ru-RU" sz="2800" dirty="0"/>
              <a:t>например, "</a:t>
            </a:r>
            <a:r>
              <a:rPr lang="en-US" sz="2800" dirty="0"/>
              <a:t>font" </a:t>
            </a:r>
            <a:r>
              <a:rPr lang="ru-RU" sz="2800" dirty="0"/>
              <a:t>для шрифта</a:t>
            </a:r>
            <a:r>
              <a:rPr lang="ru-RU" sz="2800" dirty="0" smtClean="0"/>
              <a:t>)</a:t>
            </a:r>
            <a:r>
              <a:rPr lang="ru-RU" sz="2800" dirty="0"/>
              <a:t> , если шрифт в ОС по умолчанию не поддерживает кириллицу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62000" y="4463948"/>
            <a:ext cx="97903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import </a:t>
            </a:r>
            <a:r>
              <a:rPr lang="en-US" sz="2800" dirty="0" err="1"/>
              <a:t>matplotlib</a:t>
            </a:r>
            <a:endParaRPr lang="en-US" sz="2800" dirty="0"/>
          </a:p>
          <a:p>
            <a:r>
              <a:rPr lang="en-US" sz="2800" dirty="0" smtClean="0"/>
              <a:t># </a:t>
            </a:r>
            <a:r>
              <a:rPr lang="en-US" sz="2800" dirty="0"/>
              <a:t>"</a:t>
            </a:r>
            <a:r>
              <a:rPr lang="ru-RU" sz="2800" dirty="0"/>
              <a:t>Включение" поддержки кириллицы</a:t>
            </a:r>
          </a:p>
          <a:p>
            <a:r>
              <a:rPr lang="en-US" sz="2800" dirty="0" err="1"/>
              <a:t>matplotlib.rc</a:t>
            </a:r>
            <a:r>
              <a:rPr lang="en-US" sz="2800" dirty="0"/>
              <a:t>("font", family="Arial, Ubuntu")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6267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044" y="0"/>
            <a:ext cx="7924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1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1970957"/>
            <a:ext cx="1163221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Все элементы изображения унаследованы от класса </a:t>
            </a:r>
            <a:r>
              <a:rPr lang="ru-RU" sz="2800" dirty="0" err="1"/>
              <a:t>Artists</a:t>
            </a:r>
            <a:r>
              <a:rPr lang="ru-RU" sz="2800" dirty="0"/>
              <a:t> (модуль </a:t>
            </a:r>
            <a:r>
              <a:rPr lang="ru-RU" sz="2800" dirty="0" err="1"/>
              <a:t>artist</a:t>
            </a:r>
            <a:r>
              <a:rPr lang="ru-RU" sz="2800" dirty="0"/>
              <a:t>) и делятся на 2 типа:</a:t>
            </a:r>
          </a:p>
          <a:p>
            <a:endParaRPr lang="ru-RU" sz="2800" dirty="0"/>
          </a:p>
          <a:p>
            <a:r>
              <a:rPr lang="ru-RU" sz="2800" b="1" dirty="0" smtClean="0"/>
              <a:t>Примитивы</a:t>
            </a:r>
            <a:r>
              <a:rPr lang="en-US" sz="2800" dirty="0" smtClean="0"/>
              <a:t> </a:t>
            </a:r>
            <a:r>
              <a:rPr lang="ru-RU" sz="2800" dirty="0" smtClean="0"/>
              <a:t>– стандартные </a:t>
            </a:r>
            <a:r>
              <a:rPr lang="ru-RU" sz="2800" dirty="0"/>
              <a:t>графические объекты на изображении: линия (класс Line2D), прямоугольник (класс </a:t>
            </a:r>
            <a:r>
              <a:rPr lang="ru-RU" sz="2800" dirty="0" err="1"/>
              <a:t>Rectangle</a:t>
            </a:r>
            <a:r>
              <a:rPr lang="ru-RU" sz="2800" dirty="0"/>
              <a:t>), текст (класс </a:t>
            </a:r>
            <a:r>
              <a:rPr lang="ru-RU" sz="2800" dirty="0" err="1"/>
              <a:t>Text</a:t>
            </a:r>
            <a:r>
              <a:rPr lang="ru-RU" sz="2800" dirty="0"/>
              <a:t>) и т.д.</a:t>
            </a:r>
          </a:p>
          <a:p>
            <a:endParaRPr lang="ru-RU" sz="2800" dirty="0"/>
          </a:p>
          <a:p>
            <a:r>
              <a:rPr lang="ru-RU" sz="2800" b="1" dirty="0" smtClean="0"/>
              <a:t>Контейнеры</a:t>
            </a:r>
            <a:r>
              <a:rPr lang="ru-RU" sz="2800" dirty="0" smtClean="0"/>
              <a:t> –  </a:t>
            </a:r>
            <a:r>
              <a:rPr lang="ru-RU" sz="2800" dirty="0"/>
              <a:t>объекты, внутри которых размещаются примитивы: координатная плоскость (класс </a:t>
            </a:r>
            <a:r>
              <a:rPr lang="ru-RU" sz="2800" dirty="0" err="1"/>
              <a:t>Axes</a:t>
            </a:r>
            <a:r>
              <a:rPr lang="ru-RU" sz="2800" dirty="0"/>
              <a:t>), оси (класс </a:t>
            </a:r>
            <a:r>
              <a:rPr lang="ru-RU" sz="2800" dirty="0" err="1"/>
              <a:t>Axis</a:t>
            </a:r>
            <a:r>
              <a:rPr lang="ru-RU" sz="2800" dirty="0"/>
              <a:t>) или изображение (класс </a:t>
            </a:r>
            <a:r>
              <a:rPr lang="ru-RU" sz="2800" dirty="0" err="1"/>
              <a:t>Figure</a:t>
            </a:r>
            <a:r>
              <a:rPr lang="ru-RU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3674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39742" y="1307957"/>
            <a:ext cx="51819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Построение простой диаграммы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6707" y="2044058"/>
            <a:ext cx="108024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Создать объект </a:t>
            </a:r>
            <a:r>
              <a:rPr lang="ru-RU" sz="2800" dirty="0" err="1"/>
              <a:t>Figure</a:t>
            </a:r>
            <a:r>
              <a:rPr lang="ru-RU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Используя объект </a:t>
            </a:r>
            <a:r>
              <a:rPr lang="ru-RU" sz="2800" dirty="0" err="1"/>
              <a:t>Figure</a:t>
            </a:r>
            <a:r>
              <a:rPr lang="ru-RU" sz="2800" dirty="0"/>
              <a:t>, добавить координатную плоскость </a:t>
            </a:r>
            <a:r>
              <a:rPr lang="ru-RU" sz="2800" dirty="0" err="1"/>
              <a:t>Axes</a:t>
            </a:r>
            <a:r>
              <a:rPr lang="ru-RU" sz="2800" dirty="0"/>
              <a:t> (одну или несколько).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Используя методы </a:t>
            </a:r>
            <a:r>
              <a:rPr lang="ru-RU" sz="2800" dirty="0" err="1"/>
              <a:t>Axes</a:t>
            </a:r>
            <a:r>
              <a:rPr lang="ru-RU" sz="2800" dirty="0"/>
              <a:t>, добавить на изображение графические примитивы.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Отобразить и/или сохранить изображение.</a:t>
            </a:r>
          </a:p>
        </p:txBody>
      </p:sp>
    </p:spTree>
    <p:extLst>
      <p:ext uri="{BB962C8B-B14F-4D97-AF65-F5344CB8AC3E}">
        <p14:creationId xmlns:p14="http://schemas.microsoft.com/office/powerpoint/2010/main" val="359818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62" y="1442469"/>
            <a:ext cx="11300671" cy="418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2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6211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768179"/>
            <a:ext cx="10593238" cy="597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0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1095076"/>
            <a:ext cx="6630323" cy="528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56934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17585" y="2130246"/>
            <a:ext cx="1124884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Функция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 </a:t>
            </a:r>
            <a:r>
              <a:rPr lang="en-US" sz="2800" dirty="0" err="1">
                <a:solidFill>
                  <a:srgbClr val="1B7A41"/>
                </a:solidFill>
                <a:latin typeface="Lato" panose="020F0502020204030203" pitchFamily="34" charset="0"/>
                <a:hlinkClick r:id="rId3"/>
              </a:rPr>
              <a:t>pyplot.subplots</a:t>
            </a:r>
            <a:r>
              <a:rPr lang="en-US" sz="2800" dirty="0" smtClean="0">
                <a:solidFill>
                  <a:srgbClr val="1B7A41"/>
                </a:solidFill>
                <a:latin typeface="Lato" panose="020F0502020204030203" pitchFamily="34" charset="0"/>
                <a:hlinkClick r:id="rId3"/>
              </a:rPr>
              <a:t>()</a:t>
            </a:r>
            <a:r>
              <a:rPr lang="ru-RU" sz="2800" dirty="0" smtClean="0">
                <a:solidFill>
                  <a:srgbClr val="1B7A41"/>
                </a:solidFill>
                <a:latin typeface="Lato" panose="020F0502020204030203" pitchFamily="34" charset="0"/>
              </a:rPr>
              <a:t> 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представляет один из способов создания изображения и координатной оси </a:t>
            </a:r>
            <a:r>
              <a:rPr lang="ru-RU" sz="2800" dirty="0" smtClean="0">
                <a:solidFill>
                  <a:srgbClr val="1B7A41"/>
                </a:solidFill>
                <a:latin typeface="Lato" panose="020F0502020204030203" pitchFamily="34" charset="0"/>
              </a:rPr>
              <a:t>(</a:t>
            </a:r>
            <a:r>
              <a:rPr lang="en-US" sz="2800" dirty="0" smtClean="0">
                <a:hlinkClick r:id="rId4"/>
              </a:rPr>
              <a:t>https</a:t>
            </a:r>
            <a:r>
              <a:rPr lang="en-US" sz="2800" dirty="0">
                <a:hlinkClick r:id="rId4"/>
              </a:rPr>
              <a:t>://</a:t>
            </a:r>
            <a:r>
              <a:rPr lang="en-US" sz="2800" dirty="0" smtClean="0">
                <a:hlinkClick r:id="rId4"/>
              </a:rPr>
              <a:t>matplotlib.org/2.0.2/api/pyplot_api.html</a:t>
            </a:r>
            <a:r>
              <a:rPr lang="ru-RU" sz="2800" dirty="0" smtClean="0"/>
              <a:t> )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7438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1095076"/>
            <a:ext cx="12192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 err="1"/>
              <a:t>matplotlib.pyplot.subplots</a:t>
            </a:r>
            <a:r>
              <a:rPr lang="en-US" sz="2800" b="1" dirty="0"/>
              <a:t>(</a:t>
            </a:r>
            <a:r>
              <a:rPr lang="en-US" sz="2800" b="1" dirty="0" err="1"/>
              <a:t>nrows</a:t>
            </a:r>
            <a:r>
              <a:rPr lang="en-US" sz="2800" b="1" dirty="0"/>
              <a:t>=1, </a:t>
            </a:r>
            <a:r>
              <a:rPr lang="en-US" sz="2800" b="1" dirty="0" err="1"/>
              <a:t>ncols</a:t>
            </a:r>
            <a:r>
              <a:rPr lang="en-US" sz="2800" b="1" dirty="0"/>
              <a:t>=1, </a:t>
            </a:r>
            <a:r>
              <a:rPr lang="en-US" sz="2800" b="1" dirty="0" err="1"/>
              <a:t>sharex</a:t>
            </a:r>
            <a:r>
              <a:rPr lang="en-US" sz="2800" b="1" dirty="0"/>
              <a:t>=False, </a:t>
            </a:r>
            <a:r>
              <a:rPr lang="en-US" sz="2800" b="1" dirty="0" err="1"/>
              <a:t>sharey</a:t>
            </a:r>
            <a:r>
              <a:rPr lang="en-US" sz="2800" b="1" dirty="0"/>
              <a:t>=False, squeeze=True, </a:t>
            </a:r>
            <a:r>
              <a:rPr lang="en-US" sz="2800" b="1" dirty="0" err="1"/>
              <a:t>subplot_kw</a:t>
            </a:r>
            <a:r>
              <a:rPr lang="en-US" sz="2800" b="1" dirty="0"/>
              <a:t>=None, </a:t>
            </a:r>
            <a:r>
              <a:rPr lang="en-US" sz="2800" b="1" dirty="0" err="1"/>
              <a:t>gridspec_kw</a:t>
            </a:r>
            <a:r>
              <a:rPr lang="en-US" sz="2800" b="1" dirty="0"/>
              <a:t>=None, **</a:t>
            </a:r>
            <a:r>
              <a:rPr lang="en-US" sz="2800" b="1" dirty="0" err="1"/>
              <a:t>fig_kw</a:t>
            </a:r>
            <a:r>
              <a:rPr lang="en-US" sz="2800" b="1" dirty="0"/>
              <a:t>)</a:t>
            </a:r>
          </a:p>
          <a:p>
            <a:r>
              <a:rPr lang="ru-RU" sz="2400" dirty="0" smtClean="0"/>
              <a:t> </a:t>
            </a:r>
            <a:r>
              <a:rPr lang="en-US" sz="2400" dirty="0" err="1" smtClean="0"/>
              <a:t>nrows</a:t>
            </a:r>
            <a:r>
              <a:rPr lang="en-US" sz="2400" dirty="0" smtClean="0"/>
              <a:t> </a:t>
            </a:r>
            <a:r>
              <a:rPr lang="en-US" sz="2400" dirty="0"/>
              <a:t>(</a:t>
            </a:r>
            <a:r>
              <a:rPr lang="en-US" sz="2400" dirty="0" smtClean="0"/>
              <a:t>int)</a:t>
            </a:r>
            <a:r>
              <a:rPr lang="ru-RU" sz="2400" dirty="0" smtClean="0"/>
              <a:t>, </a:t>
            </a:r>
            <a:r>
              <a:rPr lang="en-US" sz="2400" dirty="0" err="1"/>
              <a:t>ncols</a:t>
            </a:r>
            <a:r>
              <a:rPr lang="en-US" sz="2400" dirty="0"/>
              <a:t> (int</a:t>
            </a:r>
            <a:r>
              <a:rPr lang="en-US" sz="2400" dirty="0" smtClean="0"/>
              <a:t>)</a:t>
            </a:r>
            <a:r>
              <a:rPr lang="ru-RU" sz="2400" dirty="0" smtClean="0"/>
              <a:t> </a:t>
            </a:r>
            <a:r>
              <a:rPr lang="en-US" sz="2400" dirty="0" smtClean="0"/>
              <a:t>– </a:t>
            </a:r>
            <a:r>
              <a:rPr lang="ru-RU" sz="2400" dirty="0"/>
              <a:t>количество координатных плоскостей по </a:t>
            </a:r>
            <a:r>
              <a:rPr lang="ru-RU" sz="2400" dirty="0" smtClean="0"/>
              <a:t>вертикали(</a:t>
            </a:r>
            <a:r>
              <a:rPr lang="ru-RU" sz="2400" dirty="0"/>
              <a:t>горизонтали</a:t>
            </a:r>
            <a:r>
              <a:rPr lang="ru-RU" sz="2400" dirty="0" smtClean="0"/>
              <a:t>);</a:t>
            </a:r>
            <a:endParaRPr lang="ru-RU" sz="2400" dirty="0"/>
          </a:p>
          <a:p>
            <a:r>
              <a:rPr lang="en-US" sz="2400" dirty="0" err="1" smtClean="0"/>
              <a:t>sharex</a:t>
            </a:r>
            <a:r>
              <a:rPr lang="en-US" sz="2400" dirty="0" smtClean="0"/>
              <a:t> </a:t>
            </a:r>
            <a:r>
              <a:rPr lang="en-US" sz="2400" dirty="0"/>
              <a:t>(bool </a:t>
            </a:r>
            <a:r>
              <a:rPr lang="ru-RU" sz="2400" dirty="0"/>
              <a:t>или {"</a:t>
            </a:r>
            <a:r>
              <a:rPr lang="en-US" sz="2400" dirty="0"/>
              <a:t>none", "all", "row", "col</a:t>
            </a:r>
            <a:r>
              <a:rPr lang="en-US" sz="2400" dirty="0" smtClean="0"/>
              <a:t>"})</a:t>
            </a:r>
            <a:r>
              <a:rPr lang="ru-RU" sz="2400" dirty="0" smtClean="0"/>
              <a:t>, </a:t>
            </a:r>
            <a:r>
              <a:rPr lang="en-US" sz="2400" dirty="0" err="1" smtClean="0"/>
              <a:t>sharey</a:t>
            </a:r>
            <a:r>
              <a:rPr lang="ru-RU" sz="2400" dirty="0" smtClean="0"/>
              <a:t>(…)</a:t>
            </a:r>
            <a:r>
              <a:rPr lang="en-US" sz="2400" dirty="0" smtClean="0"/>
              <a:t> –</a:t>
            </a:r>
            <a:r>
              <a:rPr lang="ru-RU" sz="2400" dirty="0" smtClean="0"/>
              <a:t> является </a:t>
            </a:r>
            <a:r>
              <a:rPr lang="ru-RU" sz="2400" dirty="0"/>
              <a:t>ли ось </a:t>
            </a:r>
            <a:r>
              <a:rPr lang="en-US" sz="2400" dirty="0" smtClean="0"/>
              <a:t>OX</a:t>
            </a:r>
            <a:r>
              <a:rPr lang="ru-RU" sz="2400" dirty="0" smtClean="0"/>
              <a:t> (</a:t>
            </a:r>
            <a:r>
              <a:rPr lang="en-US" sz="2400" dirty="0"/>
              <a:t>OY</a:t>
            </a:r>
            <a:r>
              <a:rPr lang="ru-RU" sz="2400" dirty="0" smtClean="0"/>
              <a:t>)</a:t>
            </a:r>
            <a:r>
              <a:rPr lang="en-US" sz="2400" dirty="0" smtClean="0"/>
              <a:t> </a:t>
            </a:r>
            <a:r>
              <a:rPr lang="ru-RU" sz="2400" dirty="0"/>
              <a:t>общей для нескольких плоскостей:</a:t>
            </a:r>
          </a:p>
          <a:p>
            <a:pPr lvl="1"/>
            <a:r>
              <a:rPr lang="en-US" sz="2400" dirty="0" smtClean="0"/>
              <a:t>True </a:t>
            </a:r>
            <a:r>
              <a:rPr lang="ru-RU" sz="2400" dirty="0"/>
              <a:t>или "</a:t>
            </a:r>
            <a:r>
              <a:rPr lang="en-US" sz="2400" dirty="0"/>
              <a:t>all":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общими для всех координатных плоскостей;</a:t>
            </a:r>
          </a:p>
          <a:p>
            <a:pPr lvl="1"/>
            <a:r>
              <a:rPr lang="en-US" sz="2400" dirty="0" smtClean="0"/>
              <a:t>False </a:t>
            </a:r>
            <a:r>
              <a:rPr lang="ru-RU" sz="2400" dirty="0"/>
              <a:t>или "</a:t>
            </a:r>
            <a:r>
              <a:rPr lang="en-US" sz="2400" dirty="0"/>
              <a:t>none":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отдельными для каждой координатной плоскости;</a:t>
            </a:r>
          </a:p>
          <a:p>
            <a:pPr lvl="1"/>
            <a:r>
              <a:rPr lang="ru-RU" sz="2400" dirty="0" smtClean="0"/>
              <a:t>"</a:t>
            </a:r>
            <a:r>
              <a:rPr lang="en-US" sz="2400" dirty="0"/>
              <a:t>row":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общими для всех координатных плоскостей по вертикали;</a:t>
            </a:r>
          </a:p>
          <a:p>
            <a:pPr lvl="1"/>
            <a:r>
              <a:rPr lang="ru-RU" sz="2400" dirty="0" smtClean="0"/>
              <a:t>"</a:t>
            </a:r>
            <a:r>
              <a:rPr lang="en-US" sz="2400" dirty="0"/>
              <a:t>col": </a:t>
            </a:r>
            <a:r>
              <a:rPr lang="ru-RU" sz="2400" dirty="0"/>
              <a:t>оси </a:t>
            </a:r>
            <a:r>
              <a:rPr lang="en-US" sz="2400" dirty="0"/>
              <a:t>OX </a:t>
            </a:r>
            <a:r>
              <a:rPr lang="ru-RU" sz="2400" dirty="0"/>
              <a:t>и </a:t>
            </a:r>
            <a:r>
              <a:rPr lang="en-US" sz="2400" dirty="0"/>
              <a:t>OY </a:t>
            </a:r>
            <a:r>
              <a:rPr lang="ru-RU" sz="2400" dirty="0"/>
              <a:t>будут общими для всех координатных плоскостей по горизонтали.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Результат - </a:t>
            </a:r>
            <a:r>
              <a:rPr lang="ru-RU" sz="2400" dirty="0" smtClean="0"/>
              <a:t>кортеж</a:t>
            </a:r>
            <a:r>
              <a:rPr lang="ru-RU" sz="2400" dirty="0"/>
              <a:t>:</a:t>
            </a:r>
          </a:p>
          <a:p>
            <a:pPr lvl="1"/>
            <a:r>
              <a:rPr lang="en-US" sz="2400" dirty="0" smtClean="0"/>
              <a:t>fig</a:t>
            </a:r>
            <a:r>
              <a:rPr lang="en-US" sz="2400" dirty="0"/>
              <a:t>: </a:t>
            </a:r>
            <a:r>
              <a:rPr lang="ru-RU" sz="2400" dirty="0"/>
              <a:t>изображение (класс </a:t>
            </a:r>
            <a:r>
              <a:rPr lang="en-US" sz="2400" dirty="0"/>
              <a:t>Figure);</a:t>
            </a:r>
          </a:p>
          <a:p>
            <a:pPr lvl="1"/>
            <a:r>
              <a:rPr lang="en-US" sz="2400" dirty="0" smtClean="0"/>
              <a:t>ax</a:t>
            </a:r>
            <a:r>
              <a:rPr lang="en-US" sz="2400" dirty="0"/>
              <a:t>: </a:t>
            </a:r>
            <a:r>
              <a:rPr lang="ru-RU" sz="2400" dirty="0"/>
              <a:t>одна или несколько координатных плоскостей (класс </a:t>
            </a:r>
            <a:r>
              <a:rPr lang="en-US" sz="2400" dirty="0"/>
              <a:t>Axes).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7633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95034"/>
              </p:ext>
            </p:extLst>
          </p:nvPr>
        </p:nvGraphicFramePr>
        <p:xfrm>
          <a:off x="241540" y="1599560"/>
          <a:ext cx="11714672" cy="42911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57336"/>
                <a:gridCol w="5857336"/>
              </a:tblGrid>
              <a:tr h="12126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matplotlib.pyplot.show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**kw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Выводит изображение на экран в отдельном окне</a:t>
                      </a:r>
                      <a:endParaRPr lang="ru-RU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matplotlib.pyplot.savefig</a:t>
                      </a:r>
                      <a:r>
                        <a:rPr lang="en-US" sz="2800" dirty="0" smtClean="0"/>
                        <a:t>(</a:t>
                      </a:r>
                      <a:r>
                        <a:rPr lang="en-US" sz="2800" dirty="0" err="1" smtClean="0"/>
                        <a:t>fname</a:t>
                      </a:r>
                      <a:r>
                        <a:rPr lang="en-US" sz="2800" dirty="0" smtClean="0"/>
                        <a:t>, dpi=None, </a:t>
                      </a:r>
                      <a:r>
                        <a:rPr lang="en-US" sz="2800" dirty="0" err="1" smtClean="0"/>
                        <a:t>facecolor</a:t>
                      </a:r>
                      <a:r>
                        <a:rPr lang="en-US" sz="2800" dirty="0" smtClean="0"/>
                        <a:t>='w', </a:t>
                      </a:r>
                      <a:r>
                        <a:rPr lang="en-US" sz="2800" dirty="0" err="1" smtClean="0"/>
                        <a:t>edgecolor</a:t>
                      </a:r>
                      <a:r>
                        <a:rPr lang="en-US" sz="2800" dirty="0" smtClean="0"/>
                        <a:t>='w', orientation='portrait', </a:t>
                      </a:r>
                      <a:r>
                        <a:rPr lang="en-US" sz="2800" dirty="0" err="1" smtClean="0"/>
                        <a:t>papertype</a:t>
                      </a:r>
                      <a:r>
                        <a:rPr lang="en-US" sz="2800" dirty="0" smtClean="0"/>
                        <a:t>=None, format=None, transparent=False, </a:t>
                      </a:r>
                      <a:r>
                        <a:rPr lang="en-US" sz="2800" dirty="0" err="1" smtClean="0"/>
                        <a:t>bbox_inches</a:t>
                      </a:r>
                      <a:r>
                        <a:rPr lang="en-US" sz="2800" dirty="0" smtClean="0"/>
                        <a:t>=None, </a:t>
                      </a:r>
                      <a:r>
                        <a:rPr lang="en-US" sz="2800" dirty="0" err="1" smtClean="0"/>
                        <a:t>pad_inches</a:t>
                      </a:r>
                      <a:r>
                        <a:rPr lang="en-US" sz="2800" dirty="0" smtClean="0"/>
                        <a:t>=0.1, </a:t>
                      </a:r>
                      <a:r>
                        <a:rPr lang="en-US" sz="2800" dirty="0" err="1" smtClean="0"/>
                        <a:t>frameon</a:t>
                      </a:r>
                      <a:r>
                        <a:rPr lang="en-US" sz="2800" dirty="0" smtClean="0"/>
                        <a:t>=None)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Сохраняет текущее изображение в файл </a:t>
                      </a:r>
                      <a:r>
                        <a:rPr lang="en-US" sz="2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fname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</a:p>
                    <a:p>
                      <a:r>
                        <a:rPr lang="ru-RU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Доп. Можно установить: </a:t>
                      </a:r>
                      <a:r>
                        <a:rPr lang="ru-RU" sz="2800" b="0" i="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dpi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ru-RU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англ.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Dots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Inch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количество точек на дюйм), ориентацию (альбомная или портретная), прозрачность, отступы и т.д.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24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31321" y="1243006"/>
            <a:ext cx="6206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Заголовок диаграммы и подписи осей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2270"/>
              </p:ext>
            </p:extLst>
          </p:nvPr>
        </p:nvGraphicFramePr>
        <p:xfrm>
          <a:off x="241540" y="1914154"/>
          <a:ext cx="11697418" cy="423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04317"/>
                <a:gridCol w="5193101"/>
              </a:tblGrid>
              <a:tr h="6041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set_title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fontdict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='center'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Установить заголовок диаграммы.</a:t>
                      </a:r>
                    </a:p>
                    <a:p>
                      <a:r>
                        <a:rPr lang="ru-RU" sz="2600" dirty="0" smtClean="0"/>
                        <a:t>Обязательный </a:t>
                      </a:r>
                      <a:r>
                        <a:rPr lang="ru-RU" sz="2600" dirty="0" err="1" smtClean="0"/>
                        <a:t>параметр:label</a:t>
                      </a:r>
                      <a:r>
                        <a:rPr lang="ru-RU" sz="2600" dirty="0" smtClean="0"/>
                        <a:t> (</a:t>
                      </a:r>
                      <a:r>
                        <a:rPr lang="ru-RU" sz="2600" dirty="0" err="1" smtClean="0"/>
                        <a:t>str</a:t>
                      </a:r>
                      <a:r>
                        <a:rPr lang="ru-RU" sz="2600" dirty="0" smtClean="0"/>
                        <a:t>) – заголовок диаграммы.</a:t>
                      </a:r>
                    </a:p>
                    <a:p>
                      <a:r>
                        <a:rPr lang="ru-RU" sz="2600" dirty="0" smtClean="0"/>
                        <a:t>Результат</a:t>
                      </a:r>
                      <a:r>
                        <a:rPr lang="en-US" sz="2600" dirty="0" smtClean="0"/>
                        <a:t> - </a:t>
                      </a:r>
                      <a:r>
                        <a:rPr lang="ru-RU" sz="2600" dirty="0" smtClean="0"/>
                        <a:t>текст (класс </a:t>
                      </a:r>
                      <a:r>
                        <a:rPr lang="ru-RU" sz="2600" dirty="0" err="1" smtClean="0"/>
                        <a:t>Text</a:t>
                      </a:r>
                      <a:r>
                        <a:rPr lang="ru-RU" sz="2600" dirty="0" smtClean="0"/>
                        <a:t>).</a:t>
                      </a:r>
                      <a:endParaRPr lang="ru-RU" sz="2600" dirty="0"/>
                    </a:p>
                  </a:txBody>
                  <a:tcPr/>
                </a:tc>
              </a:tr>
              <a:tr h="6041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set_xlabel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fontdict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</a:p>
                    <a:p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labelpad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Установить подпись оси OX.</a:t>
                      </a:r>
                    </a:p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Обязательный параметр:</a:t>
                      </a:r>
                    </a:p>
                    <a:p>
                      <a:r>
                        <a:rPr lang="ru-RU" sz="2600" b="1" dirty="0" err="1" smtClean="0">
                          <a:effectLst/>
                        </a:rPr>
                        <a:t>xlabel</a:t>
                      </a:r>
                      <a:r>
                        <a:rPr lang="ru-RU" sz="2600" dirty="0" smtClean="0">
                          <a:effectLst/>
                        </a:rPr>
                        <a:t> (</a:t>
                      </a:r>
                      <a:r>
                        <a:rPr lang="ru-RU" sz="26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tr"/>
                        </a:rPr>
                        <a:t>str</a:t>
                      </a:r>
                      <a:r>
                        <a:rPr lang="ru-RU" sz="2600" dirty="0" smtClean="0">
                          <a:effectLst/>
                        </a:rPr>
                        <a:t>) – подпись оси OX.</a:t>
                      </a:r>
                      <a:endParaRPr lang="ru-RU" sz="2600" dirty="0"/>
                    </a:p>
                  </a:txBody>
                  <a:tcPr/>
                </a:tc>
              </a:tr>
              <a:tr h="604152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set_ylabel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ylabel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fontdict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</a:p>
                    <a:p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labelpad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=None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8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Установить подпись оси OY.</a:t>
                      </a:r>
                    </a:p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Обязательный параметр:</a:t>
                      </a:r>
                    </a:p>
                    <a:p>
                      <a:r>
                        <a:rPr lang="ru-RU" sz="2600" b="1" dirty="0" err="1" smtClean="0">
                          <a:effectLst/>
                        </a:rPr>
                        <a:t>ylabel</a:t>
                      </a:r>
                      <a:r>
                        <a:rPr lang="ru-RU" sz="2600" dirty="0" smtClean="0">
                          <a:effectLst/>
                        </a:rPr>
                        <a:t> (</a:t>
                      </a:r>
                      <a:r>
                        <a:rPr lang="ru-RU" sz="26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tooltip="str"/>
                        </a:rPr>
                        <a:t>str</a:t>
                      </a:r>
                      <a:r>
                        <a:rPr lang="ru-RU" sz="2600" dirty="0" smtClean="0">
                          <a:effectLst/>
                        </a:rPr>
                        <a:t>) – подпись оси OY.</a:t>
                      </a:r>
                      <a:endParaRPr lang="ru-RU" sz="2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23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31321" y="1243006"/>
            <a:ext cx="6206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Заголовок диаграммы и подписи осей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0" y="1758879"/>
            <a:ext cx="11076317" cy="448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8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14069" y="1095076"/>
            <a:ext cx="6206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Заголовок диаграммы и подписи осей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1618295"/>
            <a:ext cx="6379100" cy="510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4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55276"/>
            <a:ext cx="10593238" cy="939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14069" y="1095076"/>
            <a:ext cx="6579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Координатная сетка и масштабирование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14069" y="2034876"/>
            <a:ext cx="116284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404040"/>
                </a:solidFill>
              </a:rPr>
              <a:t>Координатная плоскость поддерживает настройку</a:t>
            </a:r>
            <a:r>
              <a:rPr lang="ru-RU" sz="2800" dirty="0" smtClean="0">
                <a:solidFill>
                  <a:srgbClr val="404040"/>
                </a:solidFill>
              </a:rPr>
              <a:t>:</a:t>
            </a:r>
            <a:endParaRPr lang="en-US" sz="2800" dirty="0" smtClean="0">
              <a:solidFill>
                <a:srgbClr val="404040"/>
              </a:solidFill>
            </a:endParaRPr>
          </a:p>
          <a:p>
            <a:pPr algn="just"/>
            <a:endParaRPr lang="ru-RU" sz="2800" dirty="0">
              <a:solidFill>
                <a:srgbClr val="40404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координатной сетки (метод </a:t>
            </a:r>
            <a:r>
              <a:rPr lang="en-US" sz="2800" dirty="0" err="1">
                <a:solidFill>
                  <a:srgbClr val="1B7A41"/>
                </a:solidFill>
                <a:hlinkClick r:id="rId3"/>
              </a:rPr>
              <a:t>Axes.grid</a:t>
            </a:r>
            <a:r>
              <a:rPr lang="en-US" sz="2800" dirty="0">
                <a:solidFill>
                  <a:srgbClr val="1B7A41"/>
                </a:solidFill>
                <a:hlinkClick r:id="rId3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соотношения сторон (метод </a:t>
            </a:r>
            <a:r>
              <a:rPr lang="en-US" sz="2800" dirty="0" err="1">
                <a:solidFill>
                  <a:srgbClr val="1B7A41"/>
                </a:solidFill>
                <a:hlinkClick r:id="rId4"/>
              </a:rPr>
              <a:t>Axes.set_aspect</a:t>
            </a:r>
            <a:r>
              <a:rPr lang="en-US" sz="2800" dirty="0">
                <a:solidFill>
                  <a:srgbClr val="1B7A41"/>
                </a:solidFill>
                <a:hlinkClick r:id="rId4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пределов осей (методы </a:t>
            </a:r>
            <a:r>
              <a:rPr lang="en-US" sz="2800" dirty="0" err="1">
                <a:solidFill>
                  <a:srgbClr val="1B7A41"/>
                </a:solidFill>
                <a:hlinkClick r:id="rId5"/>
              </a:rPr>
              <a:t>Axes.set_xlim</a:t>
            </a:r>
            <a:r>
              <a:rPr lang="en-US" sz="2800" dirty="0">
                <a:solidFill>
                  <a:srgbClr val="1B7A41"/>
                </a:solidFill>
                <a:hlinkClick r:id="rId5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 </a:t>
            </a:r>
            <a:r>
              <a:rPr lang="ru-RU" sz="2800" dirty="0">
                <a:solidFill>
                  <a:srgbClr val="404040"/>
                </a:solidFill>
              </a:rPr>
              <a:t>и </a:t>
            </a:r>
            <a:r>
              <a:rPr lang="en-US" sz="2800" dirty="0" err="1">
                <a:solidFill>
                  <a:srgbClr val="1B7A41"/>
                </a:solidFill>
                <a:hlinkClick r:id="rId6"/>
              </a:rPr>
              <a:t>Axes.set_ylim</a:t>
            </a:r>
            <a:r>
              <a:rPr lang="en-US" sz="2800" dirty="0">
                <a:solidFill>
                  <a:srgbClr val="1B7A41"/>
                </a:solidFill>
                <a:hlinkClick r:id="rId6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</a:rPr>
              <a:t>положения линий осей (поле </a:t>
            </a:r>
            <a:r>
              <a:rPr lang="en-US" sz="2800" dirty="0" err="1">
                <a:solidFill>
                  <a:srgbClr val="1B7A41"/>
                </a:solidFill>
                <a:hlinkClick r:id="rId7"/>
              </a:rPr>
              <a:t>Axes.spines</a:t>
            </a:r>
            <a:r>
              <a:rPr lang="en-US" sz="2800" dirty="0">
                <a:solidFill>
                  <a:srgbClr val="404040"/>
                </a:solidFill>
              </a:rPr>
              <a:t> </a:t>
            </a:r>
            <a:r>
              <a:rPr lang="ru-RU" sz="2800" dirty="0">
                <a:solidFill>
                  <a:srgbClr val="404040"/>
                </a:solidFill>
              </a:rPr>
              <a:t>и метод </a:t>
            </a:r>
            <a:r>
              <a:rPr lang="en-US" sz="2800" dirty="0" err="1">
                <a:solidFill>
                  <a:srgbClr val="1B7A41"/>
                </a:solidFill>
                <a:hlinkClick r:id="rId8"/>
              </a:rPr>
              <a:t>Spines.set_position</a:t>
            </a:r>
            <a:r>
              <a:rPr lang="en-US" sz="2800" dirty="0">
                <a:solidFill>
                  <a:srgbClr val="1B7A41"/>
                </a:solidFill>
                <a:hlinkClick r:id="rId8"/>
              </a:rPr>
              <a:t>()</a:t>
            </a:r>
            <a:r>
              <a:rPr lang="en-US" sz="2800" dirty="0">
                <a:solidFill>
                  <a:srgbClr val="404040"/>
                </a:solidFill>
              </a:rPr>
              <a:t>).</a:t>
            </a:r>
            <a:endParaRPr lang="en-US" sz="2800" b="0" i="0" dirty="0">
              <a:solidFill>
                <a:srgbClr val="40404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743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49464"/>
            <a:ext cx="10593238" cy="7188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14069" y="802978"/>
            <a:ext cx="1477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Легенда</a:t>
            </a:r>
            <a:endParaRPr lang="ru-RU" sz="28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14069" y="1260174"/>
            <a:ext cx="11628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/>
              <a:t>Метод</a:t>
            </a:r>
            <a:r>
              <a:rPr lang="ru-RU" sz="2800" dirty="0"/>
              <a:t> </a:t>
            </a:r>
            <a:r>
              <a:rPr lang="en-US" sz="2800" dirty="0" err="1">
                <a:hlinkClick r:id="rId3"/>
              </a:rPr>
              <a:t>Axes.legend</a:t>
            </a:r>
            <a:r>
              <a:rPr lang="en-US" sz="2800" dirty="0" smtClean="0">
                <a:hlinkClick r:id="rId3"/>
              </a:rPr>
              <a:t>()</a:t>
            </a:r>
            <a:r>
              <a:rPr lang="en-US" sz="2800" dirty="0" smtClean="0"/>
              <a:t>)</a:t>
            </a:r>
            <a:r>
              <a:rPr lang="ru-RU" sz="2800" dirty="0" smtClean="0"/>
              <a:t> - размещает </a:t>
            </a:r>
            <a:r>
              <a:rPr lang="ru-RU" sz="2800" dirty="0"/>
              <a:t>легенду на координатной плоскости</a:t>
            </a:r>
            <a:r>
              <a:rPr lang="ru-RU" sz="2800" dirty="0" smtClean="0"/>
              <a:t> </a:t>
            </a:r>
            <a:endParaRPr lang="en-US" sz="2800" b="0" i="0" dirty="0">
              <a:solidFill>
                <a:srgbClr val="404040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783394"/>
            <a:ext cx="5607169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Параметр </a:t>
            </a:r>
            <a:r>
              <a:rPr lang="en-US" sz="2800" dirty="0" err="1" smtClean="0"/>
              <a:t>loc</a:t>
            </a:r>
            <a:r>
              <a:rPr lang="en-US" sz="2800" dirty="0" smtClean="0"/>
              <a:t> - </a:t>
            </a:r>
            <a:r>
              <a:rPr lang="ru-RU" sz="2800" dirty="0" smtClean="0"/>
              <a:t>положение </a:t>
            </a:r>
            <a:r>
              <a:rPr lang="ru-RU" sz="2800" dirty="0"/>
              <a:t>легенды:</a:t>
            </a:r>
          </a:p>
          <a:p>
            <a:r>
              <a:rPr lang="ru-RU" dirty="0" smtClean="0"/>
              <a:t>"</a:t>
            </a:r>
            <a:r>
              <a:rPr lang="en-US" dirty="0"/>
              <a:t>best" (</a:t>
            </a:r>
            <a:r>
              <a:rPr lang="ru-RU" dirty="0"/>
              <a:t>авто-размещение);</a:t>
            </a:r>
          </a:p>
          <a:p>
            <a:r>
              <a:rPr lang="ru-RU" dirty="0" smtClean="0"/>
              <a:t>"</a:t>
            </a:r>
            <a:r>
              <a:rPr lang="en-US" dirty="0"/>
              <a:t>upper right" (</a:t>
            </a:r>
            <a:r>
              <a:rPr lang="ru-RU" dirty="0"/>
              <a:t>по умолчанию),</a:t>
            </a:r>
          </a:p>
          <a:p>
            <a:r>
              <a:rPr lang="ru-RU" dirty="0" smtClean="0"/>
              <a:t>"</a:t>
            </a:r>
            <a:r>
              <a:rPr lang="en-US" dirty="0"/>
              <a:t>upper left";</a:t>
            </a:r>
          </a:p>
          <a:p>
            <a:r>
              <a:rPr lang="en-US" dirty="0" smtClean="0"/>
              <a:t>"</a:t>
            </a:r>
            <a:r>
              <a:rPr lang="en-US" dirty="0"/>
              <a:t>lower left";</a:t>
            </a:r>
          </a:p>
          <a:p>
            <a:r>
              <a:rPr lang="en-US" dirty="0" smtClean="0"/>
              <a:t>"</a:t>
            </a:r>
            <a:r>
              <a:rPr lang="en-US" dirty="0"/>
              <a:t>lower right";</a:t>
            </a:r>
          </a:p>
          <a:p>
            <a:r>
              <a:rPr lang="en-US" dirty="0" smtClean="0"/>
              <a:t>"</a:t>
            </a:r>
            <a:r>
              <a:rPr lang="en-US" dirty="0"/>
              <a:t>right";</a:t>
            </a:r>
          </a:p>
          <a:p>
            <a:r>
              <a:rPr lang="en-US" dirty="0" smtClean="0"/>
              <a:t>"</a:t>
            </a:r>
            <a:r>
              <a:rPr lang="en-US" dirty="0"/>
              <a:t>center left";</a:t>
            </a:r>
          </a:p>
          <a:p>
            <a:r>
              <a:rPr lang="en-US" dirty="0" smtClean="0"/>
              <a:t>"</a:t>
            </a:r>
            <a:r>
              <a:rPr lang="en-US" dirty="0"/>
              <a:t>center right";</a:t>
            </a:r>
          </a:p>
          <a:p>
            <a:r>
              <a:rPr lang="en-US" dirty="0" smtClean="0"/>
              <a:t>"</a:t>
            </a:r>
            <a:r>
              <a:rPr lang="en-US" dirty="0"/>
              <a:t>lower center";</a:t>
            </a:r>
          </a:p>
          <a:p>
            <a:r>
              <a:rPr lang="en-US" dirty="0" smtClean="0"/>
              <a:t>"</a:t>
            </a:r>
            <a:r>
              <a:rPr lang="en-US" dirty="0"/>
              <a:t>upper center";</a:t>
            </a:r>
          </a:p>
          <a:p>
            <a:r>
              <a:rPr lang="en-US" dirty="0" smtClean="0"/>
              <a:t>"</a:t>
            </a:r>
            <a:r>
              <a:rPr lang="en-US" dirty="0"/>
              <a:t>center".</a:t>
            </a:r>
            <a:endParaRPr lang="ru-RU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925" y="1830320"/>
            <a:ext cx="6504316" cy="1054270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364" y="2814608"/>
            <a:ext cx="5032986" cy="397768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972562" y="3321745"/>
            <a:ext cx="39398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ax.legend</a:t>
            </a:r>
            <a:r>
              <a:rPr lang="en-US" sz="2400" dirty="0"/>
              <a:t>([line1, line2, line3], </a:t>
            </a:r>
            <a:endParaRPr lang="en-US" sz="2400" dirty="0" smtClean="0"/>
          </a:p>
          <a:p>
            <a:r>
              <a:rPr lang="en-US" sz="2400" dirty="0" smtClean="0"/>
              <a:t>[</a:t>
            </a:r>
            <a:r>
              <a:rPr lang="en-US" sz="2400" dirty="0"/>
              <a:t>'label1', 'label2', 'label3'])</a:t>
            </a:r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972562" y="4722409"/>
            <a:ext cx="49064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line1, = </a:t>
            </a:r>
            <a:r>
              <a:rPr lang="en-US" sz="2400" dirty="0" err="1"/>
              <a:t>ax.plot</a:t>
            </a:r>
            <a:r>
              <a:rPr lang="en-US" sz="2400" dirty="0"/>
              <a:t>([1, 2, 3], label='label1')</a:t>
            </a:r>
          </a:p>
          <a:p>
            <a:r>
              <a:rPr lang="en-US" sz="2400" dirty="0"/>
              <a:t>line2, = </a:t>
            </a:r>
            <a:r>
              <a:rPr lang="en-US" sz="2400" dirty="0" err="1"/>
              <a:t>ax.plot</a:t>
            </a:r>
            <a:r>
              <a:rPr lang="en-US" sz="2400" dirty="0"/>
              <a:t>([1, 2, 3], label='label2')</a:t>
            </a:r>
          </a:p>
          <a:p>
            <a:r>
              <a:rPr lang="en-US" sz="2400" dirty="0" err="1"/>
              <a:t>ax.legend</a:t>
            </a:r>
            <a:r>
              <a:rPr lang="en-US" sz="2400" dirty="0"/>
              <a:t>(handles=[line1, line2])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7033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149464"/>
            <a:ext cx="10593238" cy="7188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868270"/>
            <a:ext cx="7695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Текст и </a:t>
            </a:r>
            <a:r>
              <a:rPr lang="ru-RU" sz="2800" b="1" dirty="0" smtClean="0"/>
              <a:t>аннотации (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поддерживается </a:t>
            </a:r>
            <a:r>
              <a:rPr lang="ru-RU" sz="2800" dirty="0"/>
              <a:t>формат </a:t>
            </a:r>
            <a:r>
              <a:rPr lang="ru-RU" sz="2800" dirty="0" err="1">
                <a:hlinkClick r:id="rId3"/>
              </a:rPr>
              <a:t>TeX</a:t>
            </a:r>
            <a:r>
              <a:rPr lang="ru-RU" sz="2800" b="1" dirty="0" smtClean="0"/>
              <a:t>)</a:t>
            </a:r>
            <a:endParaRPr lang="ru-RU" sz="2800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41540" y="1285219"/>
            <a:ext cx="111625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произвольный текст (метод </a:t>
            </a:r>
            <a:r>
              <a:rPr lang="ru-RU" sz="2800" dirty="0" err="1">
                <a:solidFill>
                  <a:srgbClr val="1B7A41"/>
                </a:solidFill>
                <a:latin typeface="Lato" panose="020F0502020204030203" pitchFamily="34" charset="0"/>
                <a:hlinkClick r:id="rId4"/>
              </a:rPr>
              <a:t>Axes.text</a:t>
            </a:r>
            <a:r>
              <a:rPr lang="ru-RU" sz="2800" dirty="0" smtClean="0">
                <a:solidFill>
                  <a:srgbClr val="1B7A41"/>
                </a:solidFill>
                <a:latin typeface="Lato" panose="020F0502020204030203" pitchFamily="34" charset="0"/>
                <a:hlinkClick r:id="rId4"/>
              </a:rPr>
              <a:t>()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);</a:t>
            </a:r>
            <a:endParaRPr lang="ru-RU" sz="2800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аннотаци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я</a:t>
            </a:r>
            <a:r>
              <a:rPr lang="ru-RU" sz="2800" dirty="0" smtClean="0">
                <a:solidFill>
                  <a:srgbClr val="404040"/>
                </a:solidFill>
                <a:latin typeface="Lato" panose="020F0502020204030203" pitchFamily="34" charset="0"/>
              </a:rPr>
              <a:t> 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(метод </a:t>
            </a:r>
            <a:r>
              <a:rPr lang="ru-RU" sz="2800" dirty="0" err="1">
                <a:solidFill>
                  <a:srgbClr val="1B7A41"/>
                </a:solidFill>
                <a:latin typeface="Lato" panose="020F0502020204030203" pitchFamily="34" charset="0"/>
                <a:hlinkClick r:id="rId5"/>
              </a:rPr>
              <a:t>Axes.annotate</a:t>
            </a:r>
            <a:r>
              <a:rPr lang="ru-RU" sz="2800" dirty="0">
                <a:solidFill>
                  <a:srgbClr val="1B7A41"/>
                </a:solidFill>
                <a:latin typeface="Lato" panose="020F0502020204030203" pitchFamily="34" charset="0"/>
                <a:hlinkClick r:id="rId5"/>
              </a:rPr>
              <a:t>()</a:t>
            </a:r>
            <a:r>
              <a:rPr lang="ru-RU" sz="2800" dirty="0">
                <a:solidFill>
                  <a:srgbClr val="404040"/>
                </a:solidFill>
                <a:latin typeface="Lato" panose="020F0502020204030203" pitchFamily="34" charset="0"/>
              </a:rPr>
              <a:t>).</a:t>
            </a:r>
            <a:endParaRPr lang="ru-RU" sz="28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596573"/>
              </p:ext>
            </p:extLst>
          </p:nvPr>
        </p:nvGraphicFramePr>
        <p:xfrm>
          <a:off x="207035" y="2255918"/>
          <a:ext cx="1195046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91110"/>
                <a:gridCol w="97593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text(x, y, s, </a:t>
                      </a:r>
                      <a:r>
                        <a:rPr lang="en-US" sz="2400" dirty="0" err="1" smtClean="0"/>
                        <a:t>fontdict</a:t>
                      </a:r>
                      <a:r>
                        <a:rPr lang="en-US" sz="2400" dirty="0" smtClean="0"/>
                        <a:t>=None, </a:t>
                      </a:r>
                      <a:r>
                        <a:rPr lang="en-US" sz="2400" dirty="0" err="1" smtClean="0"/>
                        <a:t>withdash</a:t>
                      </a:r>
                      <a:r>
                        <a:rPr lang="en-US" sz="2400" dirty="0" smtClean="0"/>
                        <a:t>=False, **</a:t>
                      </a:r>
                      <a:r>
                        <a:rPr lang="en-US" sz="2400" dirty="0" err="1" smtClean="0"/>
                        <a:t>kwargs</a:t>
                      </a:r>
                      <a:r>
                        <a:rPr lang="en-US" sz="2400" dirty="0" smtClean="0"/>
                        <a:t>)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Добавляет текст s на координатную плоскость в координаты (x, y) (левый верхний угол).</a:t>
                      </a:r>
                    </a:p>
                    <a:p>
                      <a:r>
                        <a:rPr lang="ru-RU" sz="2400" dirty="0" smtClean="0"/>
                        <a:t>Возможные ключи **</a:t>
                      </a:r>
                      <a:r>
                        <a:rPr lang="ru-RU" sz="2400" dirty="0" err="1" smtClean="0"/>
                        <a:t>kwargs</a:t>
                      </a:r>
                      <a:r>
                        <a:rPr lang="ru-RU" sz="2400" dirty="0" smtClean="0"/>
                        <a:t> - свойства текстового объекта 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(класс </a:t>
                      </a:r>
                      <a:r>
                        <a:rPr lang="en-US" sz="2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Text</a:t>
                      </a:r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2400" dirty="0" smtClean="0"/>
                        <a:t>, определяющие отображение текста.</a:t>
                      </a:r>
                      <a:endParaRPr lang="ru-RU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annotate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sz="24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1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r>
                        <a:rPr lang="en-US" sz="2400" b="1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kwargs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Добавляет аннотацию s на координатную плоскость в координаты (x, y).</a:t>
                      </a:r>
                    </a:p>
                    <a:p>
                      <a:r>
                        <a:rPr lang="ru-RU" sz="2400" b="1" dirty="0" smtClean="0">
                          <a:effectLst/>
                        </a:rPr>
                        <a:t>s</a:t>
                      </a:r>
                      <a:r>
                        <a:rPr lang="ru-RU" sz="2400" dirty="0" smtClean="0">
                          <a:effectLst/>
                        </a:rPr>
                        <a:t> (</a:t>
                      </a:r>
                      <a:r>
                        <a:rPr lang="ru-RU" sz="24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tooltip="str"/>
                        </a:rPr>
                        <a:t>str</a:t>
                      </a:r>
                      <a:r>
                        <a:rPr lang="ru-RU" sz="2400" dirty="0" smtClean="0">
                          <a:effectLst/>
                        </a:rPr>
                        <a:t>) – текст аннотации;</a:t>
                      </a:r>
                    </a:p>
                    <a:p>
                      <a:r>
                        <a:rPr lang="ru-RU" sz="2400" b="1" dirty="0" err="1" smtClean="0">
                          <a:effectLst/>
                        </a:rPr>
                        <a:t>xy</a:t>
                      </a:r>
                      <a:r>
                        <a:rPr lang="ru-RU" sz="2400" dirty="0" smtClean="0">
                          <a:effectLst/>
                        </a:rPr>
                        <a:t> – координаты точки аннотации;</a:t>
                      </a:r>
                    </a:p>
                    <a:p>
                      <a:r>
                        <a:rPr lang="ru-RU" sz="2400" b="1" dirty="0" err="1" smtClean="0">
                          <a:effectLst/>
                        </a:rPr>
                        <a:t>xytext</a:t>
                      </a:r>
                      <a:r>
                        <a:rPr lang="ru-RU" sz="2400" dirty="0" smtClean="0">
                          <a:effectLst/>
                        </a:rPr>
                        <a:t>  – координаты текста аннотации (по умолчанию „</a:t>
                      </a:r>
                      <a:r>
                        <a:rPr lang="ru-RU" sz="2400" dirty="0" err="1" smtClean="0">
                          <a:effectLst/>
                        </a:rPr>
                        <a:t>xy</a:t>
                      </a:r>
                      <a:r>
                        <a:rPr lang="ru-RU" sz="2400" dirty="0" smtClean="0">
                          <a:effectLst/>
                        </a:rPr>
                        <a:t>“, левый верхний угол);</a:t>
                      </a:r>
                    </a:p>
                    <a:p>
                      <a:r>
                        <a:rPr lang="ru-RU" sz="2400" b="1" dirty="0" err="1" smtClean="0">
                          <a:effectLst/>
                        </a:rPr>
                        <a:t>arrowprops</a:t>
                      </a:r>
                      <a:r>
                        <a:rPr lang="ru-RU" sz="2400" dirty="0" smtClean="0">
                          <a:effectLst/>
                        </a:rPr>
                        <a:t> (</a:t>
                      </a:r>
                      <a:r>
                        <a:rPr lang="ru-RU" sz="240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 tooltip="dict"/>
                        </a:rPr>
                        <a:t>dict</a:t>
                      </a:r>
                      <a:r>
                        <a:rPr lang="ru-RU" sz="2400" dirty="0" smtClean="0">
                          <a:effectLst/>
                        </a:rPr>
                        <a:t>) – свойства стрелки-указателя на аннотацию.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30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30212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Текст и </a:t>
            </a:r>
            <a:r>
              <a:rPr lang="ru-RU" sz="2800" b="1" dirty="0" smtClean="0"/>
              <a:t>аннотации</a:t>
            </a:r>
            <a:endParaRPr lang="ru-RU" sz="2800" b="1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1061594"/>
            <a:ext cx="11226001" cy="1560835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2524597"/>
            <a:ext cx="5365630" cy="433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7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3394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Несколько графиков</a:t>
            </a:r>
            <a:endParaRPr lang="ru-RU" sz="2800" b="1" dirty="0"/>
          </a:p>
        </p:txBody>
      </p:sp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8189"/>
            <a:ext cx="9861604" cy="575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7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3394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Несколько графиков</a:t>
            </a:r>
            <a:endParaRPr lang="ru-RU" sz="28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1382855"/>
            <a:ext cx="112955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fig, (ax1, ax2) = </a:t>
            </a:r>
            <a:r>
              <a:rPr lang="en-US" sz="2800" dirty="0" err="1"/>
              <a:t>plt.subplots</a:t>
            </a:r>
            <a:r>
              <a:rPr lang="en-US" sz="2800" dirty="0"/>
              <a:t>(</a:t>
            </a:r>
            <a:r>
              <a:rPr lang="en-US" sz="2800" dirty="0" err="1"/>
              <a:t>ncols</a:t>
            </a:r>
            <a:r>
              <a:rPr lang="en-US" sz="2800" dirty="0"/>
              <a:t>=2)  # 2 </a:t>
            </a:r>
            <a:r>
              <a:rPr lang="ru-RU" sz="2800" dirty="0"/>
              <a:t>диаграммы по горизонтали</a:t>
            </a:r>
          </a:p>
        </p:txBody>
      </p:sp>
    </p:spTree>
    <p:extLst>
      <p:ext uri="{BB962C8B-B14F-4D97-AF65-F5344CB8AC3E}">
        <p14:creationId xmlns:p14="http://schemas.microsoft.com/office/powerpoint/2010/main" val="153455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1540" y="574969"/>
            <a:ext cx="4322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/>
              <a:t>Основные типы диаграмм</a:t>
            </a:r>
            <a:endParaRPr lang="ru-RU" sz="2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1541" y="1209603"/>
            <a:ext cx="58495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График   </a:t>
            </a:r>
            <a:r>
              <a:rPr lang="en-US" sz="2800" dirty="0" err="1" smtClean="0"/>
              <a:t>Axes.plot</a:t>
            </a:r>
            <a:r>
              <a:rPr lang="en-US" sz="2800" dirty="0" smtClean="0"/>
              <a:t>()</a:t>
            </a:r>
            <a:endParaRPr lang="ru-RU" sz="2800" dirty="0" smtClean="0"/>
          </a:p>
          <a:p>
            <a:endParaRPr lang="en-US" sz="2800" dirty="0"/>
          </a:p>
          <a:p>
            <a:r>
              <a:rPr lang="ru-RU" sz="2800" dirty="0" smtClean="0"/>
              <a:t>Круговая диаграмма    </a:t>
            </a:r>
            <a:r>
              <a:rPr lang="en-US" sz="2800" dirty="0" err="1" smtClean="0"/>
              <a:t>Axes.pie</a:t>
            </a:r>
            <a:r>
              <a:rPr lang="en-US" sz="2800" dirty="0" smtClean="0"/>
              <a:t>()</a:t>
            </a:r>
            <a:endParaRPr lang="ru-RU" sz="2800" dirty="0" smtClean="0"/>
          </a:p>
          <a:p>
            <a:endParaRPr lang="en-US" sz="2800" dirty="0"/>
          </a:p>
          <a:p>
            <a:r>
              <a:rPr lang="ru-RU" sz="2800" dirty="0" smtClean="0"/>
              <a:t>Столбчатая </a:t>
            </a:r>
            <a:r>
              <a:rPr lang="ru-RU" sz="2800" dirty="0"/>
              <a:t>(линейчатая) </a:t>
            </a:r>
            <a:r>
              <a:rPr lang="ru-RU" sz="2800" dirty="0" smtClean="0"/>
              <a:t>диаграмма   </a:t>
            </a:r>
          </a:p>
          <a:p>
            <a:r>
              <a:rPr lang="en-US" sz="2800" dirty="0" err="1" smtClean="0"/>
              <a:t>Axes.bar</a:t>
            </a:r>
            <a:r>
              <a:rPr lang="en-US" sz="2800" dirty="0"/>
              <a:t>(), </a:t>
            </a:r>
            <a:r>
              <a:rPr lang="en-US" sz="2800" dirty="0" err="1"/>
              <a:t>Axes.barh</a:t>
            </a:r>
            <a:r>
              <a:rPr lang="en-US" sz="2800" dirty="0" smtClean="0"/>
              <a:t>()</a:t>
            </a:r>
            <a:endParaRPr lang="ru-RU" sz="2800" dirty="0" smtClean="0"/>
          </a:p>
          <a:p>
            <a:endParaRPr lang="en-US" sz="2800" dirty="0"/>
          </a:p>
          <a:p>
            <a:r>
              <a:rPr lang="ru-RU" sz="2800" dirty="0" smtClean="0"/>
              <a:t>Гистограмма     </a:t>
            </a:r>
            <a:r>
              <a:rPr lang="en-US" sz="2800" dirty="0" err="1" smtClean="0"/>
              <a:t>Axes.hist</a:t>
            </a:r>
            <a:r>
              <a:rPr lang="en-US" sz="2800" dirty="0" smtClean="0"/>
              <a:t>()</a:t>
            </a:r>
            <a:endParaRPr lang="en-US" sz="2800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750" y="836579"/>
            <a:ext cx="525853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9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241"/>
            <a:ext cx="6519605" cy="5145292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707" y="663327"/>
            <a:ext cx="6743293" cy="370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5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</a:t>
            </a:r>
            <a:r>
              <a:rPr lang="ru-RU" dirty="0" smtClean="0"/>
              <a:t>изуализация </a:t>
            </a:r>
            <a:r>
              <a:rPr lang="ru-RU" dirty="0"/>
              <a:t>данных</a:t>
            </a:r>
            <a:r>
              <a:rPr lang="en-US" dirty="0" smtClean="0"/>
              <a:t>- </a:t>
            </a:r>
            <a:r>
              <a:rPr lang="ru-RU" dirty="0"/>
              <a:t>библиотека </a:t>
            </a:r>
            <a:r>
              <a:rPr lang="en-US" dirty="0" err="1" smtClean="0"/>
              <a:t>matplotlib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27" y="818785"/>
            <a:ext cx="642074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0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9392" y="28693"/>
            <a:ext cx="887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4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-1"/>
            <a:ext cx="12055151" cy="130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Стандартная библиотека </a:t>
            </a:r>
            <a:r>
              <a:rPr lang="ru-RU" dirty="0" smtClean="0"/>
              <a:t>Python</a:t>
            </a:r>
            <a:r>
              <a:rPr lang="en-US" dirty="0" smtClean="0"/>
              <a:t> - </a:t>
            </a:r>
            <a:r>
              <a:rPr lang="ru-RU" dirty="0"/>
              <a:t>Платформа и операционная система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178193"/>
              </p:ext>
            </p:extLst>
          </p:nvPr>
        </p:nvGraphicFramePr>
        <p:xfrm>
          <a:off x="169947" y="1484436"/>
          <a:ext cx="11754830" cy="4876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08957">
                  <a:extLst>
                    <a:ext uri="{9D8B030D-6E8A-4147-A177-3AD203B41FA5}">
                      <a16:colId xmlns="" xmlns:a16="http://schemas.microsoft.com/office/drawing/2014/main" val="1961690123"/>
                    </a:ext>
                  </a:extLst>
                </a:gridCol>
                <a:gridCol w="10045873">
                  <a:extLst>
                    <a:ext uri="{9D8B030D-6E8A-4147-A177-3AD203B41FA5}">
                      <a16:colId xmlns="" xmlns:a16="http://schemas.microsoft.com/office/drawing/2014/main" val="364366179"/>
                    </a:ext>
                  </a:extLst>
                </a:gridCol>
              </a:tblGrid>
              <a:tr h="601148">
                <a:tc>
                  <a:txBody>
                    <a:bodyPr/>
                    <a:lstStyle/>
                    <a:p>
                      <a:pPr algn="just"/>
                      <a:r>
                        <a:rPr lang="ru-RU" sz="2400" b="1">
                          <a:effectLst/>
                        </a:rPr>
                        <a:t>Модуль / Пакет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b="1">
                          <a:effectLst/>
                        </a:rPr>
                        <a:t>Описание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42664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3"/>
                        </a:rPr>
                        <a:t>sys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Переменные и функции, которые используются/взаимодействуют с интерпретатором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78961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4"/>
                        </a:rPr>
                        <a:t>platform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Низкоуровневая информация о платформе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572929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os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Унифицированный способ доступа к системным функциям для разных платформ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208334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5"/>
                        </a:rPr>
                        <a:t>os.path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Функции для работы с именами путей в ОС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376764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6"/>
                        </a:rPr>
                        <a:t>shutil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Высокоуровневые операции с файлами (копирование, удаление и др.)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182603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7"/>
                        </a:rPr>
                        <a:t>subprocess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>
                          <a:effectLst/>
                        </a:rPr>
                        <a:t>Запуск процессов, присоединение к потокам их ввода/вывода и получение кодов возврата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3921093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400" u="none" strike="noStrike">
                          <a:solidFill>
                            <a:srgbClr val="1B7A41"/>
                          </a:solidFill>
                          <a:effectLst/>
                          <a:hlinkClick r:id="rId8"/>
                        </a:rPr>
                        <a:t>glob</a:t>
                      </a:r>
                      <a:endParaRPr lang="en-US" sz="240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2400" dirty="0">
                          <a:effectLst/>
                        </a:rPr>
                        <a:t>Поиск путей по заданной маске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="" xmlns:a16="http://schemas.microsoft.com/office/drawing/2014/main" val="8415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22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055151" cy="8395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/>
              <a:t>Стандартная библиотека </a:t>
            </a:r>
            <a:r>
              <a:rPr lang="ru-RU" sz="4400" dirty="0" smtClean="0"/>
              <a:t>Python</a:t>
            </a:r>
            <a:r>
              <a:rPr lang="en-US" sz="4400" dirty="0" smtClean="0"/>
              <a:t> - </a:t>
            </a:r>
            <a:r>
              <a:rPr lang="ru-RU" sz="4400" dirty="0"/>
              <a:t>Платформа и операционная система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367286"/>
              </p:ext>
            </p:extLst>
          </p:nvPr>
        </p:nvGraphicFramePr>
        <p:xfrm>
          <a:off x="143013" y="839586"/>
          <a:ext cx="11912138" cy="59353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1604">
                  <a:extLst>
                    <a:ext uri="{9D8B030D-6E8A-4147-A177-3AD203B41FA5}">
                      <a16:colId xmlns="" xmlns:a16="http://schemas.microsoft.com/office/drawing/2014/main" val="1961690123"/>
                    </a:ext>
                  </a:extLst>
                </a:gridCol>
                <a:gridCol w="8770534">
                  <a:extLst>
                    <a:ext uri="{9D8B030D-6E8A-4147-A177-3AD203B41FA5}">
                      <a16:colId xmlns="" xmlns:a16="http://schemas.microsoft.com/office/drawing/2014/main" val="364366179"/>
                    </a:ext>
                  </a:extLst>
                </a:gridCol>
              </a:tblGrid>
              <a:tr h="6011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platform.machine()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тип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машины, например, 'i386'. Если определить не возможно, возвращается пустая строка.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664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platform.node()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сетевое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имя машины. Если определить не возможно, возвращается пустая строка.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78961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platform.platform(aliased=0, terse=0)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имя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платформы в «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человекочитаемом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» виде, например: 'Windows-10-10.0.14393-SP0'.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572929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platform.processor()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наименование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процессора, например: 'Intel64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Family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58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Stepping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9,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GenuineIntel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8334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platform.system()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название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операционной системы, например: '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76764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platform.version()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версию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операционной системы, например: '10.0.14393'.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82603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platform.uname()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именованный 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кортеж из результатов вызова функций: (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release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version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ru-RU" sz="2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processor</a:t>
                      </a:r>
                      <a:r>
                        <a:rPr lang="ru-RU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()).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21093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88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Конвертер римских/арабских чисел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89098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rgbClr val="404040"/>
                </a:solidFill>
                <a:latin typeface="Lato" panose="020F0502020204030203" pitchFamily="34" charset="0"/>
              </a:rPr>
              <a:t>Установка:</a:t>
            </a:r>
            <a:endParaRPr lang="en-US" dirty="0" smtClean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$ </a:t>
            </a:r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pip install </a:t>
            </a:r>
            <a:r>
              <a:rPr 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py-romanify</a:t>
            </a:r>
            <a:endParaRPr lang="en-US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Или из </a:t>
            </a:r>
            <a:r>
              <a:rPr 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git</a:t>
            </a:r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 :</a:t>
            </a:r>
          </a:p>
          <a:p>
            <a:endParaRPr lang="en-US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$ </a:t>
            </a:r>
            <a:r>
              <a:rPr 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git</a:t>
            </a:r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</a:rPr>
              <a:t> clone https://</a:t>
            </a:r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github.com/peter-lisak/py-romanify.git</a:t>
            </a:r>
          </a:p>
          <a:p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$ python setup.py install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17" y="3233698"/>
            <a:ext cx="5529706" cy="1109702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179" y="3676610"/>
            <a:ext cx="990081" cy="666790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17" y="4560256"/>
            <a:ext cx="5202574" cy="1554793"/>
          </a:xfrm>
          <a:prstGeom prst="rect">
            <a:avLst/>
          </a:prstGeom>
        </p:spPr>
      </p:pic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179" y="5337652"/>
            <a:ext cx="1196243" cy="64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9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Генератор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41540" y="8909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 Установка:</a:t>
            </a:r>
            <a:endParaRPr lang="en-US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endParaRPr lang="ru-RU" dirty="0" smtClean="0">
              <a:latin typeface="Lato" panose="020F0502020204030203" pitchFamily="34" charset="0"/>
            </a:endParaRPr>
          </a:p>
          <a:p>
            <a:r>
              <a:rPr lang="en-US" dirty="0" smtClean="0">
                <a:latin typeface="Lato" panose="020F0502020204030203" pitchFamily="34" charset="0"/>
              </a:rPr>
              <a:t>$ </a:t>
            </a:r>
            <a:r>
              <a:rPr lang="en-US" dirty="0">
                <a:latin typeface="Lato" panose="020F0502020204030203" pitchFamily="34" charset="0"/>
              </a:rPr>
              <a:t>pip install </a:t>
            </a:r>
            <a:r>
              <a:rPr lang="en-US" dirty="0" err="1" smtClean="0">
                <a:latin typeface="Lato" panose="020F0502020204030203" pitchFamily="34" charset="0"/>
              </a:rPr>
              <a:t>pyqrcode</a:t>
            </a:r>
            <a:r>
              <a:rPr lang="ru-RU" dirty="0">
                <a:solidFill>
                  <a:srgbClr val="404040"/>
                </a:solidFill>
                <a:latin typeface="Lato" panose="020F0502020204030203" pitchFamily="34" charset="0"/>
              </a:rPr>
              <a:t> 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27257" y="909486"/>
            <a:ext cx="67027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04040"/>
                </a:solidFill>
                <a:latin typeface="Lato" panose="020F0502020204030203" pitchFamily="34" charset="0"/>
              </a:rPr>
              <a:t>Написан на чистом </a:t>
            </a:r>
            <a:r>
              <a:rPr lang="en-US" dirty="0" smtClean="0">
                <a:solidFill>
                  <a:srgbClr val="404040"/>
                </a:solidFill>
                <a:latin typeface="Lato" panose="020F0502020204030203" pitchFamily="34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ru-RU" dirty="0" err="1"/>
              <a:t>ледует</a:t>
            </a:r>
            <a:r>
              <a:rPr lang="ru-RU" dirty="0"/>
              <a:t> стандарту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QR-коды </a:t>
            </a:r>
            <a:r>
              <a:rPr lang="ru-RU" dirty="0"/>
              <a:t>можно сохранять в форматах SVG, PNG (с помощью модуля </a:t>
            </a:r>
            <a:r>
              <a:rPr lang="ru-RU" dirty="0" err="1">
                <a:hlinkClick r:id="rId3"/>
              </a:rPr>
              <a:t>pypng</a:t>
            </a:r>
            <a:r>
              <a:rPr lang="ru-RU" dirty="0"/>
              <a:t> ) и в виде обычного текста.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Их </a:t>
            </a:r>
            <a:r>
              <a:rPr lang="ru-RU" dirty="0"/>
              <a:t>также можно отображать непосредственно в большинстве эмуляторов терминала </a:t>
            </a:r>
            <a:r>
              <a:rPr lang="ru-RU" dirty="0" err="1"/>
              <a:t>Linux</a:t>
            </a:r>
            <a:r>
              <a:rPr lang="ru-RU" dirty="0"/>
              <a:t>. </a:t>
            </a:r>
            <a:endParaRPr lang="en-US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241540" y="2676720"/>
            <a:ext cx="3638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Создание </a:t>
            </a:r>
            <a:r>
              <a:rPr lang="en-US" dirty="0"/>
              <a:t>QR-</a:t>
            </a:r>
            <a:r>
              <a:rPr lang="ru-RU" dirty="0"/>
              <a:t>кода для </a:t>
            </a:r>
            <a:r>
              <a:rPr lang="en-US" dirty="0"/>
              <a:t>URL-</a:t>
            </a:r>
            <a:r>
              <a:rPr lang="ru-RU" dirty="0" smtClean="0"/>
              <a:t>адреса:</a:t>
            </a:r>
            <a:endParaRPr lang="ru-RU" b="1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3278687"/>
            <a:ext cx="7228935" cy="2054123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010" y="2633920"/>
            <a:ext cx="3064028" cy="367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634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Генератор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663326"/>
            <a:ext cx="11627074" cy="99294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2" y="1794459"/>
            <a:ext cx="5658502" cy="448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5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14377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Настольные </a:t>
            </a:r>
            <a:r>
              <a:rPr lang="ru-RU" dirty="0" smtClean="0"/>
              <a:t>приложения</a:t>
            </a:r>
            <a:r>
              <a:rPr lang="en-US" dirty="0" smtClean="0"/>
              <a:t> – </a:t>
            </a:r>
            <a:r>
              <a:rPr lang="ru-RU" dirty="0" smtClean="0"/>
              <a:t>библиотеки для приложений с графическим интерфейсом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9562" y="1466491"/>
            <a:ext cx="1045521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Tkinter</a:t>
            </a:r>
            <a:r>
              <a:rPr lang="en-US" sz="2400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https://wiki.python.org/moin/TkInter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https://ru.wikipedia.org/wiki/Tkinter</a:t>
            </a:r>
          </a:p>
          <a:p>
            <a:endParaRPr lang="en-US" sz="2400" dirty="0"/>
          </a:p>
          <a:p>
            <a:r>
              <a:rPr lang="en-US" sz="2400" b="1" dirty="0" err="1"/>
              <a:t>Qt</a:t>
            </a:r>
            <a:r>
              <a:rPr lang="en-US" sz="2400" b="1" dirty="0"/>
              <a:t> Framework</a:t>
            </a:r>
            <a:r>
              <a:rPr lang="en-US" sz="2400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http://www.qt.io/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https://ru.wikipedia.org/wiki/Qt</a:t>
            </a:r>
          </a:p>
          <a:p>
            <a:r>
              <a:rPr lang="ru-RU" sz="2400" dirty="0" smtClean="0"/>
              <a:t>Привязки</a:t>
            </a:r>
            <a:r>
              <a:rPr lang="ru-RU" sz="2400" dirty="0"/>
              <a:t>: </a:t>
            </a:r>
            <a:r>
              <a:rPr lang="en-US" sz="2400" dirty="0" err="1"/>
              <a:t>PySide</a:t>
            </a:r>
            <a:r>
              <a:rPr lang="en-US" sz="2400" dirty="0"/>
              <a:t> (</a:t>
            </a:r>
            <a:r>
              <a:rPr lang="ru-RU" sz="2400" dirty="0"/>
              <a:t>оф. сайт, вики) и </a:t>
            </a:r>
            <a:r>
              <a:rPr lang="en-US" sz="2400" dirty="0" err="1"/>
              <a:t>PyQt</a:t>
            </a:r>
            <a:r>
              <a:rPr lang="en-US" sz="2400" dirty="0"/>
              <a:t> (</a:t>
            </a:r>
            <a:r>
              <a:rPr lang="ru-RU" sz="2400" dirty="0"/>
              <a:t>оф. сайт, вики)</a:t>
            </a:r>
          </a:p>
        </p:txBody>
      </p:sp>
    </p:spTree>
    <p:extLst>
      <p:ext uri="{BB962C8B-B14F-4D97-AF65-F5344CB8AC3E}">
        <p14:creationId xmlns:p14="http://schemas.microsoft.com/office/powerpoint/2010/main" val="127665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14377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Настольные </a:t>
            </a:r>
            <a:r>
              <a:rPr lang="ru-RU" dirty="0" smtClean="0"/>
              <a:t>приложения</a:t>
            </a:r>
            <a:r>
              <a:rPr lang="en-US" dirty="0" smtClean="0"/>
              <a:t> – </a:t>
            </a:r>
            <a:r>
              <a:rPr lang="ru-RU" dirty="0" smtClean="0"/>
              <a:t>библиотеки для приложений с графическим интерфейсом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96814" y="1708031"/>
            <a:ext cx="70736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GTK: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http://www.gtk.org/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https://ru.wikipedia.org/wiki/GTK</a:t>
            </a:r>
          </a:p>
          <a:p>
            <a:r>
              <a:rPr lang="ru-RU" sz="2400" dirty="0" smtClean="0"/>
              <a:t>Привязки</a:t>
            </a:r>
            <a:r>
              <a:rPr lang="ru-RU" sz="2400" dirty="0"/>
              <a:t>: </a:t>
            </a:r>
            <a:r>
              <a:rPr lang="en-US" sz="2400" dirty="0" err="1"/>
              <a:t>PyGTK</a:t>
            </a:r>
            <a:r>
              <a:rPr lang="en-US" sz="2400" dirty="0"/>
              <a:t> (</a:t>
            </a:r>
            <a:r>
              <a:rPr lang="ru-RU" sz="2400" dirty="0"/>
              <a:t>оф. сайт, вики)</a:t>
            </a:r>
          </a:p>
          <a:p>
            <a:endParaRPr lang="ru-RU" sz="2400" b="1" dirty="0"/>
          </a:p>
          <a:p>
            <a:r>
              <a:rPr lang="en-US" sz="2400" b="1" dirty="0" err="1"/>
              <a:t>wxWidgets</a:t>
            </a:r>
            <a:r>
              <a:rPr lang="en-US" sz="2400" b="1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https://www.wxwidgets.org/</a:t>
            </a:r>
          </a:p>
          <a:p>
            <a:r>
              <a:rPr lang="ru-RU" sz="2400" dirty="0" smtClean="0"/>
              <a:t>Вики</a:t>
            </a:r>
            <a:r>
              <a:rPr lang="ru-RU" sz="2400" dirty="0"/>
              <a:t>: </a:t>
            </a:r>
            <a:r>
              <a:rPr lang="en-US" sz="2400" dirty="0"/>
              <a:t>https://ru.wikipedia.org/wiki/WxWidgets</a:t>
            </a:r>
          </a:p>
          <a:p>
            <a:r>
              <a:rPr lang="ru-RU" sz="2400" dirty="0" smtClean="0"/>
              <a:t>Привязки</a:t>
            </a:r>
            <a:r>
              <a:rPr lang="ru-RU" sz="2400" dirty="0"/>
              <a:t>: </a:t>
            </a:r>
            <a:r>
              <a:rPr lang="en-US" sz="2400" dirty="0" err="1"/>
              <a:t>wxPython</a:t>
            </a:r>
            <a:r>
              <a:rPr lang="en-US" sz="2400" dirty="0"/>
              <a:t> (</a:t>
            </a:r>
            <a:r>
              <a:rPr lang="ru-RU" sz="2400" dirty="0"/>
              <a:t>оф. сайт, вики)</a:t>
            </a:r>
          </a:p>
          <a:p>
            <a:endParaRPr lang="ru-RU" sz="2400" b="1" dirty="0"/>
          </a:p>
          <a:p>
            <a:r>
              <a:rPr lang="en-US" sz="2400" b="1" dirty="0" err="1"/>
              <a:t>kivy</a:t>
            </a:r>
            <a:r>
              <a:rPr lang="en-US" sz="2400" b="1" dirty="0"/>
              <a:t>:</a:t>
            </a:r>
          </a:p>
          <a:p>
            <a:r>
              <a:rPr lang="ru-RU" sz="2400" dirty="0" smtClean="0"/>
              <a:t>Официальный </a:t>
            </a:r>
            <a:r>
              <a:rPr lang="ru-RU" sz="2400" dirty="0"/>
              <a:t>сайт: </a:t>
            </a:r>
            <a:r>
              <a:rPr lang="en-US" sz="2400" dirty="0"/>
              <a:t>https://kivy.org</a:t>
            </a:r>
            <a:r>
              <a:rPr lang="ru-RU" sz="2400" dirty="0" smtClean="0"/>
              <a:t>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261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13873" y="38794"/>
            <a:ext cx="2449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Установка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r>
              <a:rPr lang="en-US" sz="2400" dirty="0"/>
              <a:t>pip install </a:t>
            </a:r>
            <a:r>
              <a:rPr lang="en-US" sz="2400" dirty="0" smtClean="0"/>
              <a:t>PyQt5</a:t>
            </a:r>
            <a:endParaRPr lang="ru-RU" sz="2400" b="1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9" y="852538"/>
            <a:ext cx="10206526" cy="5978108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479" y="1077911"/>
            <a:ext cx="5727939" cy="262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1029356"/>
            <a:ext cx="8756815" cy="465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1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05" y="1216165"/>
            <a:ext cx="6018264" cy="423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8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4"/>
            <a:ext cx="10593238" cy="69984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728541"/>
            <a:ext cx="5102440" cy="3619172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4347713"/>
            <a:ext cx="10577365" cy="201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9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39" y="879894"/>
            <a:ext cx="5543555" cy="491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3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1540" y="28693"/>
            <a:ext cx="10593238" cy="851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Пакет </a:t>
            </a:r>
            <a:r>
              <a:rPr lang="en-US" dirty="0"/>
              <a:t>PyQt5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879894"/>
            <a:ext cx="698739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0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18081</TotalTime>
  <Words>10097</Words>
  <Application>Microsoft Office PowerPoint</Application>
  <PresentationFormat>Широкоэкранный</PresentationFormat>
  <Paragraphs>1863</Paragraphs>
  <Slides>219</Slides>
  <Notes>219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219</vt:i4>
      </vt:variant>
    </vt:vector>
  </HeadingPairs>
  <TitlesOfParts>
    <vt:vector size="228" baseType="lpstr">
      <vt:lpstr>-apple-system</vt:lpstr>
      <vt:lpstr>Arial</vt:lpstr>
      <vt:lpstr>Calibri</vt:lpstr>
      <vt:lpstr>Calibri Light</vt:lpstr>
      <vt:lpstr>Inter</vt:lpstr>
      <vt:lpstr>Lato</vt:lpstr>
      <vt:lpstr>SFMono-Regular</vt:lpstr>
      <vt:lpstr>Times New Roman</vt:lpstr>
      <vt:lpstr>Retrospect</vt:lpstr>
      <vt:lpstr> </vt:lpstr>
      <vt:lpstr>Модули, пакеты, стандартная библиотека. Визуализация данных</vt:lpstr>
      <vt:lpstr>Модули и пакеты</vt:lpstr>
      <vt:lpstr>Модули и пакеты</vt:lpstr>
      <vt:lpstr>Модули и пакеты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- классификация</vt:lpstr>
      <vt:lpstr>Модули и пакеты – подключение  </vt:lpstr>
      <vt:lpstr>Модули – подключение</vt:lpstr>
      <vt:lpstr>Модули  – подключение</vt:lpstr>
      <vt:lpstr>Пакеты – подключение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Zhvakina</dc:creator>
  <cp:lastModifiedBy>ANNA</cp:lastModifiedBy>
  <cp:revision>829</cp:revision>
  <cp:lastPrinted>2016-01-26T13:20:45Z</cp:lastPrinted>
  <dcterms:created xsi:type="dcterms:W3CDTF">2015-03-09T11:51:14Z</dcterms:created>
  <dcterms:modified xsi:type="dcterms:W3CDTF">2024-04-24T08:45:14Z</dcterms:modified>
</cp:coreProperties>
</file>