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91"/>
  </p:notesMasterIdLst>
  <p:handoutMasterIdLst>
    <p:handoutMasterId r:id="rId92"/>
  </p:handoutMasterIdLst>
  <p:sldIdLst>
    <p:sldId id="280" r:id="rId2"/>
    <p:sldId id="433" r:id="rId3"/>
    <p:sldId id="515" r:id="rId4"/>
    <p:sldId id="516" r:id="rId5"/>
    <p:sldId id="517" r:id="rId6"/>
    <p:sldId id="561" r:id="rId7"/>
    <p:sldId id="504" r:id="rId8"/>
    <p:sldId id="508" r:id="rId9"/>
    <p:sldId id="509" r:id="rId10"/>
    <p:sldId id="510" r:id="rId11"/>
    <p:sldId id="514" r:id="rId12"/>
    <p:sldId id="586" r:id="rId13"/>
    <p:sldId id="587" r:id="rId14"/>
    <p:sldId id="588" r:id="rId15"/>
    <p:sldId id="590" r:id="rId16"/>
    <p:sldId id="591" r:id="rId17"/>
    <p:sldId id="592" r:id="rId18"/>
    <p:sldId id="589" r:id="rId19"/>
    <p:sldId id="593" r:id="rId20"/>
    <p:sldId id="594" r:id="rId21"/>
    <p:sldId id="511" r:id="rId22"/>
    <p:sldId id="512" r:id="rId23"/>
    <p:sldId id="513" r:id="rId24"/>
    <p:sldId id="585" r:id="rId25"/>
    <p:sldId id="437" r:id="rId26"/>
    <p:sldId id="438" r:id="rId27"/>
    <p:sldId id="527" r:id="rId28"/>
    <p:sldId id="562" r:id="rId29"/>
    <p:sldId id="563" r:id="rId30"/>
    <p:sldId id="564" r:id="rId31"/>
    <p:sldId id="565" r:id="rId32"/>
    <p:sldId id="566" r:id="rId33"/>
    <p:sldId id="567" r:id="rId34"/>
    <p:sldId id="529" r:id="rId35"/>
    <p:sldId id="526" r:id="rId36"/>
    <p:sldId id="560" r:id="rId37"/>
    <p:sldId id="521" r:id="rId38"/>
    <p:sldId id="569" r:id="rId39"/>
    <p:sldId id="568" r:id="rId40"/>
    <p:sldId id="531" r:id="rId41"/>
    <p:sldId id="532" r:id="rId42"/>
    <p:sldId id="533" r:id="rId43"/>
    <p:sldId id="523" r:id="rId44"/>
    <p:sldId id="524" r:id="rId45"/>
    <p:sldId id="522" r:id="rId46"/>
    <p:sldId id="534" r:id="rId47"/>
    <p:sldId id="536" r:id="rId48"/>
    <p:sldId id="573" r:id="rId49"/>
    <p:sldId id="530" r:id="rId50"/>
    <p:sldId id="571" r:id="rId51"/>
    <p:sldId id="535" r:id="rId52"/>
    <p:sldId id="572" r:id="rId53"/>
    <p:sldId id="574" r:id="rId54"/>
    <p:sldId id="575" r:id="rId55"/>
    <p:sldId id="538" r:id="rId56"/>
    <p:sldId id="576" r:id="rId57"/>
    <p:sldId id="540" r:id="rId58"/>
    <p:sldId id="577" r:id="rId59"/>
    <p:sldId id="570" r:id="rId60"/>
    <p:sldId id="539" r:id="rId61"/>
    <p:sldId id="544" r:id="rId62"/>
    <p:sldId id="545" r:id="rId63"/>
    <p:sldId id="542" r:id="rId64"/>
    <p:sldId id="546" r:id="rId65"/>
    <p:sldId id="549" r:id="rId66"/>
    <p:sldId id="543" r:id="rId67"/>
    <p:sldId id="578" r:id="rId68"/>
    <p:sldId id="579" r:id="rId69"/>
    <p:sldId id="580" r:id="rId70"/>
    <p:sldId id="547" r:id="rId71"/>
    <p:sldId id="548" r:id="rId72"/>
    <p:sldId id="541" r:id="rId73"/>
    <p:sldId id="581" r:id="rId74"/>
    <p:sldId id="525" r:id="rId75"/>
    <p:sldId id="583" r:id="rId76"/>
    <p:sldId id="559" r:id="rId77"/>
    <p:sldId id="582" r:id="rId78"/>
    <p:sldId id="551" r:id="rId79"/>
    <p:sldId id="552" r:id="rId80"/>
    <p:sldId id="550" r:id="rId81"/>
    <p:sldId id="553" r:id="rId82"/>
    <p:sldId id="554" r:id="rId83"/>
    <p:sldId id="555" r:id="rId84"/>
    <p:sldId id="556" r:id="rId85"/>
    <p:sldId id="558" r:id="rId86"/>
    <p:sldId id="557" r:id="rId87"/>
    <p:sldId id="520" r:id="rId88"/>
    <p:sldId id="584" r:id="rId89"/>
    <p:sldId id="537" r:id="rId90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39" autoAdjust="0"/>
    <p:restoredTop sz="57449" autoAdjust="0"/>
  </p:normalViewPr>
  <p:slideViewPr>
    <p:cSldViewPr snapToGrid="0">
      <p:cViewPr varScale="1">
        <p:scale>
          <a:sx n="64" d="100"/>
          <a:sy n="64" d="100"/>
        </p:scale>
        <p:origin x="229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7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1440" y="-22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Agile_Manifesto" TargetMode="External"/><Relationship Id="rId7" Type="http://schemas.openxmlformats.org/officeDocument/2006/relationships/hyperlink" Target="https://ru.wikipedia.org/wiki/Feature_driven_developmen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1%D0%B5%D1%80%D0%B5%D0%B6%D0%BB%D0%B8%D0%B2%D0%B0%D1%8F_%D1%80%D0%B0%D0%B7%D1%80%D0%B0%D0%B1%D0%BE%D1%82%D0%BA%D0%B0_%D0%BF%D1%80%D0%BE%D0%B3%D1%80%D0%B0%D0%BC%D0%BC%D0%BD%D0%BE%D0%B3%D0%BE_%D0%BE%D0%B1%D0%B5%D1%81%D0%BF%D0%B5%D1%87%D0%B5%D0%BD%D0%B8%D1%8F" TargetMode="External"/><Relationship Id="rId5" Type="http://schemas.openxmlformats.org/officeDocument/2006/relationships/hyperlink" Target="https://ru.wikipedia.org/wiki/%D0%9A%D0%B0%D0%BD%D0%B1%D0%B0%D0%BD_(%D1%80%D0%B0%D0%B7%D1%80%D0%B0%D0%B1%D0%BE%D1%82%D0%BA%D0%B0)" TargetMode="External"/><Relationship Id="rId4" Type="http://schemas.openxmlformats.org/officeDocument/2006/relationships/hyperlink" Target="https://ru.wikipedia.org/wiki/SCRUM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killfactory.ru/glossary/docker/" TargetMode="External"/><Relationship Id="rId7" Type="http://schemas.openxmlformats.org/officeDocument/2006/relationships/hyperlink" Target="https://cloud.yandex.ru/services/container-registry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cloud.yandex.ru/services/managed-kubernetes/" TargetMode="External"/><Relationship Id="rId5" Type="http://schemas.openxmlformats.org/officeDocument/2006/relationships/hyperlink" Target="https://cloud.yandex.ru/services/managed-gitlab" TargetMode="External"/><Relationship Id="rId4" Type="http://schemas.openxmlformats.org/officeDocument/2006/relationships/hyperlink" Target="https://blog.skillfactory.ru/glossary/github/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yandex.ru/blog/posts/2022/03/what-is-devops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rcs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practice.ru/git-for-beginners-part-4-git-arch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practice.ru/git-for-beginners-part-4-git-arch/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4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(англ.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набор практик, который направлен на сокращение жизненного цикла разработки систем и обеспечение непрерывной поставки программного обеспечения высокого качества. Взаимодействие разработчиков и специалистов по информационно-технологическому обслуживанию, а также взаимная интеграция их рабочих процессов, позволяет создавать качественные продукты в короткие сроки.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эксплуатация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продолжительное время были изолированными модулями. Код писали программисты, а системные администраторы отвечали за его развертывание и интеграцию. В рамках одного проекта специалисты работали отдельно, поскольку связь между двумя разрозненными хранилищами была ограничена.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метод работал с 1970 года, пока доминировала каскадная модель процесса разработки программного обеспечения, известная как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Waterfall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Методика предполагала последовательный переход между этапами без пропусков и возвращений на предыдущие стадии.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90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https://proglib.io/p/osnovy-metodologii-devops-2021-02-20</a:t>
            </a:r>
          </a:p>
          <a:p>
            <a:endParaRPr lang="en-US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2001 году на смену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Waterfall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пришла гибкая методология разработки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Она включает ряд подходов и практик, основанных на четырех ценностях и 12 принципах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«Манифеста гибкой разработки программного обеспечения»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Сюда также относят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SCRUM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Kanban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Lean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Feature-driven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development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(FDD) и другие сходные подходы.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применяется к организации работы небольших групп, которые создают продукт короткими итерациями (от двух до четырех недель). Каждая итерация выглядит как программный проект, который включает все типовые задачи: планирование, анализ требований, проектирование, программирование, тестирование, документирование. В конце итерации заказчик получает рабочий продукт.</a:t>
            </a:r>
          </a:p>
          <a:p>
            <a:endParaRPr lang="en-US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Методология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критиковали за отсутствие управления требованиями. Заказчик может выставить новые требования в конце каждой итерации, что противоречит архитектуре уже созданного продукта. Частые изменения и усовершенствования продукта могут привести к массовому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рефакторингу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плавающей стоимости проекта в итоге.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83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https://proglib.io/p/osnovy-metodologii-devops-2021-02-20</a:t>
            </a:r>
          </a:p>
          <a:p>
            <a:r>
              <a:rPr lang="en-US" dirty="0" smtClean="0"/>
              <a:t>https://intuit.ru/studies/courses/3680/922/lecture/32689?page=1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2010 году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Дэймоном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Эдвардсом и Джоном Уиллисом была разработана модель CAMS, ключевые идеи которой стали принципами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Согласно ей, развитие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идет в трех направлениях: люди, процессы и инструменты. При этом важна поддержка каждого пункта на всех этапах развития.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Аббревиатура CAMS расшифровывается следующим образом: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культура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culture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автоматизация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измерение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обмен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09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https://proglib.io/p/osnovy-metodologii-devops-2021-02-20</a:t>
            </a:r>
          </a:p>
          <a:p>
            <a:r>
              <a:rPr lang="en-US" dirty="0" smtClean="0"/>
              <a:t>https://intuit.ru/studies/courses/3680/922/lecture/32689?page=1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67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эта концепция является доминирующей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является одной из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практик.</a:t>
            </a:r>
          </a:p>
          <a:p>
            <a:r>
              <a:rPr lang="en-US" dirty="0" smtClean="0"/>
              <a:t>https://habr.com/ru/company/otus/blog/515078/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0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https://katalon.com/resources-center/blog/ci-cd-introduction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6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https://blog.skillfactory.ru/glossary/ci-cd/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fontAlgn="base" latinLnBrk="0"/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Разработка по методике CI/CD соответствует таким основным принципам: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Распределение ответственности.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Задачи и этапы разработки разделяются между членами команды или ее подгруппами (при работе над большим проектом). Рабочий процесс организуется с учетом бизнес-логистики, внедрения сквозных функций, проведения тестов, безопасности хранения данных и т.д.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рисков.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Каждый разработчик или подгруппа разработчиков должны стремиться минимизировать уязвимости и ошибки на всех этапах разработки. Для этого постоянно контролируется бизнес-логистика, проводится пользовательское тестирование продукта, оптимизируется хранение, обработка данных и т.д.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Оптимизация обратной связи.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Успех проекта зависит от того, как работают друг с другом разработчики, клиенты и пользователи. Это влияет на скорость внесения в приложение корректировок и обновлений. Если сборку и тестирование можно автоматизировать, то во многих других операциях требуется участие человека. Чтобы взаимодействие происходило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конструктивнее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уменьшается количество посредников между заказчиком, исполнителями и пользователями.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рабочей среды.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удобства совместной работы у разработчиков должно быть общее рабочее пространство. Помимо основной ветки процесса в нем должна быть побочная – в ней удобнее проводить тестирование, вносить корректировки, отслеживать отказоустойчивость и т.д.</a:t>
            </a:r>
          </a:p>
          <a:p>
            <a:pPr fontAlgn="base" latinLnBrk="0"/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СI/CD представляет собой современную аналогию конвейерного производства. Их объединяют четкое распределение труда, непрерывный, потоковый характер рабочего процесса, параллельное выполнение сразу нескольких задач (например,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кодинга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тестирования). 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Команда разработки пишет новый код, исправляет ошибки или внедряет дополнительные функции, выполняет тесты, а затем отправляет в ветку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 актуальной сборкой программного продукта. Одна или несколько команд могут отправить любое количество модулей с кодом в ветку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срабатывает триггер, начинается автоматическая сборка и тестирование кода. Условия для запуска системы управления версиями и начала сборки настраиваются заранее.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Тестирование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программа заканчивает тестировать работоспособность выкатываемой версии проекта, можно приступать к ручной проверке.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ручное тестирование завершено успешно, разработчики вносят нужные исправления и выпускают новую версию своего продукта.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Развёртывание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Финальная версия кода отправляется на боевой сервер. Пользователь начинает взаимодействовать с сервисом или приложением, изучать новые функции.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Поддержка и мониторинг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Программный продукт становится доступным обычным пользователям. В этот момент отдел разработки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происходящее, отслеживая и анализируя пользовательский опыт.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Планирование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Используя данные мониторинга, разработчики формулируют идеи новых функций и план дальнейших улучшений продукта. Далее команда разработки приступает к написанию кода.</a:t>
            </a:r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51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dirty="0" smtClean="0"/>
              <a:t>https://katalon.com/resources-center/blog/ci-cd-introduction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94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CI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Это имя вашего автоматического процесса (например, будет отображаться в списке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Триггер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запустится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любом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(когда вы или кто-то загружает изменения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Начало списка задач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Здесь описываются все задачи, которые нужно выполнить (может быть несколько задач).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build-and-test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задачи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Эту задачу можно назвать как угодно (например, «тестирование-и-сборка»).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ubuntu-latest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Задача будет выполняться на виртуальной машине с последней версией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(предоставляется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шагов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Начало перечисления действий, которые выполнятся внутри задачи.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 -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1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«Достань код из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Без этого шага у процесса не будет доступа к вашему коду.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/checkout@v4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делает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Использует готовое действие от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скопировать ваш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виртуальную машину.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@v4 — версия этого действия (как номер версии в приложении).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 -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2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«Установи зависимости». Например, библиотеки, без которых проект не соберется.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Выполняет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терминале (установка пакетов для Node.js).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Если бы проект был на Python, здесь могло бы быть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-r requirements.txt.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 -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3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«Запусти тесты». Проверяет, не сломали ли изменения существующий функционал.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Запускает тесты через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(стандартная команда для тестов в Node.js).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Если тесты провалятся — весь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завершится с ошибкой ❌.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 -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4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«Собери проект». Подготовка кода к использованию (например,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минификация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компиляция).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Запускает сборку проекта через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(создает папку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 или аналогичную).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Результат можно загрузить как артефакт или использовать для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это работает вместе: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делаете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запускает этот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Виртуальная машина 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копирует ваш код.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Устанавливает зависимости → запускает тесты → собирает проект.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все шаги прошли успешно — статус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будет ✅, иначе — ❌.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сценария: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забыли установить библиотеку, шаг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выдаст ошибку → процесс остановится, и вы получите уведомление.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75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 name: CD Pipeline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имя процесса, которое будет отображаться 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"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Pipeline").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on: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Триггеры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Указывает, при каких событиях запускать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push: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Workflow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запустится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при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пуше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(загрузке изменений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[main]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Срабатывает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для ветки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типично для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—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происходит после слияния в основную ветку.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Секция задач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Начало списка задач, которые будут выполнены.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задачи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Здесь можно было бы написать что-то вроде "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deploy-to-production".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 runs-on: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-latest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Задача выполняется на виртуальной машине с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 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предоставляется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 steps: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шагов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Последовательность действий для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 -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Checkout code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1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"Скопируй код из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 этого шага у процесса не будет доступа к вашему коду.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actions/checkout@v4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Использует официальный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копирования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v4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версия этого действия (всегда лучше указывать конкретную версию).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 -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Install dependencies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2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"Установи зависимости проекта".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библиотеки из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package.json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 run: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install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Устанавливает зависимости через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менеджер пакетов для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 - name: Build project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3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"Собери проект".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Подготовка кода 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(например,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минификация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CSS/JS).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 run: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 build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Запускает сборку через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 создает папку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build/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готовыми файлами.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 -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Deploy to S3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4 — название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"Загрузи файлы на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S3".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облачное хранилище файлов от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Amazon.</a:t>
            </a:r>
          </a:p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16. uses: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-actions/configure-aws-credentials@v2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Настраивает доступ к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AWS.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Официальный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авторизации.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17. 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 авторизации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Здесь передаются данные для доступа к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-access-key-id: ${{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secrets.AWS_ACCESS_KEY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 доступа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хранится в секретах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GitHub).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-secret-access-key: ${{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secrets.AWS_SECRET_KEY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Секретный ключ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тоже в секретах).</a:t>
            </a:r>
          </a:p>
          <a:p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-region: us-east-1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Регион, где находится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бакет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(например,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us-east-1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Северная Вирджиния).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S3-бакет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как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виртуальная корзина для файлов в облаке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(AWS)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18. -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s3 sync ./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s3://my-bucket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Синхронизирует папку ./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бакетом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my-bucket.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CLI-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sync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только новые/измененные файлы.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 папка со статическими файлами после сборки.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s3://my-bucket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вашего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бакета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заменить на свое).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53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контроль качества (проверка товара на брак).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доставка товара в магазины.</a:t>
            </a:r>
          </a:p>
          <a:p>
            <a:pPr lvl="1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товар запакован и готов к отправке, но нужно нажать кнопку «Отправить».</a:t>
            </a:r>
          </a:p>
          <a:p>
            <a:pPr lvl="1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товар автоматически отправляется в магазин сразу после проверки.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04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 CI/CD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сроков разработки.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Методология уменьшает время доработок до нескольких дней, в сложных проектах — недель. Это позволяет разработчикам быстрее тестировать и опробовать нововведения, а затем внедрять их в продукт раньше конкурентов.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Отбор перспективных вариантов.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Быстрое тестирование и большое количество итераций позволяют разработчику вовремя отсеивать бесперспективные варианты кода на начальных этапах. Это также способствует экономичному расходованию времени и ресурсов без их распыления на тупиковые направления.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Качество тестирования.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Сочетание ручной и автоматизированной проверки позволяет выявлять ошибки на ранних этапах разработки. Это снижает вероятность их накопления на этапе релиза, что еще больше сокращает время работы над проектом.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Недостатки CI/CD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Высокие требования к опыту.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Рабочий процесс в любой компании можно перевести на методологию CI/CD. Однако это требует от разработчиков как знания самой концепции на практическом уровне, так и умения быстро реорганизовать процессы в самой организации. Иными словами, CI/CD имеет достаточно большой порог вхождения в сравнении со многими традиционными методологиями.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Сложность постоянного взаимодействия.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Непрерывная интеграция и доставка программного продукта требуют от разработчиков высокой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скоординированности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действий. На практике это означает, что должно быть отдельное лицо, которое занимается организацией рабочего процесса и налаживанием взаимодействия между членами команды.</a:t>
            </a:r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89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sz="10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https://katalon.com/resources-center/blog/ci-cd-tools</a:t>
            </a:r>
            <a:r>
              <a:rPr lang="ru-RU" sz="10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дополнительное</a:t>
            </a:r>
          </a:p>
          <a:p>
            <a:pPr fontAlgn="base" latinLnBrk="0"/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непрерывная интеграция и развертывание подразумевает автоматизацию многих процессов в ходе разработки, для этого созданы различные программные инструменты и сервисы:</a:t>
            </a:r>
          </a:p>
          <a:p>
            <a:pPr fontAlgn="base" latinLnBrk="0"/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Эта платформа позволяет управлять хранилищами проекта, документировать результаты тестирования и доработок, анализировать и дополнять функциональность проекта, выявлять и устранять ошибки.</a:t>
            </a:r>
          </a:p>
          <a:p>
            <a:pPr fontAlgn="base" latinLnBrk="0"/>
            <a:r>
              <a:rPr lang="ru-RU" sz="1200" b="1" i="0" u="sng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Docker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СD-система, позволяющая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контейнеризировать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проект, то есть упаковать его со всем окружением и зависимостями.</a:t>
            </a:r>
          </a:p>
          <a:p>
            <a:pPr fontAlgn="base" latinLnBrk="0"/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Travis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-CI.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Сервер, который можно подключать к виртуальным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sng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GitHub</a:t>
            </a:r>
            <a:r>
              <a:rPr lang="ru-RU" sz="1200" b="0" i="0" u="sng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минимальными настройками. Благодаря использованию облачных технологий его не нужно отдельно устанавливать.</a:t>
            </a:r>
          </a:p>
          <a:p>
            <a:pPr fontAlgn="base" latinLnBrk="0"/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Один из самый популярных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-инструментов, совместимый со всевозможными плагинами для адаптации под различные проекты и задачи.</a:t>
            </a:r>
          </a:p>
          <a:p>
            <a:pPr fontAlgn="base" latinLnBrk="0"/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 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Censor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CI-сервер, автоматизирующий сборку PHP-проектов. Может работать с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другими, с библиотеками для тестирования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Atoum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PHP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Behat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 latinLnBrk="0"/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 оперативно вносить изменения, постоянно тестировать и дорабатывать продукт, взаимодействовать не только друг с другом, но и с клиентом — вот что делает концепцию CI/CD популярной среди разработчиков. Сегодня ее понимание и практическое освоение являются важной рекомендацией при разработке как крупных, так и небольших проектов.</a:t>
            </a:r>
          </a:p>
          <a:p>
            <a:pPr fontAlgn="base" latinLnBrk="0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 используют разные инструменты для автоматизации процесса тестирования и доставки кода до конечных пользователей. Что применяют чаще всего?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Используется для управления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проекта, ведения истории выполнения тестов и доработок, контроля ошибок. С помощью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Managed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Service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for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GitLab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можно управлять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‑платформой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инфраструктуре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Yandex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Проверенный временем инструмент, благодаря которому разработчики могут быстрее строить, автоматизировать и тестировать код. Поддерживает работу с более чем 1400 плагинами, позволяя настроить процесс под требования разных команд.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Buddy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Умный инструмент с удобным интерфейсом. Надёжный, простой, а потому популярный. Подходит для полноценной разработки с использованием кода с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Bitbucket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Bamboo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Инструмент может одновременно собирать, тестировать и развёртывать несколько проектов, при ошибках предоставляет анализ произошедшего, совместим с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PHPUnit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Selenium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поддерживает импорт из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Благодаря контейнеризации решаются многие задачи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архитектуры. Можно упаковать проект со всем окружением и зависимостями в контейнер, создавать кластеры актуальных версий, распределять нагрузку и вести статистику. Управлять проектом будет проще, если использовать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Managed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Service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for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Kubernetes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®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А если нужно управлять только образами и контейнерами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используйте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Container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Registry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Circle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Хорошо известная платформа для автоматизации сборки и тестирования, организации комплексного процесса развёртывания. Предусмотрена возможность интеграции с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Bitbucket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Enterprise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 также облачными сервисами. Решение поддерживает матрицу систем контроля версий, контейнерных систем и механизмов поставки.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CodeShip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Инструмент умеет разворачивать код напрямую из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Bitbucket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Предлагает удобную среду, которая совместима с разными технологиями, языками и развёртываниями в разных окружениях.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Travis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‑CI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Облачный сервис непрерывной интеграции, который умеет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бесшовно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интегрироваться с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 минимумом настроек.</a:t>
            </a:r>
          </a:p>
          <a:p>
            <a:pPr fontAlgn="base" latinLnBrk="0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68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dirty="0" smtClean="0"/>
              <a:t>https://www.spiceworks.com/tech/devops/articles/cicd-vs-devops/</a:t>
            </a:r>
            <a:endParaRPr lang="ru-RU" dirty="0" smtClean="0"/>
          </a:p>
          <a:p>
            <a:pPr fontAlgn="base" latinLnBrk="0"/>
            <a:r>
              <a:rPr lang="en-US" dirty="0" smtClean="0"/>
              <a:t>https://cloud.yandex.ru/blog/posts/2022/10/ci-cd</a:t>
            </a:r>
            <a:endParaRPr lang="ru-RU" dirty="0" smtClean="0"/>
          </a:p>
          <a:p>
            <a:pPr fontAlgn="base" latinLnBrk="0"/>
            <a:endParaRPr lang="ru-RU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чём отличие от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более широкое понятие, чем методика CI/CD, поскольку распространяется на весь цикл разработки ПО. Сюда входит сотрудничество разработчиков, мониторинг, контроль версий и т. д. Если же говорить о CI/CD, то это одна из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практик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основной элемент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сказать иначе: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философия и культура, которая позволяет улучшить качество разработки, а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цепочка из упомянутых выше семи этапов, благодаря которым становится возможным данный подход.</a:t>
            </a:r>
          </a:p>
          <a:p>
            <a:pPr fontAlgn="base" latinLnBrk="0"/>
            <a:endParaRPr lang="en-US" dirty="0" smtClean="0"/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85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en-US" dirty="0" smtClean="0"/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34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49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https://git-scm.com/book/en/v2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истемы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контроля версий являются важнейшей частью процесса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поскольку позволяют производить одновременную разработку, через доступное для всех разработчиков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версионирование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через удалённый сервер со всеми версиями. Таким образом любой из разработчиков может получить последнюю версию рабочего кода, соединить её со своей и проверить работоспособность. Также в данный процесс тесно внедрены системы тестирования. Так, в некоторых случаях буквально на каждый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могут запускаться юнит-тесты и интеграционное тестирование на CI сервере, которое в автоматическом режим проверит работоспособность и совместимость кода.</a:t>
            </a:r>
            <a:endParaRPr lang="en-US" b="1" dirty="0" smtClean="0">
              <a:solidFill>
                <a:srgbClr val="484848"/>
              </a:solidFill>
              <a:latin typeface="TT Norm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solidFill>
                <a:srgbClr val="484848"/>
              </a:solidFill>
              <a:latin typeface="TT Norm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 smtClean="0">
                <a:solidFill>
                  <a:srgbClr val="484848"/>
                </a:solidFill>
                <a:latin typeface="TT Norms Pro"/>
              </a:rPr>
              <a:t>Системы версий.</a:t>
            </a:r>
            <a:r>
              <a:rPr lang="ru-RU" dirty="0" smtClean="0">
                <a:solidFill>
                  <a:srgbClr val="484848"/>
                </a:solidFill>
                <a:latin typeface="TT Norms Pro"/>
              </a:rPr>
              <a:t> Например, </a:t>
            </a:r>
            <a:r>
              <a:rPr lang="ru-RU" dirty="0" err="1" smtClean="0">
                <a:solidFill>
                  <a:srgbClr val="484848"/>
                </a:solidFill>
                <a:latin typeface="TT Norms Pro"/>
              </a:rPr>
              <a:t>Git</a:t>
            </a:r>
            <a:r>
              <a:rPr lang="ru-RU" dirty="0" smtClean="0">
                <a:solidFill>
                  <a:srgbClr val="484848"/>
                </a:solidFill>
                <a:latin typeface="TT Norms Pro"/>
              </a:rPr>
              <a:t>. Они позволяют отслеживать процесс разработки, видеть все внесенные изменения, сливать разные версии кода и в случае поломки быстро откатить приложение к предыдущей, рабочей конфигурации.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54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https://git-scm.com/book/en/v2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dirty="0" smtClean="0"/>
              <a:t>Локальные</a:t>
            </a:r>
            <a:r>
              <a:rPr lang="ru-RU" sz="1200" dirty="0" smtClean="0"/>
              <a:t> (копирование файлов в отдельный каталог или база данных с записями об изменениях в файлах – контроль ревизий; пример: </a:t>
            </a:r>
            <a:r>
              <a:rPr lang="ru-RU" sz="1200" dirty="0" smtClean="0">
                <a:hlinkClick r:id="rId3"/>
              </a:rPr>
              <a:t>RCS</a:t>
            </a:r>
            <a:r>
              <a:rPr lang="ru-RU" sz="1200" dirty="0" smtClean="0"/>
              <a:t> хранит на диске наборы </a:t>
            </a:r>
            <a:r>
              <a:rPr lang="ru-RU" sz="1200" dirty="0" err="1" smtClean="0"/>
              <a:t>патчей</a:t>
            </a:r>
            <a:r>
              <a:rPr lang="ru-RU" sz="1200" dirty="0" smtClean="0"/>
              <a:t> (различий между файлами) в специальном формате, применяя которые она может воссоздавать состояние каждого файла в заданный момент времени.).</a:t>
            </a:r>
          </a:p>
          <a:p>
            <a:endParaRPr lang="ru-RU" dirty="0" smtClean="0"/>
          </a:p>
          <a:p>
            <a:r>
              <a:rPr lang="ru-RU" sz="1200" b="1" dirty="0" smtClean="0"/>
              <a:t>Централизованные</a:t>
            </a:r>
            <a:r>
              <a:rPr lang="ru-RU" sz="1200" dirty="0" smtClean="0"/>
              <a:t> -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 типа клиент-сервер с доступом через специальное клиентское приложение, используют единственный сервер, содержащий все версии файлов, и некоторое количество клиентов, которые получают файлы из этого централизованного хранилища. Применение ЦСКВ являлось стандартом на протяжении многих лет. Администраторы имеют полный контроль над тем, кто и что может делать, и гораздо проще администрировать ЦСКВ, чем оперировать локальными базами данных на каждом клиенте.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Несмотря на это, данный подход тоже имеет серьёзные минусы. Самый очевидный минус — это единая точка отказа, представленная централизованным сервером. Если этот сервер выйдет из строя на час, то в течение этого времени никто не сможет использовать контроль версий для сохранения изменений, над которыми работает, а также никто не сможет обмениваться этими изменениями с другими разработчиками.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Распределённые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-(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Bazaar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клиенты не просто скачивают снимок всех файлов (состояние файлов на определённый момент времени) — они полностью копируют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этом случае, если один из серверов, через который разработчики обменивались данными, умрёт, любой клиентский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может быть скопирован на другой сервер для продолжения работы. Каждая копия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является полным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бэкапом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всех данных.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Многие РСКВ могут одновременно взаимодействовать с несколькими удалёнными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благодаря этому вы можете работать с различными группами людей, применяя различные подходы единовременно в рамках одного проекта. Это позволяет применять сразу несколько подходов в разработке, например, иерархические модели, что совершенно невозможно в централизованных системах.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https://devpractice.ru/git-for-beginners-part-1-what-is-vcs/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Распределенные системы контроля версий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позволяют хранить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(его копию) у каждого разработчика, работающего с данной системой.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этом можно выделить 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центральный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(условно), в который будут отправляться изменения из локальных и, с ним же эти локальные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будут синхронизироваться. При работе с такой системой, пользователи периодически синхронизируют свои локальные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центральным и работают непосредственно со своей локальной копией. После внесения достаточного количества изменений в локальную копию они (изменения) отправляются на сервер. При этом сервер, чаще всего, выбирается условно, т.к. в большинстве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такого понятия как “выделенный сервер с центральным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Большое преимущество такого подхода заключается в автономии разработчика при работе над проектом, гибкости общей системы и повышение надежности, благодаря тому, что каждый разработчик имеет локальную копию центрального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Две наиболее известные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это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Начнем с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эта система представляет собой свободную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построена таким образом, что в ней отсутствует понятие центрального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работы с этой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(как правило) консольная утилита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обладает всеми возможностями системы контроля версий, такими как ветвление, слияние, синхронизация с другими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Данный проект используют и поддерживают большое количество крупных разработчиков, среди них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Mozilla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OpenOffice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OpenJDK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многие другие. Сам продукт написан на языке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доступен на большинстве современных операционных систем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также существует значительное количество утилит с графическим интерфейсом для работы с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Основным конкурентом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рынке распределенных систем контроля версий является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который, на сегодняшний день, выиграл гонку за лидерство.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81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243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378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778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10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78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05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51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https://devpractice.ru/git-for-beginners-part-1-what-is-vcs/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Среди крупных проектов, в рамках которых используется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можно выделить ядро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свободен и распространяется под лицензией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 и, также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доступен практически на всех операционных системах.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своим базовым возможностям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схож с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(и другими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но благодаря ряду достоинств (высокая скорость работы, возможность интеграции с другими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удобный интерфейс) и очень активному сообществу, сформировавшемуся вокруг этой системы,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вышел в лидеры рынка распределенных систем контроля версий. Необходимо отметить, что несмотря на большую популярность таких систем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крупные корпорации, подобные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используют свои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3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https://learngitbranching.js.org/ — интерактивная </a:t>
            </a:r>
            <a:r>
              <a:rPr lang="ru-RU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обучалка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ветвлению в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https://githowto.com/ru — отличный курс обучения гиту на русском с примерами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https://git-scm.com/book/ru/v2/ — pro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book</a:t>
            </a: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https://www.udemy.com/course/git-expert-4-hours/ — онлайн курс по гиту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9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https://devpractice.ru/git-for-beginners-part-2-install-git/</a:t>
            </a:r>
          </a:p>
          <a:p>
            <a:pPr fontAlgn="base"/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 использования 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 окне доступны три возможных варианта:</a:t>
            </a:r>
          </a:p>
          <a:p>
            <a:pPr fontAlgn="base"/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Переменная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модифицируется и работа с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возможна только через специализированную оболочку, которая называется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 случае происходит минимальная модификация переменной окружения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позволит работать с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через командную стоку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Работа через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также возможна.</a:t>
            </a:r>
          </a:p>
          <a:p>
            <a:pPr fontAlgn="base"/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переменную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вносится значительное количество модификаций, которые позволят, в рамках командной строки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использовать как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 и утилиты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поставляются вместе с дистрибутивом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опция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Настройка правил окончания строки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Существует два варианта формирования конца строки в текстовых файлах – это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стиль и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стиль. Данное окно позволяет выбрать одну из опций, определяющих правило формирования окончания строки: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Windows-style, commit Unix-style line endings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 извлечения документа из хранилища и создания рабочей копии) производится в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стиле, а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 отправки изменений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стиле.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as-is, commit Unix-style line 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endigns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производится в том формате, в котором данные хранятся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осуществляется в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стиле.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as-is, commit as-is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производятся без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дополительных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преобразований.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опция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Windows-style, commit Unix-style line endings.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 эмулятора терминала, который будет использован с 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Bash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Возможен выбор из двух вариантов: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MinTTY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terminal of MSYS2)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Bash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использовать в качестве эмулятора терминала 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MinTTY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Windows’ default console window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использовать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консоль (“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cmd.exe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”).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опция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MinTTY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terminal of MSYS2).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дополнительных параметров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Доступны следующие параметры: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file system caching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Включение операции кэширования при работе с файлами. Эта опция позволит значительно повысить производительность.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 Manager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 возможность работы с защищенным хранилищем.</a:t>
            </a: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symbolic links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Активирует работу с символьными ссылками.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опции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file system caching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 Manager.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Завершение установки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нажатия на кнопку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произведена установка 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окончании установки пользователь получит соответствующее сообщение.</a:t>
            </a:r>
          </a:p>
          <a:p>
            <a:pPr fontAlgn="base"/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46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080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90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https://devpractice.ru/git-for-beginners-part-3-config-git/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fontAlgn="base"/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системы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предполагает, в первую очередь, указание имени пользователя и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e-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используются для подписи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отправки изменений в удаленный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существует три места, где хранятся настройки: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системы;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пользователя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C:\Users\ANNA\.gitconfig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проекта (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того, чтобы сконфигурировать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том или ином уровне вы можете изменить непосредственно конфигурационные файлы, но для этого нужно знать их формат, либо воспользоваться специальными командами, которые предоставляет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Мы рекомендуем использовать команды.</a:t>
            </a:r>
          </a:p>
          <a:p>
            <a:pPr fontAlgn="base"/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Расположение конфигурационных файлов </a:t>
            </a:r>
            <a:r>
              <a:rPr lang="en-US" sz="1200" b="1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системы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Files\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\mingw64\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Имейте ввиду, что для его изменения вам могут понадобиться права администратора!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пользователя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HOMEPATH%\.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папка_с_проектом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\.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системы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пользователя</a:t>
            </a:r>
          </a:p>
          <a:p>
            <a:pPr fontAlgn="base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~/.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папка_с_проектом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671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утилита для работы в командной строке (хотя есть и опции для работы через графический интерфейс)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команды пишутся или в командной строке (терминале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или в установленном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Bash (MINGW64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меня, т.к. 64 битная 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817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https://devpractice.ru/git-for-beginners-part-3-config-git/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ветки по умолчанию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вы инициализируете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командой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создаёт ветку с именем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 умолчанию. Начиная с версии 2.28, вы можете задать другое имя для создания ветки по умолчанию.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чтобы установить имя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вашей ветки по умолчанию, выполните следующую команду: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init.defaultBranch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посмотреть все установленные настройки и узнать где именно они заданы, используйте команду: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show-origin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071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https://git-scm.com/book/ru/v2/%D0%92%D0%B2%D0%B5%D0%B4%D0%B5%D0%BD%D0%B8%D0%B5-%D0%9A%D0%B0%D0%BA-%D0%BF%D0%BE%D0%BB%D1%83%D1%87%D0%B8%D1%82%D1%8C-%D0%BF%D0%BE%D0%BC%D0%BE%D1%89%D1%8C%3F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494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утилита для работы в командной строке (хотя есть и опции для работы через графический интерфейс)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840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https://github.com/AnnaZva/Test1.git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832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213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0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922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 файлов, с которым мы работаем в данный момент, называется рабочая копия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После того, как решено, что все нужные изменения на данный момент внесены, и об этом можно сообщить системе контроля версий, разработчик производит отправку изменений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Репозиторий – это хранилище для нашего проекта, которое обслуживает система контроля версий. Сама операция отправки изменений называется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русском языке ее так и называют –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Если нам необходимо взять данные из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мы осуществляем операцию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Дополнительно добавляется ещё одно место, которое можно назвать кэшем или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английской терминологии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Наличие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добавляет гибкости в процесс разработки, вы можете внести изменения в довольно большое количество файлов, но отправить их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разных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 своими специфическими комментариями.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Система контроля версий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 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 трех деревьев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регламент работы выглядит так: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началом работы разработчик делает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того чтобы быть уверенным, что он будет работать с актуальной рабочей копией.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 вносит необходимые изменения в исходный код.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 отправляет необходимый набор файлов, изменения в которые внесены, 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того, чтобы потом построить из них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До того, как изменения будут отправлены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разработчик может добавлять и удалять файлы из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Набор файлов 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как правило, идеологически связан между собой.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 отправляет изменения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их).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Повторить необходимое количество раз пункты 2 – 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807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точки зрения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Каждый файл может находится только в одном из двух состояний: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Отслеживаемый.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 этих файлах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знает и отслеживает изменения в них. Отслеживаемые файлы в свою очередь могут находится в следующих состояниях: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Неизмененный.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с момента последнего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файле не было никаких изменений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Измененный.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с последнего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файле были произведены какие-то изменения.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Подготовленный к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значит, что вы внесли изменения в этот файл и затем проиндексировали их, и эти изменения будут добавлены в следующий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Неотслеживаемый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неотслеживаемых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файлах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знает, поэтому изменения в них не будут добавлены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любые файлы в вашем рабочем каталоге, которые не входили в последний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не подготовлены к текущему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920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976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594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543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605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можно перейти в другую папку и диск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добавления файлов в локальное хранилище в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несколько команд: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стадию ожидания;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локальное хранилище;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отмена действий.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Добавление файлов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добавлением файлов в локальное хранилище их необходимо подготовить. Для этого используется команда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команду можно указать какие файлы необходимо добавить.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добавить всё, прописав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также можно добавлять лишь некоторые файлы. Для их выбора можно воспользоваться различными командами: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подготовки файлов их необходимо отправить в локальное хранилище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выполнить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Для этого используется команда 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Комментари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данных их необходимо комментировать, чтобы в дальнейшем каждое изменение в проекте было с комментарием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описанием действий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Отмена действий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добавили файлы в стадию ожидания, но передумали и не хотите добавлять некоторые из них, то вам пригодиться команда 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укажите какой файл необходимо «выкинуть» из стадии ожидания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Игнорирование файлов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встроенную функцию 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помощью которой мы можем предотвратить случайное попадание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ненужных файлов, папок и директорий. Очень часто в такой перечень попадают следующие данные: 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 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Артефакты систем сборки;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проектах node.js;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Папки, созданные IDE, например,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Netbeans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IntelliJ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Разнообразные заметки разработчика.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функция 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очень просто: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Создаем вручную файл под названием 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сохраняем его в директорию проекта.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файла перечисляем названия файлов/папок, которые нужно игнорировать, каждое с новой строки.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 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добавляем,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коммитим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отправляем на сервер, как любой другой файл в проекте.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85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можно перейти в другую папку и диск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добавления файлов в локальное хранилище в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несколько команд: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стадию ожидания;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локальное хранилище;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отмена действий.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Добавление файлов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добавлением файлов в локальное хранилище их необходимо подготовить. Для этого используется команда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команду можно указать какие файлы необходимо добавить.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добавить всё, прописав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-A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также можно добавлять лишь некоторые файлы. Для их выбора можно воспользоваться различными командами: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подготовки файлов их необходимо отправить в локальное хранилище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выполнить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Для этого используется команда 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Комментари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данных их необходимо комментировать, чтобы в дальнейшем каждое изменение в проекте было с комментарием (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описанием действий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Отмена действий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добавили файлы в стадию ожидания, но передумали и не хотите добавлять некоторые из них, то вам пригодиться команда 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укажите какой файл необходимо «выкинуть» из стадии ожидания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Игнорирование файлов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встроенную функцию 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помощью которой мы можем предотвратить случайное попадание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ненужных файлов, папок и директорий. Очень часто в такой перечень попадают следующие данные: 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 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Артефакты систем сборки;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проектах node.js;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Папки, созданные IDE, например,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Netbeans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IntelliJ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Разнообразные заметки разработчика.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функция 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очень просто: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Создаем вручную файл под названием 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сохраняем его в директорию проекта.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файла перечисляем названия файлов/папок, которые нужно игнорировать, каждое с новой строки.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 .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добавляем,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коммитим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отправляем на сервер, как любой другой файл в проекте.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022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Добавим, созданный файл 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(или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это хранилище для файлов с изменениями, информация о которых попадет в единый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элементом архитектуры трех деревьев, на базе которой построен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более подробно смотрите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здесь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добавления файла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 воспользоваться командой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add</a:t>
            </a:r>
            <a:r>
              <a:rPr lang="ru-RU" dirty="0" smtClean="0"/>
              <a:t> README.md </a:t>
            </a:r>
            <a:endParaRPr lang="en-US" dirty="0" smtClean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возникнуть ошибка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выполнении команды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 у Вас может возникнуть подобная ошибка. Давайте разберемся почему это происходит и как это исправить.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Итак, полностью ошибка может выглядеть следующим образом:</a:t>
            </a:r>
          </a:p>
          <a:p>
            <a:pPr fontAlgn="base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endings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LF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CRLF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всего-лишь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говорится, что перенос строки будет дополнен возвратом каретки.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под ОС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OS, то убрать предупреждения можно этой командой: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один под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просто хотите выключить эти предупреждения, то введите следующую команду:</a:t>
            </a:r>
          </a:p>
          <a:p>
            <a:pPr fontAlgn="base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так</a:t>
            </a:r>
          </a:p>
          <a:p>
            <a:pPr fontAlgn="base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по-правильному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дожно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быть так: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Связанно это может быть с тем что переносы строк были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-формате, когда дело происходило под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например. Очень просто конвертировать переносы строк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 помогает текстовый редактор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Notepad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Правка→EOL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конверсия→Преобразовать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WIN-формат.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изменение было произведено в нескольких файлах, и мы хотим их все отправить 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вместо имени файла поставьте точку.</a:t>
            </a:r>
          </a:p>
          <a:p>
            <a:pPr fontAlgn="base"/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представленный набор изменений готов к отправке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т.е. 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Сделаем это.</a:t>
            </a:r>
          </a:p>
          <a:p>
            <a:pPr fontAlgn="base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 commit -m "[create repository]" [master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root-commit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 500067c] [create repository] 1 file changed, 0 insertions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+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, 0 deletions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-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 create mode 100644 README.md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Проверим статус каталога.</a:t>
            </a:r>
          </a:p>
          <a:p>
            <a:pPr fontAlgn="base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 status On branch master nothing to commit, working tree clean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видно с момента последнего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никаких изменений в рабочем каталоге не производилось.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184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Добавим, созданный файл 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(или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это хранилище для файлов с изменениями, информация о которых попадет в единый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элементом архитектуры трех деревьев, на базе которой построен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более подробно смотрите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здесь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добавления файла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 воспользоваться командой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add</a:t>
            </a:r>
            <a:r>
              <a:rPr lang="ru-RU" dirty="0" smtClean="0"/>
              <a:t> README.md </a:t>
            </a:r>
            <a:endParaRPr lang="en-US" dirty="0" smtClean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возникнуть ошибка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выполнении команды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 у Вас может возникнуть подобная ошибка. Давайте разберемся почему это происходит и как это исправить.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Итак, полностью ошибка может выглядеть следующим образом:</a:t>
            </a:r>
          </a:p>
          <a:p>
            <a:pPr fontAlgn="base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endings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LF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CRLF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всего-лишь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говорится, что перенос строки будет дополнен возвратом каретки.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под ОС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OS, то убрать предупреждения можно этой командой: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один под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просто хотите выключить эти предупреждения, то введите следующую команду:</a:t>
            </a:r>
          </a:p>
          <a:p>
            <a:pPr fontAlgn="base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так</a:t>
            </a:r>
          </a:p>
          <a:p>
            <a:pPr fontAlgn="base"/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по-правильному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дожно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быть так:</a:t>
            </a: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Связанно это может быть с тем что переносы строк были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-формате, когда дело происходило под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например. Очень просто конвертировать переносы строк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 помогает текстовый редактор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Notepad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Правка→EOL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конверсия→Преобразовать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WIN-формат.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изменение было произведено в нескольких файлах, и мы хотим их все отправить в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вместо имени файла поставьте точку.</a:t>
            </a:r>
          </a:p>
          <a:p>
            <a:pPr fontAlgn="base"/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представленный набор изменений готов к отправке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т.е. 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Сделаем это.</a:t>
            </a:r>
          </a:p>
          <a:p>
            <a:pPr fontAlgn="base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 commit -m "[create repository]" [master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root-commit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 500067c] [create repository] 1 file changed, 0 insertions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+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, 0 deletions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-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 create mode 100644 README.md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Проверим статус каталога.</a:t>
            </a:r>
          </a:p>
          <a:p>
            <a:pPr fontAlgn="base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 smtClean="0"/>
              <a:t> </a:t>
            </a:r>
            <a:r>
              <a:rPr lang="en-US" dirty="0" err="1" smtClean="0"/>
              <a:t>git</a:t>
            </a:r>
            <a:r>
              <a:rPr lang="en-US" dirty="0" smtClean="0"/>
              <a:t> status On branch master nothing to commit, working tree clean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видно с момента последнего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никаких изменений в рабочем каталоге не производилось.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636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https://github.com/AnnaZva/Test1.git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Другой</a:t>
            </a:r>
            <a:r>
              <a:rPr lang="ru-RU" baseline="0" dirty="0" smtClean="0"/>
              <a:t> вариант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связать созданный нами локальный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удаленным, выполним такую команду:</a:t>
            </a:r>
          </a:p>
          <a:p>
            <a:r>
              <a:rPr lang="ru-RU" dirty="0" smtClean="0"/>
              <a:t># </a:t>
            </a:r>
            <a:r>
              <a:rPr lang="en-US" dirty="0" smtClean="0"/>
              <a:t>This is only an example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dirty="0" smtClean="0"/>
              <a:t> Replace the URI with your own repository address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dirty="0" smtClean="0"/>
              <a:t> </a:t>
            </a:r>
          </a:p>
          <a:p>
            <a:r>
              <a:rPr lang="en-US" dirty="0" smtClean="0"/>
              <a:t>$ </a:t>
            </a:r>
            <a:r>
              <a:rPr lang="en-US" b="1" dirty="0" err="1" smtClean="0"/>
              <a:t>git</a:t>
            </a:r>
            <a:r>
              <a:rPr lang="en-US" b="1" dirty="0" smtClean="0"/>
              <a:t> remote add origin https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en-US" b="1" dirty="0" smtClean="0"/>
              <a:t>github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b="1" dirty="0" smtClean="0"/>
              <a:t>com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b="1" dirty="0" smtClean="0"/>
              <a:t>tutorialzine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b="1" dirty="0" smtClean="0"/>
              <a:t>awesome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b="1" dirty="0" smtClean="0"/>
              <a:t>project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b="1" dirty="0" smtClean="0"/>
              <a:t>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907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мы посмотрим на список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были отправлены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увидим, что он пустой – это правильно, т.к. мы пока только создали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ничего ещё туда не отправляли.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log </a:t>
            </a:r>
            <a:endParaRPr lang="ru-RU" dirty="0" smtClean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smtClean="0"/>
              <a:t>fatal: your current branch 'master' does not have any commits yet </a:t>
            </a:r>
            <a:endParaRPr lang="ru-RU" dirty="0" smtClean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просмотра состояния рабочего каталога воспользуемся командой 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status </a:t>
            </a:r>
            <a:endParaRPr lang="ru-RU" dirty="0" smtClean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smtClean="0"/>
              <a:t>On branch master Initial commit nothing to commit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 smtClean="0"/>
              <a:t>create/copy files and use "</a:t>
            </a:r>
            <a:r>
              <a:rPr lang="en-US" dirty="0" err="1" smtClean="0"/>
              <a:t>git</a:t>
            </a:r>
            <a:r>
              <a:rPr lang="en-US" dirty="0" smtClean="0"/>
              <a:t> add" to track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 smtClean="0"/>
              <a:t> </a:t>
            </a:r>
            <a:endParaRPr lang="ru-RU" dirty="0" smtClean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Создадим в нашем каталоге пустой файл.</a:t>
            </a:r>
          </a:p>
          <a:p>
            <a:pPr fontAlgn="base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 smtClean="0"/>
              <a:t> </a:t>
            </a:r>
            <a:r>
              <a:rPr lang="en-US" dirty="0" smtClean="0"/>
              <a:t>touch README.md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если мы выполним команду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увидим, что в нашем каталоге появился один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неотслеживаемый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файл: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769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можно перейти в другую папку и диск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когда у нас в локальном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создан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мы подключились к удаленному, можем отправить его на сервер. Мы это будем делать каждый раз, когда хотим обновить данные в удаленном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Отправка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осуществляется с помощью команды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имеет два параметра - имя удаленного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(в нашем случае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ветку, в которую необходимо внести изменения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ветка по умолчанию для всех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dirty="0" smtClean="0"/>
              <a:t>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push</a:t>
            </a:r>
            <a:r>
              <a:rPr lang="ru-RU" dirty="0" smtClean="0"/>
              <a:t> </a:t>
            </a:r>
            <a:r>
              <a:rPr lang="ru-RU" dirty="0" err="1" smtClean="0"/>
              <a:t>origin</a:t>
            </a:r>
            <a:r>
              <a:rPr lang="ru-RU" dirty="0" smtClean="0"/>
              <a:t> </a:t>
            </a:r>
            <a:r>
              <a:rPr lang="ru-RU" dirty="0" err="1" smtClean="0"/>
              <a:t>master</a:t>
            </a:r>
            <a:r>
              <a:rPr lang="ru-RU" dirty="0" smtClean="0"/>
              <a:t> </a:t>
            </a:r>
            <a:r>
              <a:rPr lang="ru-RU" dirty="0" err="1" smtClean="0"/>
              <a:t>Counting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</a:t>
            </a:r>
            <a:r>
              <a:rPr lang="ru-RU" dirty="0" smtClean="0"/>
              <a:t> </a:t>
            </a:r>
            <a:r>
              <a:rPr lang="ru-RU" dirty="0" err="1" smtClean="0"/>
              <a:t>done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 </a:t>
            </a:r>
            <a:r>
              <a:rPr lang="ru-RU" dirty="0" err="1" smtClean="0"/>
              <a:t>Writing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(3/3),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212</a:t>
            </a:r>
            <a:r>
              <a:rPr lang="ru-RU" dirty="0" smtClean="0"/>
              <a:t> </a:t>
            </a:r>
            <a:r>
              <a:rPr lang="ru-RU" dirty="0" err="1" smtClean="0"/>
              <a:t>bytes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 smtClean="0"/>
              <a:t> </a:t>
            </a:r>
            <a:r>
              <a:rPr lang="ru-RU" dirty="0" err="1" smtClean="0"/>
              <a:t>bytes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dirty="0" smtClean="0"/>
              <a:t> </a:t>
            </a:r>
            <a:r>
              <a:rPr lang="ru-RU" dirty="0" err="1" smtClean="0"/>
              <a:t>done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 </a:t>
            </a:r>
            <a:r>
              <a:rPr lang="ru-RU" dirty="0" err="1" smtClean="0"/>
              <a:t>Total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dirty="0" err="1" smtClean="0"/>
              <a:t>delta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0),</a:t>
            </a:r>
            <a:r>
              <a:rPr lang="ru-RU" dirty="0" smtClean="0"/>
              <a:t> </a:t>
            </a:r>
            <a:r>
              <a:rPr lang="ru-RU" dirty="0" err="1" smtClean="0"/>
              <a:t>reused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dirty="0" err="1" smtClean="0"/>
              <a:t>delta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https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ru-RU" dirty="0" smtClean="0"/>
              <a:t>github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com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tutorialzine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awesome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smtClean="0"/>
              <a:t>project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git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ru-RU" dirty="0" smtClean="0"/>
              <a:t> </a:t>
            </a:r>
            <a:r>
              <a:rPr lang="ru-RU" dirty="0" err="1" smtClean="0">
                <a:effectLst/>
              </a:rPr>
              <a:t>branch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ru-RU" dirty="0" smtClean="0"/>
              <a:t> </a:t>
            </a:r>
            <a:r>
              <a:rPr lang="ru-RU" dirty="0" err="1" smtClean="0"/>
              <a:t>master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ru-RU" dirty="0" smtClean="0"/>
              <a:t> </a:t>
            </a:r>
            <a:r>
              <a:rPr lang="ru-RU" dirty="0" err="1" smtClean="0"/>
              <a:t>master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мы все сделали правильно, то отправленный файл hello.txt на удаленном сервере мы можем увидеть с помощью браузера. Важный момент – некоторые сервисы для отправки изменений могут требовать дополнительной аутентификации.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клонировать удаленный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у других пользователей возникла необходимость клонировать удаленный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они могут получить полностью работоспособную копию на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своем компьютере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помощи команды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адрес удаленного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тот,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которого клонируем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dirty="0" smtClean="0"/>
              <a:t>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clone</a:t>
            </a:r>
            <a:r>
              <a:rPr lang="ru-RU" dirty="0" smtClean="0"/>
              <a:t> https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ru-RU" dirty="0" smtClean="0"/>
              <a:t>github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com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tutorialzine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awesome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smtClean="0"/>
              <a:t>project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автоматически создаст новый локальный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виде удаленного на собственном сервере.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запросить изменения с удаленного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репозитария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случае, если другим пользователям нет необходимости делать клон удаленного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нужно просто получить информацию об изменениях, это можно сделать с помощью команды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dirty="0" smtClean="0"/>
              <a:t>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pull</a:t>
            </a:r>
            <a:r>
              <a:rPr lang="ru-RU" dirty="0" smtClean="0"/>
              <a:t> </a:t>
            </a:r>
            <a:r>
              <a:rPr lang="ru-RU" dirty="0" err="1" smtClean="0"/>
              <a:t>origin</a:t>
            </a:r>
            <a:r>
              <a:rPr lang="ru-RU" dirty="0" smtClean="0"/>
              <a:t> </a:t>
            </a:r>
            <a:r>
              <a:rPr lang="ru-RU" dirty="0" err="1" smtClean="0"/>
              <a:t>master</a:t>
            </a:r>
            <a:r>
              <a:rPr lang="ru-RU" dirty="0" smtClean="0"/>
              <a:t> </a:t>
            </a:r>
            <a:endParaRPr lang="en-US" dirty="0" smtClean="0"/>
          </a:p>
          <a:p>
            <a:r>
              <a:rPr lang="ru-RU" dirty="0" err="1" smtClean="0"/>
              <a:t>From</a:t>
            </a:r>
            <a:r>
              <a:rPr lang="ru-RU" dirty="0" smtClean="0"/>
              <a:t> https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ru-RU" dirty="0" smtClean="0"/>
              <a:t>github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 smtClean="0"/>
              <a:t>com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tutorialzine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 smtClean="0"/>
              <a:t>awesome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smtClean="0"/>
              <a:t>project </a:t>
            </a:r>
            <a:endParaRPr lang="en-US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 smtClean="0"/>
              <a:t>branch</a:t>
            </a:r>
            <a:r>
              <a:rPr lang="ru-RU" dirty="0" smtClean="0"/>
              <a:t> </a:t>
            </a:r>
            <a:r>
              <a:rPr lang="ru-RU" dirty="0" err="1" smtClean="0"/>
              <a:t>master</a:t>
            </a:r>
            <a:r>
              <a:rPr lang="ru-RU" dirty="0" smtClean="0"/>
              <a:t> 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ru-RU" dirty="0" smtClean="0"/>
              <a:t> FETCH_HEAD </a:t>
            </a:r>
            <a:endParaRPr lang="en-US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 smtClean="0"/>
              <a:t>Already</a:t>
            </a:r>
            <a:r>
              <a:rPr lang="ru-RU" dirty="0" smtClean="0"/>
              <a:t> </a:t>
            </a:r>
            <a:r>
              <a:rPr lang="ru-RU" dirty="0" err="1" smtClean="0"/>
              <a:t>up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err="1" smtClean="0"/>
              <a:t>to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err="1" smtClean="0"/>
              <a:t>date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 скачивает новые изменения. Так как мы ничего нового не вносили с тех пор, как клонировали проект, изменений, доступных к скачиванию, нет.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225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возникает такая ошибка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5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https://github.com/AnnaZva/Test1.git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надо изменить 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удалённого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терминологии </a:t>
            </a:r>
            <a:r>
              <a:rPr lang="en-US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dirty="0" smtClean="0"/>
              <a:t>$ </a:t>
            </a:r>
            <a:r>
              <a:rPr lang="en-US" dirty="0" err="1" smtClean="0"/>
              <a:t>git</a:t>
            </a:r>
            <a:r>
              <a:rPr lang="en-US" dirty="0" smtClean="0"/>
              <a:t> remote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</a:t>
            </a:r>
            <a:r>
              <a:rPr lang="en-US" dirty="0" smtClean="0"/>
              <a:t>-</a:t>
            </a:r>
            <a:r>
              <a:rPr lang="en-US" dirty="0" err="1" smtClean="0"/>
              <a:t>url</a:t>
            </a:r>
            <a:r>
              <a:rPr lang="en-US" dirty="0" smtClean="0"/>
              <a:t> origin </a:t>
            </a:r>
            <a:r>
              <a:rPr lang="en-US" dirty="0" err="1" smtClean="0"/>
              <a:t>url</a:t>
            </a:r>
            <a:r>
              <a:rPr lang="en-US" dirty="0" smtClean="0"/>
              <a:t>-</a:t>
            </a:r>
            <a:r>
              <a:rPr lang="ru-RU" dirty="0" smtClean="0"/>
              <a:t>нового-</a:t>
            </a:r>
            <a:r>
              <a:rPr lang="ru-RU" dirty="0" err="1" smtClean="0"/>
              <a:t>репозитория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183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возникает такая ошибка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111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возникает такая ошибка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66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https://git-scm.com/book/ru/v2/%D0%92%D0%B5%D1%82%D0%B2%D0%BB%D0%B5%D0%BD%D0%B8%D0%B5-%D0%B2-Git-%D0%9E%D1%81%D0%BD%D0%BE%D0%B2%D1%8B-%D0%B2%D0%B5%D1%82%D0%B2%D0%BB%D0%B5%D0%BD%D0%B8%D1%8F-%D0%B8-%D1%81%D0%BB%D0%B8%D1%8F%D0%BD%D0%B8%D1%8F</a:t>
            </a: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относительного которого будет создана рабочая копия во-время операции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Другими словами, когда вы переключаетесь с ветки на, используя операцию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 вашем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указатель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переключаться между последними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выбираемых вами ветвей.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простой пример рабочего процесса, который может быть полезен в вашем проекте. Ваша работа построена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над сайтом.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создаете ветку для новой статьи, которую вы пишете.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в этой ветке.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вы получаете сообщение, что обнаружена критическая ошибка, требующая скорейшего исправления. Ваши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 основную ветку.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ветку для добавления исправления.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тестирования слить ветку содержащую исправление с основной веткой.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назад в ту ветку, где вы пишете статью и продолжить работать.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763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https://git-scm.com/book/ru/v2/%D0%92%D0%B5%D1%82%D0%B2%D0%BB%D0%B5%D0%BD%D0%B8%D0%B5-%D0%B2-Git-%D0%9E%D1%81%D0%BD%D0%BE%D0%B2%D1%8B-%D0%B2%D0%B5%D1%82%D0%B2%D0%BB%D0%B5%D0%BD%D0%B8%D1%8F-%D0%B8-%D1%81%D0%BB%D0%B8%D1%8F%D0%BD%D0%B8%D1%8F</a:t>
            </a: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относительного которого будет создана рабочая копия во-время операции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Другими словами, когда вы переключаетесь с ветки на, используя операцию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 вашем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указатель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переключаться между последними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выбираемых вами ветвей.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простой пример рабочего процесса, который может быть полезен в вашем проекте. Ваша работа построена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над сайтом.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создаете ветку для новой статьи, которую вы пишете.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в этой ветке.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вы получаете сообщение, что обнаружена критическая ошибка, требующая скорейшего исправления. Ваши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 основную ветку.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ветку для добавления исправления.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тестирования слить ветку содержащую исправление с основной веткой.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назад в ту ветку, где вы пишете статью и продолжить работать.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905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https://git-scm.com/book/ru/v2/%D0%92%D0%B5%D1%82%D0%B2%D0%BB%D0%B5%D0%BD%D0%B8%D0%B5-%D0%B2-Git-%D0%9E%D1%81%D0%BD%D0%BE%D0%B2%D1%8B-%D0%B2%D0%B5%D1%82%D0%B2%D0%BB%D0%B5%D0%BD%D0%B8%D1%8F-%D0%B8-%D1%81%D0%BB%D0%B8%D1%8F%D0%BD%D0%B8%D1%8F</a:t>
            </a: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относительного которого будет создана рабочая копия во-время операции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Другими словами, когда вы переключаетесь с ветки на, используя операцию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 вашем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указатель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переключаться между последними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коммитами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выбираемых вами ветвей.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простой пример рабочего процесса, который может быть полезен в вашем проекте. Ваша работа построена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над сайтом.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создаете ветку для новой статьи, которую вы пишете.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в этой ветке.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вы получаете сообщение, что обнаружена критическая ошибка, требующая скорейшего исправления. Ваши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 основную ветку.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ветку для добавления исправления.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тестирования слить ветку содержащую исправление с основной веткой.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назад в ту ветку, где вы пишете статью и продолжить работать.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3580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443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https://itproger.com/course/git/3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действий, которые производит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нас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новую ветку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Программа проверяет, существует ли указанная ветка.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 программа переключает указатель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новую ветку.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Последним шагом программа меняет рабочую копию так, чтобы она соответствовала новой ветке.</a:t>
            </a: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просмотреть проект на стадии какого-либо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вам необходимо прописать команду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идентификатор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хотите просмотреть.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узнать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изначально пропишите команду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oneline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Тогда вы получите список всех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были сделаны в вашем проекте, а также их идентификаторы.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просмотреть какой-либо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выполните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комманду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b="1" dirty="0" err="1" smtClean="0"/>
              <a:t>git</a:t>
            </a:r>
            <a:r>
              <a:rPr lang="ru-RU" b="1" dirty="0" smtClean="0"/>
              <a:t> </a:t>
            </a:r>
            <a:r>
              <a:rPr lang="ru-RU" b="1" dirty="0" err="1" smtClean="0"/>
              <a:t>checkout</a:t>
            </a:r>
            <a:r>
              <a:rPr lang="ru-RU" b="1" dirty="0" smtClean="0"/>
              <a:t> 102e2f1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вы просмотрите проект на стадии первого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6133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721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взглянем на список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log 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smtClean="0"/>
              <a:t>commit 500067cc0b80643d38e2a24e9e0699031ada6be3 Author: Writer &lt;writer@someserver.com&gt; Date: Mon Feb 12 22:51:14 2018 +0500 [create repository]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приведенной информации видно, что был отправлен один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имеет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500067cc0b80643d38e2a24e9e0699031ada6be3,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 подробно об идентификаторах будет рассказано в следующих уроках. Автор данного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был создан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Feb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12 22:51:14 2018 +0500,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сообщением: 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repository]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довольно подробная информация, когда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станет много, такой формат вывода будет не очень удобным, сокращенный вариант выглядит так.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log --</a:t>
            </a:r>
            <a:r>
              <a:rPr lang="en-US" dirty="0" err="1" smtClean="0"/>
              <a:t>oneline</a:t>
            </a:r>
            <a:r>
              <a:rPr lang="en-US" dirty="0" smtClean="0"/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smtClean="0"/>
              <a:t>500067c [create repository]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605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841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автоматически сливает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давая вам сначала просмотреть их. Если вы не пристально следите за ветками, выполнение этой команды может привести к частым конфликтам.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работает как комбинация команд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fetch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merge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т. е.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вначале забирает изменения из указанного удалённого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затем пытается слить их с текущей веткой.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fetch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связывается с удалённым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забирает из него все изменения, которых у вас пока нет и сохраняет их локально.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 smtClean="0"/>
              <a:t>Мы можем использовать </a:t>
            </a:r>
            <a:r>
              <a:rPr lang="en-US" dirty="0" err="1" smtClean="0"/>
              <a:t>git</a:t>
            </a:r>
            <a:r>
              <a:rPr lang="en-US" dirty="0" smtClean="0"/>
              <a:t>-checkout </a:t>
            </a:r>
            <a:r>
              <a:rPr lang="ru-RU" dirty="0" smtClean="0"/>
              <a:t>команда с -</a:t>
            </a:r>
            <a:r>
              <a:rPr lang="en-US" dirty="0" smtClean="0"/>
              <a:t>b </a:t>
            </a:r>
            <a:r>
              <a:rPr lang="ru-RU" dirty="0" smtClean="0"/>
              <a:t>возможность создать новую ветку. Он создает новую ветку с указанным именем, а затем проверяет ее.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# </a:t>
            </a:r>
            <a:r>
              <a:rPr lang="en-US" dirty="0" smtClean="0"/>
              <a:t>Create a branch locally and check it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git</a:t>
            </a:r>
            <a:r>
              <a:rPr lang="en-US" dirty="0" smtClean="0"/>
              <a:t> checkout -b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# Push the branch to the remote and set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git</a:t>
            </a:r>
            <a:r>
              <a:rPr lang="en-US" dirty="0" smtClean="0"/>
              <a:t> push [-u | –set-upstream] &lt;remote&gt;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Здесь &lt;</a:t>
            </a:r>
            <a:r>
              <a:rPr lang="en-US" dirty="0" smtClean="0"/>
              <a:t>remote&gt; </a:t>
            </a:r>
            <a:r>
              <a:rPr lang="ru-RU" dirty="0" smtClean="0"/>
              <a:t>является удаленной текущей веткой (обычно источником) и &lt;</a:t>
            </a:r>
            <a:r>
              <a:rPr lang="en-US" dirty="0" smtClean="0"/>
              <a:t>branch&gt; </a:t>
            </a:r>
            <a:r>
              <a:rPr lang="ru-RU" dirty="0" smtClean="0"/>
              <a:t>это название ветки. --</a:t>
            </a:r>
            <a:r>
              <a:rPr lang="en-US" dirty="0" smtClean="0"/>
              <a:t>set-upstream (</a:t>
            </a:r>
            <a:r>
              <a:rPr lang="ru-RU" dirty="0" smtClean="0"/>
              <a:t>или же -</a:t>
            </a:r>
            <a:r>
              <a:rPr lang="en-US" dirty="0" smtClean="0"/>
              <a:t>u) </a:t>
            </a:r>
            <a:r>
              <a:rPr lang="ru-RU" dirty="0" smtClean="0"/>
              <a:t>установить восходящую ветвь для данной ветки. Если --</a:t>
            </a:r>
            <a:r>
              <a:rPr lang="en-US" dirty="0" smtClean="0"/>
              <a:t>set-upstream </a:t>
            </a:r>
            <a:r>
              <a:rPr lang="ru-RU" dirty="0" smtClean="0"/>
              <a:t>опция пропущена, </a:t>
            </a:r>
            <a:r>
              <a:rPr lang="en-US" dirty="0" err="1" smtClean="0"/>
              <a:t>git</a:t>
            </a:r>
            <a:r>
              <a:rPr lang="en-US" dirty="0" smtClean="0"/>
              <a:t> pull </a:t>
            </a:r>
            <a:r>
              <a:rPr lang="ru-RU" dirty="0" smtClean="0"/>
              <a:t>и некоторые другие команды не будут выполняться. Вы также можете отправить новую ветку вверх по течению позже с помощью </a:t>
            </a:r>
            <a:r>
              <a:rPr lang="en-US" dirty="0" err="1" smtClean="0"/>
              <a:t>git</a:t>
            </a:r>
            <a:r>
              <a:rPr lang="en-US" dirty="0" smtClean="0"/>
              <a:t> push -u </a:t>
            </a:r>
            <a:r>
              <a:rPr lang="ru-RU" dirty="0" smtClean="0"/>
              <a:t>команда.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287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автоматически сливает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давая вам сначала просмотреть их. Если вы не пристально следите за ветками, выполнение этой команды может привести к частым конфликтам.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работает как комбинация команд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fetch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merge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т. е.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вначале забирает изменения из указанного удалённого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затем пытается слить их с текущей веткой.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fetch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связывается с удалённым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забирает из него все изменения, которых у вас пока нет и сохраняет их локально.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 smtClean="0"/>
              <a:t>Мы можем использовать </a:t>
            </a:r>
            <a:r>
              <a:rPr lang="en-US" dirty="0" err="1" smtClean="0"/>
              <a:t>git</a:t>
            </a:r>
            <a:r>
              <a:rPr lang="en-US" dirty="0" smtClean="0"/>
              <a:t>-checkout </a:t>
            </a:r>
            <a:r>
              <a:rPr lang="ru-RU" dirty="0" smtClean="0"/>
              <a:t>команда с -</a:t>
            </a:r>
            <a:r>
              <a:rPr lang="en-US" dirty="0" smtClean="0"/>
              <a:t>b </a:t>
            </a:r>
            <a:r>
              <a:rPr lang="ru-RU" dirty="0" smtClean="0"/>
              <a:t>возможность создать новую ветку. Он создает новую ветку с указанным именем, а затем проверяет ее.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# </a:t>
            </a:r>
            <a:r>
              <a:rPr lang="en-US" dirty="0" smtClean="0"/>
              <a:t>Create a branch locally and check it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git</a:t>
            </a:r>
            <a:r>
              <a:rPr lang="en-US" dirty="0" smtClean="0"/>
              <a:t> checkout -b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# Push the branch to the remote and set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git</a:t>
            </a:r>
            <a:r>
              <a:rPr lang="en-US" dirty="0" smtClean="0"/>
              <a:t> push [-u | –set-upstream] &lt;remote&gt;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Здесь &lt;</a:t>
            </a:r>
            <a:r>
              <a:rPr lang="en-US" dirty="0" smtClean="0"/>
              <a:t>remote&gt; </a:t>
            </a:r>
            <a:r>
              <a:rPr lang="ru-RU" dirty="0" smtClean="0"/>
              <a:t>является удаленной текущей веткой (обычно источником) и &lt;</a:t>
            </a:r>
            <a:r>
              <a:rPr lang="en-US" dirty="0" smtClean="0"/>
              <a:t>branch&gt; </a:t>
            </a:r>
            <a:r>
              <a:rPr lang="ru-RU" dirty="0" smtClean="0"/>
              <a:t>это название ветки. --</a:t>
            </a:r>
            <a:r>
              <a:rPr lang="en-US" dirty="0" smtClean="0"/>
              <a:t>set-upstream (</a:t>
            </a:r>
            <a:r>
              <a:rPr lang="ru-RU" dirty="0" smtClean="0"/>
              <a:t>или же -</a:t>
            </a:r>
            <a:r>
              <a:rPr lang="en-US" dirty="0" smtClean="0"/>
              <a:t>u) </a:t>
            </a:r>
            <a:r>
              <a:rPr lang="ru-RU" dirty="0" smtClean="0"/>
              <a:t>установить восходящую ветвь для данной ветки. Если --</a:t>
            </a:r>
            <a:r>
              <a:rPr lang="en-US" dirty="0" smtClean="0"/>
              <a:t>set-upstream </a:t>
            </a:r>
            <a:r>
              <a:rPr lang="ru-RU" dirty="0" smtClean="0"/>
              <a:t>опция пропущена, </a:t>
            </a:r>
            <a:r>
              <a:rPr lang="en-US" dirty="0" err="1" smtClean="0"/>
              <a:t>git</a:t>
            </a:r>
            <a:r>
              <a:rPr lang="en-US" dirty="0" smtClean="0"/>
              <a:t> pull </a:t>
            </a:r>
            <a:r>
              <a:rPr lang="ru-RU" dirty="0" smtClean="0"/>
              <a:t>и некоторые другие команды не будут выполняться. Вы также можете отправить новую ветку вверх по течению позже с помощью </a:t>
            </a:r>
            <a:r>
              <a:rPr lang="en-US" dirty="0" err="1" smtClean="0"/>
              <a:t>git</a:t>
            </a:r>
            <a:r>
              <a:rPr lang="en-US" dirty="0" smtClean="0"/>
              <a:t> push -u </a:t>
            </a:r>
            <a:r>
              <a:rPr lang="ru-RU" dirty="0" smtClean="0"/>
              <a:t>команда.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540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6092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https://pingvinus.ru/git/1690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https://www.atlassian.com/ru/git/tutorials/using-branches/git-merge</a:t>
            </a:r>
            <a:endParaRPr lang="ru-RU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https://itproger.com/course/git/5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 smtClean="0"/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Слияние используется 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собрать воедино разветвленную историю. Команда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выполняет слияние отдельных направлений разработки, созданных с помощью команды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единую ветку.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внимание: все приведенные ниже команды выполняют слияние в текущую ветку, в то время как целевая ветка остается без изменений. Поэтому команда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часто используется в сочетании с командами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(для выбора текущей ветки) и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-d (для удаления устаревшей целевой ветки).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>
                <a:solidFill>
                  <a:schemeClr val="dk1"/>
                </a:solidFill>
              </a:rPr>
              <a:t>При слиянии веток могут происходить конфликты. Для разрешения</a:t>
            </a:r>
            <a:r>
              <a:rPr lang="en-US" dirty="0" smtClean="0">
                <a:solidFill>
                  <a:schemeClr val="dk1"/>
                </a:solidFill>
              </a:rPr>
              <a:t> </a:t>
            </a:r>
            <a:r>
              <a:rPr lang="ru-RU" dirty="0" smtClean="0">
                <a:solidFill>
                  <a:schemeClr val="dk1"/>
                </a:solidFill>
              </a:rPr>
              <a:t>конфликтов можно использовать </a:t>
            </a:r>
            <a:r>
              <a:rPr lang="ru-RU" dirty="0" err="1" smtClean="0">
                <a:solidFill>
                  <a:schemeClr val="dk1"/>
                </a:solidFill>
              </a:rPr>
              <a:t>git</a:t>
            </a:r>
            <a:r>
              <a:rPr lang="ru-RU" dirty="0" smtClean="0">
                <a:solidFill>
                  <a:schemeClr val="dk1"/>
                </a:solidFill>
              </a:rPr>
              <a:t> </a:t>
            </a:r>
            <a:r>
              <a:rPr lang="ru-RU" dirty="0" err="1" smtClean="0">
                <a:solidFill>
                  <a:schemeClr val="dk1"/>
                </a:solidFill>
              </a:rPr>
              <a:t>mergetool</a:t>
            </a:r>
            <a:r>
              <a:rPr lang="ru-RU" dirty="0" smtClean="0">
                <a:solidFill>
                  <a:schemeClr val="dk1"/>
                </a:solidFill>
              </a:rPr>
              <a:t>. (Используйте </a:t>
            </a:r>
            <a:r>
              <a:rPr lang="ru-RU" dirty="0" err="1" smtClean="0">
                <a:solidFill>
                  <a:schemeClr val="dk1"/>
                </a:solidFill>
              </a:rPr>
              <a:t>десктопные</a:t>
            </a:r>
            <a:r>
              <a:rPr lang="en-US" dirty="0" smtClean="0">
                <a:solidFill>
                  <a:schemeClr val="dk1"/>
                </a:solidFill>
              </a:rPr>
              <a:t> </a:t>
            </a:r>
            <a:r>
              <a:rPr lang="ru-RU" dirty="0" smtClean="0">
                <a:solidFill>
                  <a:schemeClr val="dk1"/>
                </a:solidFill>
              </a:rPr>
              <a:t>версии с </a:t>
            </a:r>
            <a:r>
              <a:rPr lang="en-US" dirty="0" smtClean="0">
                <a:solidFill>
                  <a:schemeClr val="dk1"/>
                </a:solidFill>
              </a:rPr>
              <a:t>UI).</a:t>
            </a:r>
            <a:endParaRPr lang="ru-RU" sz="18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6850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5694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9865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858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удаленную ветку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-m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 локальную ветку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: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Удалить 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ветку (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которую вы хотите переименовать</a:t>
            </a:r>
          </a:p>
          <a:p>
            <a:pPr rtl="0" eaLnBrk="1" fontAlgn="auto" latinLnBrk="0" hangingPunct="1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-u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Загрузить (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ветку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удаленный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merge fix_bug_001 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ru-RU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мержим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ветки (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fix/bug_001 -&gt; _master)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-d fix_bug_001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удаляем ветку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2477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2012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пояснить</a:t>
            </a:r>
            <a:r>
              <a:rPr lang="ru-RU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8303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пояснить</a:t>
            </a:r>
            <a:r>
              <a:rPr lang="ru-RU" sz="1200" b="1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82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пояснить</a:t>
            </a:r>
            <a:r>
              <a:rPr lang="ru-RU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en-US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iss53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  <a:p>
            <a:pPr rtl="0" eaLnBrk="1" fontAlgn="t" latinLnBrk="0" hangingPunct="1"/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отправка изменений из локальной ветки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iss53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удаленную ветку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br1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удаленную ветку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-m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 локальную ветку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: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Удалить 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ветку (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которую вы хотите переименовать</a:t>
            </a:r>
          </a:p>
          <a:p>
            <a:pPr rtl="0" eaLnBrk="1" fontAlgn="auto" latinLnBrk="0" hangingPunct="1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-u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Загрузить (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ветку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удаленный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merge fix_bug_001 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ru-RU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мержим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ветки (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fix/bug_001 -&gt; _master)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-d fix_bug_001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ru-RU" sz="1200" b="0" i="0" u="none" strike="noStrike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удаляем ветку</a:t>
            </a:r>
            <a:endParaRPr lang="ru-RU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511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пояснить</a:t>
            </a:r>
            <a:r>
              <a:rPr lang="ru-RU" sz="1200" b="1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7666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0453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Отмена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отмены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используйте команду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идентификатор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хотите просмотреть. После выполнения команды вы отмените определенный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Удаление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удаления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используйте команду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идентификатор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хотите просмотреть. После выполнения команды вы удалите определенный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все данные будут возвращены к проекту что был на стадии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https://githowto.com/ru/removing_commits_from_a_branch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atlassian.com/ru/git/tutorials/undoing-changes/git-reset#:~:text=%D0%A0%D0%B5%D0%B7%D1%8E%D0%BC%D0%B5,%D1%81%D1%82%D1%80%D0%BE%D0%BA%D0%B8%2C%20%D1%81%D0%BE%D0%BE%D1%82%D0%B2%D0%B5%D1%82%D1%81%D1%82%D0%B2%D1%83%D1%8E%D1%89%D0%B8%D0%B5%20%D1%8D%D1%82%D0%B8%D0%BC%20%D1%82%D1%80%D0%B5%D0%BC%20%D0%B4%D0%B5%D1%80%D0%B5%D0%B2%D1%8C%D1%8F%D0%BC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https://proglib.io/p/git-cheatsheet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утилита для работы в командной строке (хотя есть и опции для работы через графический интерфейс)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https://selectel.ru/blog/tutorials/how-to-rebase-commits-and-branches/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7098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https://learngitbranching.js.org/ — интерактивная </a:t>
            </a:r>
            <a:r>
              <a:rPr lang="ru-RU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обучалка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ветвлению в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https://githowto.com/ru — отличный курс обучения гиту на русском с примерами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https://git-scm.com/book/ru/v2/ — pro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book</a:t>
            </a:r>
          </a:p>
          <a:p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https://www.udemy.com/course/git-expert-4-hours/ — онлайн курс по гиту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65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SCRU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ru.wikipedia.org/wiki/%D0%91%D0%B5%D1%80%D0%B5%D0%B6%D0%BB%D0%B8%D0%B2%D0%B0%D1%8F_%D1%80%D0%B0%D0%B7%D1%80%D0%B0%D0%B1%D0%BE%D1%82%D0%BA%D0%B0_%D0%BF%D1%80%D0%BE%D0%B3%D1%80%D0%B0%D0%BC%D0%BC%D0%BD%D0%BE%D0%B3%D0%BE_%D0%BE%D0%B1%D0%B5%D1%81%D0%BF%D0%B5%D1%87%D0%B5%D0%BD%D0%B8%D1%8F" TargetMode="External"/><Relationship Id="rId4" Type="http://schemas.openxmlformats.org/officeDocument/2006/relationships/hyperlink" Target="https://ru.wikipedia.org/wiki/%D0%9A%D0%B0%D0%BD%D0%B1%D0%B0%D0%BD_(%D1%80%D0%B0%D0%B7%D1%80%D0%B0%D0%B1%D0%BE%D1%82%D0%BA%D0%B0)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rometheus.io/docs/introduction/overview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vagrantup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ef.io/products/chef-infra" TargetMode="External"/><Relationship Id="rId11" Type="http://schemas.openxmlformats.org/officeDocument/2006/relationships/hyperlink" Target="https://www.nagios.org/" TargetMode="External"/><Relationship Id="rId5" Type="http://schemas.openxmlformats.org/officeDocument/2006/relationships/hyperlink" Target="https://puppet.com/" TargetMode="External"/><Relationship Id="rId10" Type="http://schemas.openxmlformats.org/officeDocument/2006/relationships/hyperlink" Target="https://www.elastic.co/elastic-stack?ultron=B-Stack-Trials-EMEA-C-Exact&amp;gambit=Elasticsearch-ELK&amp;blade=adwords-s&amp;hulk=cpc&amp;Device=c&amp;thor=elk%20stack&amp;gclid=Cj0KCQiAvbiBBhD-ARIsAGM48bwTIRIKaubLR8xJNSwwr5R6Za7WG_iHQzFVQIkU6xxi1CW2B_BFj_caAqaDEALw_wcB" TargetMode="External"/><Relationship Id="rId4" Type="http://schemas.openxmlformats.org/officeDocument/2006/relationships/hyperlink" Target="https://www.ansible.com/" TargetMode="External"/><Relationship Id="rId9" Type="http://schemas.openxmlformats.org/officeDocument/2006/relationships/hyperlink" Target="https://www.splunk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mcs.mail.ru/blog/chto-takoe-metodologiya-devops" TargetMode="External"/><Relationship Id="rId3" Type="http://schemas.openxmlformats.org/officeDocument/2006/relationships/hyperlink" Target="https://katalon.com/resources-center/blog/ci-cd-tools" TargetMode="External"/><Relationship Id="rId7" Type="http://schemas.openxmlformats.org/officeDocument/2006/relationships/hyperlink" Target="https://habr.com/ru/company/otus/blog/515078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yandex.ru/blog/posts/2022/10/ci-cd" TargetMode="External"/><Relationship Id="rId5" Type="http://schemas.openxmlformats.org/officeDocument/2006/relationships/hyperlink" Target="https://www.spiceworks.com/tech/devops/articles/cicd-vs-devops/" TargetMode="External"/><Relationship Id="rId10" Type="http://schemas.openxmlformats.org/officeDocument/2006/relationships/hyperlink" Target="https://intuit.ru/studies/courses/3680/922/lecture/32689?page=1" TargetMode="External"/><Relationship Id="rId4" Type="http://schemas.openxmlformats.org/officeDocument/2006/relationships/hyperlink" Target="https://katalon.com/resources-center/blog/ci-cd-introduction" TargetMode="External"/><Relationship Id="rId9" Type="http://schemas.openxmlformats.org/officeDocument/2006/relationships/hyperlink" Target="https://proglib.io/p/osnovy-metodologii-devops-2021-02-20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rc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rcs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gitbranching.js.org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demy.com/course/git-expert-4-hours/" TargetMode="External"/><Relationship Id="rId5" Type="http://schemas.openxmlformats.org/officeDocument/2006/relationships/hyperlink" Target="https://git-scm.com/book/ru/v2/" TargetMode="External"/><Relationship Id="rId4" Type="http://schemas.openxmlformats.org/officeDocument/2006/relationships/hyperlink" Target="https://githowto.com/ru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iqa.ru/courses/git/lesson-1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mailto:remote.origin.url=git@github.com:login/&#1088;&#1077;&#1087;&#1086;&#1079;&#1080;&#1090;&#1086;&#1088;&#1080;&#1081;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Избранные главы информатики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Clr>
                <a:srgbClr val="FF0000"/>
              </a:buClr>
            </a:pPr>
            <a:r>
              <a:rPr lang="ru-RU" dirty="0"/>
              <a:t>Основы </a:t>
            </a:r>
            <a:r>
              <a:rPr lang="ru-RU" dirty="0" smtClean="0"/>
              <a:t>CI/CD</a:t>
            </a:r>
            <a:r>
              <a:rPr lang="en-US" dirty="0"/>
              <a:t>,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493433"/>
            <a:ext cx="10058400" cy="3260596"/>
          </a:xfrm>
        </p:spPr>
        <p:txBody>
          <a:bodyPr>
            <a:normAutofit/>
          </a:bodyPr>
          <a:lstStyle/>
          <a:p>
            <a:pPr marL="514350" lvl="0" indent="-514350">
              <a:buClr>
                <a:schemeClr val="tx1"/>
              </a:buClr>
              <a:buFont typeface="+mj-lt"/>
              <a:buAutoNum type="arabicPeriod"/>
            </a:pPr>
            <a:r>
              <a:rPr lang="ru-RU" sz="3600" dirty="0">
                <a:solidFill>
                  <a:schemeClr val="tx1"/>
                </a:solidFill>
              </a:rPr>
              <a:t>Основы CI/CD </a:t>
            </a:r>
            <a:endParaRPr lang="en-US" sz="3600" dirty="0" smtClean="0">
              <a:solidFill>
                <a:schemeClr val="tx1"/>
              </a:solidFill>
            </a:endParaRPr>
          </a:p>
          <a:p>
            <a:pPr marL="514350" lvl="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3600" dirty="0" smtClean="0">
                <a:solidFill>
                  <a:schemeClr val="tx1"/>
                </a:solidFill>
              </a:rPr>
              <a:t>G</a:t>
            </a:r>
            <a:r>
              <a:rPr lang="ru-RU" sz="3600" dirty="0" err="1" smtClean="0">
                <a:solidFill>
                  <a:schemeClr val="tx1"/>
                </a:solidFill>
              </a:rPr>
              <a:t>it</a:t>
            </a:r>
            <a:r>
              <a:rPr lang="ru-RU" sz="3600" dirty="0" smtClean="0">
                <a:solidFill>
                  <a:schemeClr val="tx1"/>
                </a:solidFill>
              </a:rPr>
              <a:t> </a:t>
            </a:r>
            <a:r>
              <a:rPr lang="ru-RU" sz="3600" dirty="0">
                <a:solidFill>
                  <a:schemeClr val="tx1"/>
                </a:solidFill>
              </a:rPr>
              <a:t>и системы контроля </a:t>
            </a:r>
            <a:r>
              <a:rPr lang="ru-RU" sz="3600" dirty="0" smtClean="0">
                <a:solidFill>
                  <a:schemeClr val="tx1"/>
                </a:solidFill>
              </a:rPr>
              <a:t>версий</a:t>
            </a:r>
          </a:p>
        </p:txBody>
      </p:sp>
    </p:spTree>
    <p:extLst>
      <p:ext uri="{BB962C8B-B14F-4D97-AF65-F5344CB8AC3E}">
        <p14:creationId xmlns:p14="http://schemas.microsoft.com/office/powerpoint/2010/main" val="159457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</a:t>
            </a:r>
            <a:endParaRPr lang="ru-RU" dirty="0"/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229" y="1890489"/>
            <a:ext cx="9076171" cy="4691211"/>
          </a:xfrm>
        </p:spPr>
      </p:pic>
      <p:sp>
        <p:nvSpPr>
          <p:cNvPr id="5" name="Прямоугольник 4"/>
          <p:cNvSpPr/>
          <p:nvPr/>
        </p:nvSpPr>
        <p:spPr>
          <a:xfrm>
            <a:off x="199629" y="5873234"/>
            <a:ext cx="7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1970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373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4900" y="286603"/>
            <a:ext cx="1108710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Agile (</a:t>
            </a:r>
            <a:r>
              <a:rPr lang="en-US" dirty="0"/>
              <a:t> </a:t>
            </a:r>
            <a:r>
              <a:rPr lang="en-US" dirty="0">
                <a:hlinkClick r:id="rId3"/>
              </a:rPr>
              <a:t>SCRUM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Kanban</a:t>
            </a:r>
            <a:r>
              <a:rPr lang="en-US" dirty="0"/>
              <a:t>, </a:t>
            </a:r>
            <a:r>
              <a:rPr lang="en-US" dirty="0" smtClean="0">
                <a:hlinkClick r:id="rId5"/>
              </a:rPr>
              <a:t>Lean</a:t>
            </a:r>
            <a:r>
              <a:rPr lang="en-US" dirty="0" smtClean="0"/>
              <a:t>…)</a:t>
            </a:r>
            <a:endParaRPr lang="ru-RU" dirty="0"/>
          </a:p>
        </p:txBody>
      </p:sp>
      <p:pic>
        <p:nvPicPr>
          <p:cNvPr id="5" name="Объект 4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11" y="2171577"/>
            <a:ext cx="11485720" cy="3429123"/>
          </a:xfrm>
        </p:spPr>
      </p:pic>
      <p:sp>
        <p:nvSpPr>
          <p:cNvPr id="4" name="Прямоугольник 3"/>
          <p:cNvSpPr/>
          <p:nvPr/>
        </p:nvSpPr>
        <p:spPr>
          <a:xfrm>
            <a:off x="0" y="5916096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2001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08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4900" y="286603"/>
            <a:ext cx="11087100" cy="1450757"/>
          </a:xfrm>
        </p:spPr>
        <p:txBody>
          <a:bodyPr>
            <a:normAutofit/>
          </a:bodyPr>
          <a:lstStyle/>
          <a:p>
            <a:r>
              <a:rPr lang="en-US" dirty="0" smtClean="0"/>
              <a:t>DevOps - </a:t>
            </a:r>
            <a:r>
              <a:rPr lang="ru-RU" dirty="0"/>
              <a:t>модель </a:t>
            </a:r>
            <a:r>
              <a:rPr lang="en-US" dirty="0"/>
              <a:t>CAMS</a:t>
            </a: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7798308" cy="4587240"/>
          </a:xfrm>
        </p:spPr>
      </p:pic>
      <p:sp>
        <p:nvSpPr>
          <p:cNvPr id="6" name="Прямоугольник 5"/>
          <p:cNvSpPr/>
          <p:nvPr/>
        </p:nvSpPr>
        <p:spPr>
          <a:xfrm>
            <a:off x="8091487" y="1900535"/>
            <a:ext cx="388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Roboto"/>
              </a:rPr>
              <a:t>DevOps</a:t>
            </a:r>
            <a:r>
              <a:rPr lang="ru-RU" sz="2800" dirty="0">
                <a:latin typeface="Roboto"/>
              </a:rPr>
              <a:t> и </a:t>
            </a:r>
            <a:r>
              <a:rPr lang="ru-RU" sz="2800" dirty="0" err="1">
                <a:latin typeface="Roboto"/>
              </a:rPr>
              <a:t>Agile</a:t>
            </a:r>
            <a:r>
              <a:rPr lang="ru-RU" sz="2800" dirty="0">
                <a:latin typeface="Roboto"/>
              </a:rPr>
              <a:t> могут дополнять друг друга и применяться в </a:t>
            </a:r>
            <a:r>
              <a:rPr lang="ru-RU" sz="2800" dirty="0" smtClean="0">
                <a:latin typeface="Roboto"/>
              </a:rPr>
              <a:t>тандеме</a:t>
            </a:r>
            <a:r>
              <a:rPr lang="en-US" sz="2800" dirty="0" smtClean="0">
                <a:latin typeface="Roboto"/>
              </a:rPr>
              <a:t> </a:t>
            </a:r>
          </a:p>
          <a:p>
            <a:endParaRPr lang="en-US" sz="2800" dirty="0" smtClean="0">
              <a:latin typeface="Roboto"/>
            </a:endParaRPr>
          </a:p>
          <a:p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93038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2010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889064" y="3901559"/>
            <a:ext cx="410054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 smtClean="0"/>
              <a:t>Регулярное сотрудничество и общение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Постепенное развертывание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Общая ответственность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Решение проблем на ранних этапах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0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6288" y="542925"/>
            <a:ext cx="7153275" cy="765810"/>
          </a:xfrm>
        </p:spPr>
        <p:txBody>
          <a:bodyPr>
            <a:normAutofit/>
          </a:bodyPr>
          <a:lstStyle/>
          <a:p>
            <a:r>
              <a:rPr lang="ru-RU" dirty="0"/>
              <a:t>Жизненный цикл </a:t>
            </a:r>
            <a:r>
              <a:rPr lang="en-US" dirty="0"/>
              <a:t>DevOps</a:t>
            </a:r>
          </a:p>
        </p:txBody>
      </p:sp>
      <p:pic>
        <p:nvPicPr>
          <p:cNvPr id="5" name="Объект 4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1622"/>
            <a:ext cx="5337334" cy="4957690"/>
          </a:xfrm>
        </p:spPr>
      </p:pic>
      <p:sp>
        <p:nvSpPr>
          <p:cNvPr id="4" name="Прямоугольник 3"/>
          <p:cNvSpPr/>
          <p:nvPr/>
        </p:nvSpPr>
        <p:spPr>
          <a:xfrm>
            <a:off x="5543551" y="1629847"/>
            <a:ext cx="647223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Разработка</a:t>
            </a:r>
            <a:r>
              <a:rPr lang="ru-RU" sz="2400" dirty="0" smtClean="0"/>
              <a:t>  (планирование и кодирование)</a:t>
            </a:r>
          </a:p>
          <a:p>
            <a:r>
              <a:rPr lang="ru-RU" sz="2400" b="1" dirty="0" smtClean="0"/>
              <a:t>Интеграция</a:t>
            </a:r>
            <a:r>
              <a:rPr lang="ru-RU" sz="2400" dirty="0" smtClean="0"/>
              <a:t>(компиляция кода, проверка, модульное тестирование, интеграционное тестирование и упаковка - </a:t>
            </a:r>
            <a:r>
              <a:rPr lang="en-US" sz="2400" dirty="0" smtClean="0"/>
              <a:t>Jenkins</a:t>
            </a:r>
            <a:r>
              <a:rPr lang="ru-RU" sz="2400" dirty="0" smtClean="0"/>
              <a:t>)</a:t>
            </a:r>
          </a:p>
          <a:p>
            <a:r>
              <a:rPr lang="ru-RU" sz="2400" b="1" dirty="0" smtClean="0"/>
              <a:t>Тестирование</a:t>
            </a:r>
            <a:r>
              <a:rPr lang="ru-RU" sz="2400" dirty="0" smtClean="0"/>
              <a:t> (Автоматическое тестирование - </a:t>
            </a:r>
            <a:r>
              <a:rPr lang="ru-RU" sz="2400" dirty="0" err="1" smtClean="0"/>
              <a:t>Selenium</a:t>
            </a:r>
            <a:r>
              <a:rPr lang="ru-RU" sz="2400" dirty="0" smtClean="0"/>
              <a:t>, генерация отчетов – </a:t>
            </a:r>
            <a:r>
              <a:rPr lang="ru-RU" sz="2400" dirty="0" err="1" smtClean="0"/>
              <a:t>TestNG</a:t>
            </a:r>
            <a:r>
              <a:rPr lang="ru-RU" sz="2400" dirty="0" smtClean="0"/>
              <a:t>)</a:t>
            </a:r>
          </a:p>
          <a:p>
            <a:r>
              <a:rPr lang="ru-RU" sz="2400" b="1" dirty="0" smtClean="0"/>
              <a:t>Развертывание</a:t>
            </a:r>
            <a:r>
              <a:rPr lang="ru-RU" sz="2400" dirty="0" smtClean="0"/>
              <a:t> (</a:t>
            </a:r>
            <a:r>
              <a:rPr lang="en-US" sz="2400" dirty="0" err="1" smtClean="0">
                <a:hlinkClick r:id="rId4"/>
              </a:rPr>
              <a:t>Ansible</a:t>
            </a:r>
            <a:r>
              <a:rPr lang="en-US" sz="2400" dirty="0" smtClean="0"/>
              <a:t>, </a:t>
            </a:r>
            <a:r>
              <a:rPr lang="en-US" sz="2400" dirty="0" smtClean="0">
                <a:hlinkClick r:id="rId5"/>
              </a:rPr>
              <a:t>Puppet</a:t>
            </a:r>
            <a:r>
              <a:rPr lang="en-US" sz="2400" dirty="0" smtClean="0"/>
              <a:t> </a:t>
            </a:r>
            <a:r>
              <a:rPr lang="ru-RU" sz="2400" dirty="0" smtClean="0"/>
              <a:t>и </a:t>
            </a:r>
            <a:r>
              <a:rPr lang="en-US" sz="2400" dirty="0" smtClean="0">
                <a:hlinkClick r:id="rId6"/>
              </a:rPr>
              <a:t>Chef</a:t>
            </a:r>
            <a:r>
              <a:rPr lang="ru-RU" sz="2400" dirty="0" smtClean="0"/>
              <a:t> – развертывание, </a:t>
            </a:r>
            <a:r>
              <a:rPr lang="en-US" sz="2400" dirty="0" smtClean="0">
                <a:hlinkClick r:id="rId7"/>
              </a:rPr>
              <a:t>Vagrant </a:t>
            </a:r>
            <a:r>
              <a:rPr lang="ru-RU" sz="2400" dirty="0" smtClean="0"/>
              <a:t>и </a:t>
            </a:r>
            <a:r>
              <a:rPr lang="en-US" sz="2400" dirty="0" err="1" smtClean="0"/>
              <a:t>Docker</a:t>
            </a:r>
            <a:r>
              <a:rPr lang="ru-RU" sz="2400" dirty="0" smtClean="0"/>
              <a:t> – контейнеризация)</a:t>
            </a:r>
          </a:p>
          <a:p>
            <a:r>
              <a:rPr lang="ru-RU" sz="2400" dirty="0" smtClean="0"/>
              <a:t>Мониторинг (автоматический сбор телеметрии, метаданных, системные ошибки, безопасность - </a:t>
            </a:r>
            <a:r>
              <a:rPr lang="nl-NL" sz="2400" dirty="0" smtClean="0"/>
              <a:t> </a:t>
            </a:r>
            <a:r>
              <a:rPr lang="nl-NL" sz="2400" dirty="0" smtClean="0">
                <a:hlinkClick r:id="rId8"/>
              </a:rPr>
              <a:t>Prometheus</a:t>
            </a:r>
            <a:r>
              <a:rPr lang="nl-NL" sz="2400" dirty="0" smtClean="0"/>
              <a:t>, </a:t>
            </a:r>
            <a:r>
              <a:rPr lang="nl-NL" sz="2400" dirty="0" smtClean="0">
                <a:hlinkClick r:id="rId9"/>
              </a:rPr>
              <a:t>Splunk</a:t>
            </a:r>
            <a:r>
              <a:rPr lang="nl-NL" sz="2400" dirty="0" smtClean="0"/>
              <a:t>, </a:t>
            </a:r>
            <a:r>
              <a:rPr lang="nl-NL" sz="2400" dirty="0" smtClean="0">
                <a:hlinkClick r:id="rId10"/>
              </a:rPr>
              <a:t>ELK Stack</a:t>
            </a:r>
            <a:r>
              <a:rPr lang="nl-NL" sz="2400" dirty="0" smtClean="0"/>
              <a:t>, </a:t>
            </a:r>
            <a:r>
              <a:rPr lang="nl-NL" sz="2400" dirty="0" smtClean="0">
                <a:hlinkClick r:id="rId11"/>
              </a:rPr>
              <a:t>Nagios</a:t>
            </a:r>
            <a:r>
              <a:rPr lang="ru-RU" sz="2400" dirty="0" smtClean="0"/>
              <a:t>)</a:t>
            </a:r>
          </a:p>
          <a:p>
            <a:r>
              <a:rPr lang="ru-RU" sz="2400" b="1" dirty="0" smtClean="0"/>
              <a:t>Обратная связь</a:t>
            </a:r>
            <a:r>
              <a:rPr lang="ru-RU" sz="2400" dirty="0" smtClean="0"/>
              <a:t> от клиентов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2680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770870" cy="2154766"/>
          </a:xfrm>
        </p:spPr>
        <p:txBody>
          <a:bodyPr>
            <a:normAutofit/>
          </a:bodyPr>
          <a:lstStyle/>
          <a:p>
            <a:r>
              <a:rPr lang="ru-RU" sz="2800" dirty="0"/>
              <a:t>CI/CD (</a:t>
            </a:r>
            <a:r>
              <a:rPr lang="ru-RU" sz="2800" dirty="0" err="1"/>
              <a:t>Continuous</a:t>
            </a:r>
            <a:r>
              <a:rPr lang="ru-RU" sz="2800" dirty="0"/>
              <a:t> </a:t>
            </a:r>
            <a:r>
              <a:rPr lang="ru-RU" sz="2800" dirty="0" err="1"/>
              <a:t>Integration</a:t>
            </a:r>
            <a:r>
              <a:rPr lang="ru-RU" sz="2800" dirty="0"/>
              <a:t>, </a:t>
            </a:r>
            <a:r>
              <a:rPr lang="ru-RU" sz="2800" dirty="0" err="1"/>
              <a:t>Continuous</a:t>
            </a:r>
            <a:r>
              <a:rPr lang="ru-RU" sz="2800" dirty="0"/>
              <a:t> </a:t>
            </a:r>
            <a:r>
              <a:rPr lang="ru-RU" sz="2800" dirty="0" err="1"/>
              <a:t>Delivery</a:t>
            </a:r>
            <a:r>
              <a:rPr lang="ru-RU" sz="2800" dirty="0"/>
              <a:t> — непрерывная интеграция и доставка) — это технология автоматизации тестирования и доставки новых модулей разрабатываемого проекта заинтересованным сторонам (разработчикам, аналитикам, инженерам качества, конечным пользователям и др.).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81" y="3867150"/>
            <a:ext cx="8522919" cy="282913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rot="10800000" flipV="1">
            <a:off x="9211825" y="4785692"/>
            <a:ext cx="2980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/>
              <a:t>DevOps</a:t>
            </a:r>
            <a:r>
              <a:rPr lang="ru-RU" sz="2000" dirty="0"/>
              <a:t> — более широкая концепция, а CI/CD — инструменты</a:t>
            </a:r>
            <a:r>
              <a:rPr lang="ru-RU" sz="2000" dirty="0" smtClean="0"/>
              <a:t>/</a:t>
            </a:r>
            <a:r>
              <a:rPr lang="en-US" sz="2000" dirty="0" smtClean="0"/>
              <a:t> </a:t>
            </a:r>
            <a:r>
              <a:rPr lang="ru-RU" sz="2000" dirty="0" smtClean="0"/>
              <a:t>практики </a:t>
            </a:r>
            <a:r>
              <a:rPr lang="ru-RU" sz="2000" dirty="0"/>
              <a:t>внутри </a:t>
            </a:r>
            <a:r>
              <a:rPr lang="ru-RU" sz="2000" dirty="0" smtClean="0"/>
              <a:t>нее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03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r>
              <a:rPr lang="ru-RU" dirty="0" smtClean="0"/>
              <a:t> -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770870" cy="2154766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автоматизация последовательной сборки, упаковки и тестирования программных продуктов;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автоматизация развертывания приложения в различных окружениях;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минимизация ошибок и уязвимостей программного </a:t>
            </a:r>
            <a:r>
              <a:rPr lang="ru-RU" sz="2800" dirty="0" smtClean="0"/>
              <a:t>продукта</a:t>
            </a:r>
            <a:endParaRPr lang="en-US" sz="2800" dirty="0" smtClean="0"/>
          </a:p>
          <a:p>
            <a:pPr fontAlgn="base">
              <a:buFont typeface="Arial" panose="020B0604020202020204" pitchFamily="34" charset="0"/>
              <a:buChar char="•"/>
            </a:pPr>
            <a:endParaRPr lang="en-US" sz="2800" dirty="0"/>
          </a:p>
          <a:p>
            <a:pPr fontAlgn="base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2641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r>
              <a:rPr lang="ru-RU" dirty="0" smtClean="0"/>
              <a:t> - принципы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4030" y="2264834"/>
            <a:ext cx="6313170" cy="2707216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Распределение ответственности;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Сокращение рисков;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Оптимизация обратной </a:t>
            </a:r>
            <a:r>
              <a:rPr lang="ru-RU" sz="2800" dirty="0" smtClean="0"/>
              <a:t>связи</a:t>
            </a:r>
            <a:r>
              <a:rPr lang="en-US" sz="2800" dirty="0" smtClean="0"/>
              <a:t>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Создание рабочей среды</a:t>
            </a:r>
            <a:endParaRPr lang="en-US" sz="2800" dirty="0" smtClean="0"/>
          </a:p>
          <a:p>
            <a:pPr fontAlgn="base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2329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r>
              <a:rPr lang="ru-RU" dirty="0" smtClean="0"/>
              <a:t> –</a:t>
            </a:r>
            <a:r>
              <a:rPr lang="ru-RU" dirty="0"/>
              <a:t> </a:t>
            </a:r>
            <a:r>
              <a:rPr lang="ru-RU" dirty="0" smtClean="0"/>
              <a:t>этапы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214463"/>
            <a:ext cx="4770120" cy="4052987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Написание кода;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Сборка;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Тестирование</a:t>
            </a:r>
            <a:r>
              <a:rPr lang="en-US" sz="2800" dirty="0" smtClean="0"/>
              <a:t>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Релиз;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Развертывание;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Поддержка и мониторинг;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 smtClean="0"/>
              <a:t>Планирование.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814" y="0"/>
            <a:ext cx="5264186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6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r>
              <a:rPr lang="ru-RU" dirty="0" smtClean="0"/>
              <a:t> –</a:t>
            </a:r>
            <a:r>
              <a:rPr lang="ru-RU" dirty="0"/>
              <a:t> </a:t>
            </a:r>
            <a:r>
              <a:rPr lang="ru-RU" dirty="0" smtClean="0"/>
              <a:t>этапы</a:t>
            </a:r>
            <a:endParaRPr lang="ru-RU" dirty="0"/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2357340"/>
            <a:ext cx="12093153" cy="265281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928399" y="4622525"/>
            <a:ext cx="85822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404040"/>
                </a:solidFill>
                <a:latin typeface="Inter"/>
              </a:rPr>
              <a:t>Пример CI/CD в </a:t>
            </a:r>
            <a:r>
              <a:rPr lang="ru-RU" b="1" dirty="0" err="1">
                <a:solidFill>
                  <a:srgbClr val="404040"/>
                </a:solidFill>
                <a:latin typeface="Inter"/>
              </a:rPr>
              <a:t>DevOps</a:t>
            </a:r>
            <a:r>
              <a:rPr lang="ru-RU" b="1" dirty="0">
                <a:solidFill>
                  <a:srgbClr val="404040"/>
                </a:solidFill>
                <a:latin typeface="Inter"/>
              </a:rPr>
              <a:t>-процессе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  <a:latin typeface="Inter"/>
              </a:rPr>
              <a:t>Разработчик пушит код в </a:t>
            </a:r>
            <a:r>
              <a:rPr lang="ru-RU" dirty="0" err="1">
                <a:solidFill>
                  <a:srgbClr val="404040"/>
                </a:solidFill>
                <a:latin typeface="Inter"/>
              </a:rPr>
              <a:t>Git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 → </a:t>
            </a:r>
            <a:r>
              <a:rPr lang="ru-RU" b="1" dirty="0">
                <a:solidFill>
                  <a:srgbClr val="404040"/>
                </a:solidFill>
                <a:latin typeface="Inter"/>
              </a:rPr>
              <a:t>CI-</a:t>
            </a:r>
            <a:r>
              <a:rPr lang="ru-RU" b="1" dirty="0" err="1">
                <a:solidFill>
                  <a:srgbClr val="404040"/>
                </a:solidFill>
                <a:latin typeface="Inter"/>
              </a:rPr>
              <a:t>пайплайн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 запускает тесты.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  <a:latin typeface="Inter"/>
              </a:rPr>
              <a:t>Если тесты пройдены → </a:t>
            </a:r>
            <a:r>
              <a:rPr lang="ru-RU" b="1" dirty="0">
                <a:solidFill>
                  <a:srgbClr val="404040"/>
                </a:solidFill>
                <a:latin typeface="Inter"/>
              </a:rPr>
              <a:t>CD-</a:t>
            </a:r>
            <a:r>
              <a:rPr lang="ru-RU" b="1" dirty="0" err="1">
                <a:solidFill>
                  <a:srgbClr val="404040"/>
                </a:solidFill>
                <a:latin typeface="Inter"/>
              </a:rPr>
              <a:t>пайплайн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 разворачивает код на тестовом сервере.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  <a:latin typeface="Inter"/>
              </a:rPr>
              <a:t>После проверки → автоматический </a:t>
            </a:r>
            <a:r>
              <a:rPr lang="ru-RU" dirty="0" err="1">
                <a:solidFill>
                  <a:srgbClr val="404040"/>
                </a:solidFill>
                <a:latin typeface="Inter"/>
              </a:rPr>
              <a:t>деплой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 в </a:t>
            </a:r>
            <a:r>
              <a:rPr lang="ru-RU" dirty="0" err="1">
                <a:solidFill>
                  <a:srgbClr val="404040"/>
                </a:solidFill>
                <a:latin typeface="Inter"/>
              </a:rPr>
              <a:t>продакшен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.</a:t>
            </a:r>
            <a:endParaRPr lang="ru-RU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9049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CI-</a:t>
            </a:r>
            <a:r>
              <a:rPr lang="ru-RU" b="1" dirty="0" err="1"/>
              <a:t>пайплайн</a:t>
            </a:r>
            <a:r>
              <a:rPr lang="ru-RU" b="1" dirty="0"/>
              <a:t> (</a:t>
            </a:r>
            <a:r>
              <a:rPr lang="ru-RU" b="1" dirty="0" err="1"/>
              <a:t>Continuous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r>
              <a:rPr lang="ru-RU" b="1" dirty="0"/>
              <a:t> </a:t>
            </a:r>
            <a:r>
              <a:rPr lang="ru-RU" b="1" dirty="0" err="1"/>
              <a:t>Pipeline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CI-</a:t>
            </a:r>
            <a:r>
              <a:rPr lang="ru-RU" sz="2800" b="1" dirty="0" err="1"/>
              <a:t>пайплайн</a:t>
            </a:r>
            <a:r>
              <a:rPr lang="ru-RU" sz="2800" b="1" dirty="0"/>
              <a:t> (</a:t>
            </a:r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Integration</a:t>
            </a:r>
            <a:r>
              <a:rPr lang="ru-RU" sz="2800" b="1" dirty="0"/>
              <a:t> </a:t>
            </a:r>
            <a:r>
              <a:rPr lang="ru-RU" sz="2800" b="1" dirty="0" err="1"/>
              <a:t>Pipeline</a:t>
            </a:r>
            <a:r>
              <a:rPr lang="ru-RU" sz="2800" b="1" dirty="0"/>
              <a:t>)</a:t>
            </a:r>
            <a:r>
              <a:rPr lang="ru-RU" sz="2800" dirty="0"/>
              <a:t> — это автоматизированная последовательность шагов, которая проверяет и подготавливает ваш код при каждом изменении (например, при </a:t>
            </a:r>
            <a:r>
              <a:rPr lang="ru-RU" sz="2800" dirty="0" err="1"/>
              <a:t>коммите</a:t>
            </a:r>
            <a:r>
              <a:rPr lang="ru-RU" sz="2800" dirty="0"/>
              <a:t> в </a:t>
            </a:r>
            <a:r>
              <a:rPr lang="ru-RU" sz="2800" dirty="0" err="1"/>
              <a:t>Git</a:t>
            </a:r>
            <a:r>
              <a:rPr lang="ru-RU" sz="2800" dirty="0"/>
              <a:t>). </a:t>
            </a:r>
            <a:endParaRPr lang="ru-RU" sz="2800" dirty="0" smtClean="0"/>
          </a:p>
          <a:p>
            <a:r>
              <a:rPr lang="ru-RU" sz="2800" dirty="0" smtClean="0"/>
              <a:t>Цель </a:t>
            </a:r>
            <a:r>
              <a:rPr lang="ru-RU" sz="2800" dirty="0"/>
              <a:t>— быстро находить ошибки и гарантировать, что новая версия кода работает корректно.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7392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624" y="286603"/>
            <a:ext cx="10806056" cy="1450757"/>
          </a:xfrm>
        </p:spPr>
        <p:txBody>
          <a:bodyPr/>
          <a:lstStyle/>
          <a:p>
            <a:r>
              <a:rPr lang="ru-RU" dirty="0"/>
              <a:t>Из чего состоит CI-</a:t>
            </a:r>
            <a:r>
              <a:rPr lang="ru-RU" dirty="0" err="1"/>
              <a:t>пайплайн</a:t>
            </a:r>
            <a:r>
              <a:rPr lang="ru-RU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624" y="1737360"/>
            <a:ext cx="11842376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 smtClean="0"/>
              <a:t>Сборка </a:t>
            </a:r>
            <a:r>
              <a:rPr lang="ru-RU" sz="2800" b="1" dirty="0"/>
              <a:t>(</a:t>
            </a:r>
            <a:r>
              <a:rPr lang="ru-RU" sz="2800" b="1" dirty="0" err="1"/>
              <a:t>Build</a:t>
            </a:r>
            <a:r>
              <a:rPr lang="ru-RU" sz="2800" b="1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Компиляция кода (если нужно) и подготовка рабочей версии приложения.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Пример: сборка </a:t>
            </a:r>
            <a:r>
              <a:rPr lang="ru-RU" sz="2500" dirty="0" err="1"/>
              <a:t>Docker</a:t>
            </a:r>
            <a:r>
              <a:rPr lang="ru-RU" sz="2500" dirty="0"/>
              <a:t>-образа или компиляция </a:t>
            </a:r>
            <a:r>
              <a:rPr lang="ru-RU" sz="2500" dirty="0" err="1"/>
              <a:t>Java</a:t>
            </a:r>
            <a:r>
              <a:rPr lang="ru-RU" sz="2500" dirty="0"/>
              <a:t>-кода.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 smtClean="0"/>
              <a:t>Тестирование</a:t>
            </a:r>
            <a:endParaRPr lang="ru-RU" sz="28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Запуск автоматических тестов: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 smtClean="0"/>
              <a:t>Юнит-тесты </a:t>
            </a:r>
            <a:r>
              <a:rPr lang="ru-RU" sz="1800" dirty="0"/>
              <a:t>— проверка отдельных функций</a:t>
            </a:r>
            <a:r>
              <a:rPr lang="ru-RU" sz="1800" dirty="0" smtClean="0"/>
              <a:t>.</a:t>
            </a:r>
            <a:endParaRPr lang="ru-RU" sz="1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Интеграционные тесты — проверка взаимодействия компонентов</a:t>
            </a:r>
            <a:r>
              <a:rPr lang="ru-RU" sz="1800" dirty="0" smtClean="0"/>
              <a:t>.</a:t>
            </a:r>
            <a:endParaRPr lang="ru-RU" sz="1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Статический анализ — поиск уязвимостей или ошибок стиля (например, через </a:t>
            </a:r>
            <a:r>
              <a:rPr lang="ru-RU" sz="1800" dirty="0" err="1"/>
              <a:t>SonarQube</a:t>
            </a:r>
            <a:r>
              <a:rPr lang="ru-RU" sz="1800" dirty="0"/>
              <a:t>, </a:t>
            </a:r>
            <a:r>
              <a:rPr lang="ru-RU" sz="1800" dirty="0" err="1"/>
              <a:t>Bandit</a:t>
            </a:r>
            <a:r>
              <a:rPr lang="ru-RU" sz="1800" dirty="0"/>
              <a:t>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 smtClean="0"/>
              <a:t>Создание </a:t>
            </a:r>
            <a:r>
              <a:rPr lang="ru-RU" sz="2800" b="1" dirty="0"/>
              <a:t>артефактов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Сохранение готовых </a:t>
            </a:r>
            <a:r>
              <a:rPr lang="ru-RU" sz="2500" dirty="0" err="1"/>
              <a:t>билдов</a:t>
            </a:r>
            <a:r>
              <a:rPr lang="ru-RU" sz="2500" dirty="0"/>
              <a:t> </a:t>
            </a:r>
            <a:r>
              <a:rPr lang="ru-RU" dirty="0"/>
              <a:t>(например, .</a:t>
            </a:r>
            <a:r>
              <a:rPr lang="ru-RU" dirty="0" err="1"/>
              <a:t>jar</a:t>
            </a:r>
            <a:r>
              <a:rPr lang="ru-RU" dirty="0"/>
              <a:t>, .</a:t>
            </a:r>
            <a:r>
              <a:rPr lang="ru-RU" dirty="0" err="1"/>
              <a:t>exe</a:t>
            </a:r>
            <a:r>
              <a:rPr lang="ru-RU" dirty="0"/>
              <a:t>, </a:t>
            </a:r>
            <a:r>
              <a:rPr lang="ru-RU" dirty="0" err="1"/>
              <a:t>Docker</a:t>
            </a:r>
            <a:r>
              <a:rPr lang="ru-RU" dirty="0"/>
              <a:t>-образов) для дальнейшего использования.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 smtClean="0"/>
              <a:t>Уведомления</a:t>
            </a:r>
            <a:endParaRPr lang="ru-RU" sz="2800" b="1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Отправка результатов (успех/провал) в </a:t>
            </a:r>
            <a:r>
              <a:rPr lang="ru-RU" sz="2500" dirty="0" err="1"/>
              <a:t>Slack</a:t>
            </a:r>
            <a:r>
              <a:rPr lang="ru-RU" sz="2500" dirty="0"/>
              <a:t>, почту или чат.</a:t>
            </a:r>
          </a:p>
        </p:txBody>
      </p:sp>
    </p:spTree>
    <p:extLst>
      <p:ext uri="{BB962C8B-B14F-4D97-AF65-F5344CB8AC3E}">
        <p14:creationId xmlns:p14="http://schemas.microsoft.com/office/powerpoint/2010/main" val="260127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r>
              <a:rPr lang="ru-RU" b="1" dirty="0"/>
              <a:t>Пример </a:t>
            </a:r>
            <a:r>
              <a:rPr lang="en-US" b="1" dirty="0"/>
              <a:t>CI-</a:t>
            </a:r>
            <a:r>
              <a:rPr lang="ru-RU" b="1" dirty="0" err="1"/>
              <a:t>пайплайна</a:t>
            </a:r>
            <a:r>
              <a:rPr lang="ru-RU" b="1" dirty="0"/>
              <a:t> на </a:t>
            </a:r>
            <a:r>
              <a:rPr lang="en-US" b="1" dirty="0"/>
              <a:t>GitHub </a:t>
            </a:r>
            <a:r>
              <a:rPr lang="en-US" b="1" dirty="0" smtClean="0"/>
              <a:t>Actions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32" y="884256"/>
            <a:ext cx="5366772" cy="58015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643" y="4862838"/>
            <a:ext cx="548716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4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CD-</a:t>
            </a:r>
            <a:r>
              <a:rPr lang="ru-RU" dirty="0" err="1"/>
              <a:t>пайплайн</a:t>
            </a:r>
            <a:r>
              <a:rPr lang="ru-RU" dirty="0"/>
              <a:t> (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Delivery</a:t>
            </a:r>
            <a:r>
              <a:rPr lang="ru-RU" dirty="0"/>
              <a:t>/</a:t>
            </a:r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dirty="0" err="1"/>
              <a:t>Pipeline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CD-</a:t>
            </a:r>
            <a:r>
              <a:rPr lang="ru-RU" sz="2800" b="1" dirty="0" err="1"/>
              <a:t>пайплайн</a:t>
            </a:r>
            <a:r>
              <a:rPr lang="ru-RU" sz="2800" b="1" dirty="0"/>
              <a:t> (</a:t>
            </a:r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Delivery</a:t>
            </a:r>
            <a:r>
              <a:rPr lang="ru-RU" sz="2800" b="1" dirty="0"/>
              <a:t>/</a:t>
            </a:r>
            <a:r>
              <a:rPr lang="ru-RU" sz="2800" b="1" dirty="0" err="1"/>
              <a:t>Deployment</a:t>
            </a:r>
            <a:r>
              <a:rPr lang="ru-RU" sz="2800" b="1" dirty="0"/>
              <a:t> </a:t>
            </a:r>
            <a:r>
              <a:rPr lang="ru-RU" sz="2800" b="1" dirty="0" err="1"/>
              <a:t>Pipeline</a:t>
            </a:r>
            <a:r>
              <a:rPr lang="ru-RU" sz="2800" b="1" dirty="0"/>
              <a:t>) </a:t>
            </a:r>
            <a:r>
              <a:rPr lang="ru-RU" sz="2800" dirty="0"/>
              <a:t>— это автоматизированный процесс, который доставляет ваш код в нужные среды (тестовые, промежуточные, </a:t>
            </a:r>
            <a:r>
              <a:rPr lang="ru-RU" sz="2800" dirty="0" err="1"/>
              <a:t>прод</a:t>
            </a:r>
            <a:r>
              <a:rPr lang="ru-RU" sz="2800" dirty="0"/>
              <a:t>) и разворачивает его. </a:t>
            </a:r>
            <a:endParaRPr lang="en-US" sz="2800" dirty="0" smtClean="0"/>
          </a:p>
          <a:p>
            <a:r>
              <a:rPr lang="ru-RU" sz="2800" dirty="0" smtClean="0"/>
              <a:t>Если </a:t>
            </a:r>
            <a:r>
              <a:rPr lang="ru-RU" sz="2800" dirty="0"/>
              <a:t>CI-</a:t>
            </a:r>
            <a:r>
              <a:rPr lang="ru-RU" sz="2800" dirty="0" err="1"/>
              <a:t>пайплайн</a:t>
            </a:r>
            <a:r>
              <a:rPr lang="ru-RU" sz="2800" dirty="0"/>
              <a:t> проверяет код, то CD-</a:t>
            </a:r>
            <a:r>
              <a:rPr lang="ru-RU" sz="2800" dirty="0" err="1"/>
              <a:t>пайплайн</a:t>
            </a:r>
            <a:r>
              <a:rPr lang="ru-RU" sz="2800" dirty="0"/>
              <a:t> готовит его к релизу и автоматически выпускает (если всё настроено).</a:t>
            </a:r>
          </a:p>
        </p:txBody>
      </p:sp>
    </p:spTree>
    <p:extLst>
      <p:ext uri="{BB962C8B-B14F-4D97-AF65-F5344CB8AC3E}">
        <p14:creationId xmlns:p14="http://schemas.microsoft.com/office/powerpoint/2010/main" val="118005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Два варианта CD: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 err="1" smtClean="0"/>
              <a:t>Continuous</a:t>
            </a:r>
            <a:r>
              <a:rPr lang="ru-RU" sz="2800" b="1" dirty="0" smtClean="0"/>
              <a:t> </a:t>
            </a:r>
            <a:r>
              <a:rPr lang="ru-RU" sz="2800" b="1" dirty="0" err="1"/>
              <a:t>Delivery</a:t>
            </a:r>
            <a:r>
              <a:rPr lang="ru-RU" sz="2800" b="1" dirty="0"/>
              <a:t> (Непрерывная доставка)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500" dirty="0"/>
              <a:t>— Код после проверок автоматически </a:t>
            </a:r>
            <a:r>
              <a:rPr lang="ru-RU" sz="2500" b="1" dirty="0"/>
              <a:t>подготавливается к релизу</a:t>
            </a:r>
            <a:r>
              <a:rPr lang="ru-RU" sz="2500" dirty="0"/>
              <a:t> (например, собирается в артефакт), но развертывание в </a:t>
            </a:r>
            <a:r>
              <a:rPr lang="ru-RU" sz="2500" dirty="0" err="1"/>
              <a:t>прод</a:t>
            </a:r>
            <a:r>
              <a:rPr lang="ru-RU" sz="2500" dirty="0"/>
              <a:t> </a:t>
            </a:r>
            <a:r>
              <a:rPr lang="ru-RU" sz="2500" b="1" dirty="0"/>
              <a:t>требует ручного подтверждения</a:t>
            </a:r>
            <a:r>
              <a:rPr lang="ru-RU" sz="2500" dirty="0"/>
              <a:t> (например, нажатие кнопки «Выпустить</a:t>
            </a:r>
            <a:r>
              <a:rPr lang="ru-RU" sz="2500" dirty="0" smtClean="0"/>
              <a:t>»).</a:t>
            </a:r>
            <a:endParaRPr lang="en-US" sz="2500" dirty="0" smtClean="0"/>
          </a:p>
          <a:p>
            <a:endParaRPr lang="ru-RU" sz="2500" dirty="0"/>
          </a:p>
          <a:p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Deployment</a:t>
            </a:r>
            <a:r>
              <a:rPr lang="ru-RU" sz="2800" b="1" dirty="0"/>
              <a:t> (Непрерывное развертывание)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500" dirty="0"/>
              <a:t>— Код </a:t>
            </a:r>
            <a:r>
              <a:rPr lang="ru-RU" sz="2500" b="1" dirty="0"/>
              <a:t>автоматически попадает в </a:t>
            </a:r>
            <a:r>
              <a:rPr lang="ru-RU" sz="2500" b="1" dirty="0" err="1"/>
              <a:t>прод</a:t>
            </a:r>
            <a:r>
              <a:rPr lang="ru-RU" sz="2500" dirty="0"/>
              <a:t> после успешных проверок (без ручного вмешательства).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632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 чего состоит CD-</a:t>
            </a:r>
            <a:r>
              <a:rPr lang="ru-RU" dirty="0" err="1"/>
              <a:t>пайплайн</a:t>
            </a:r>
            <a:r>
              <a:rPr lang="ru-RU" dirty="0"/>
              <a:t>?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522" y="1328899"/>
            <a:ext cx="11767930" cy="40233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800" b="1" dirty="0" err="1" smtClean="0"/>
              <a:t>Деплой</a:t>
            </a:r>
            <a:r>
              <a:rPr lang="ru-RU" sz="2800" b="1" dirty="0" smtClean="0"/>
              <a:t> </a:t>
            </a:r>
            <a:r>
              <a:rPr lang="ru-RU" sz="2800" b="1" dirty="0"/>
              <a:t>в тестовую среду</a:t>
            </a:r>
          </a:p>
          <a:p>
            <a:pPr>
              <a:spcBef>
                <a:spcPts val="0"/>
              </a:spcBef>
            </a:pPr>
            <a:r>
              <a:rPr lang="ru-RU" dirty="0"/>
              <a:t>— Развертывание кода на сервер для тестирования (например, с помощью </a:t>
            </a:r>
            <a:r>
              <a:rPr lang="ru-RU" dirty="0" err="1"/>
              <a:t>Docker</a:t>
            </a:r>
            <a:r>
              <a:rPr lang="ru-RU" dirty="0"/>
              <a:t> или </a:t>
            </a:r>
            <a:r>
              <a:rPr lang="ru-RU" dirty="0" err="1"/>
              <a:t>Kubernetes</a:t>
            </a:r>
            <a:r>
              <a:rPr lang="ru-RU" dirty="0"/>
              <a:t>).</a:t>
            </a:r>
          </a:p>
          <a:p>
            <a:pPr>
              <a:spcBef>
                <a:spcPts val="0"/>
              </a:spcBef>
            </a:pPr>
            <a:r>
              <a:rPr lang="ru-RU" sz="2800" b="1" dirty="0" smtClean="0"/>
              <a:t>Дополнительные </a:t>
            </a:r>
            <a:r>
              <a:rPr lang="ru-RU" sz="2800" b="1" dirty="0"/>
              <a:t>проверки</a:t>
            </a:r>
          </a:p>
          <a:p>
            <a:pPr>
              <a:spcBef>
                <a:spcPts val="0"/>
              </a:spcBef>
            </a:pPr>
            <a:r>
              <a:rPr lang="ru-RU" dirty="0"/>
              <a:t>— Интеграционные тесты, нагрузочное тестирование, проверки безопасности.</a:t>
            </a:r>
          </a:p>
          <a:p>
            <a:pPr>
              <a:spcBef>
                <a:spcPts val="0"/>
              </a:spcBef>
            </a:pPr>
            <a:r>
              <a:rPr lang="ru-RU" sz="2800" b="1" dirty="0" smtClean="0"/>
              <a:t>Ручное/автоматическое </a:t>
            </a:r>
            <a:r>
              <a:rPr lang="ru-RU" sz="2800" b="1" dirty="0"/>
              <a:t>подтверждение</a:t>
            </a:r>
          </a:p>
          <a:p>
            <a:pPr>
              <a:spcBef>
                <a:spcPts val="0"/>
              </a:spcBef>
            </a:pPr>
            <a:r>
              <a:rPr lang="ru-RU" dirty="0"/>
              <a:t>— Для 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Delivery</a:t>
            </a:r>
            <a:r>
              <a:rPr lang="ru-RU" dirty="0"/>
              <a:t>: ожидание подтверждения от команды.</a:t>
            </a:r>
          </a:p>
          <a:p>
            <a:pPr>
              <a:spcBef>
                <a:spcPts val="0"/>
              </a:spcBef>
            </a:pPr>
            <a:r>
              <a:rPr lang="ru-RU" dirty="0"/>
              <a:t>— Для 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Deployment</a:t>
            </a:r>
            <a:r>
              <a:rPr lang="ru-RU" dirty="0"/>
              <a:t>: автоматический переход к следующему шагу</a:t>
            </a:r>
            <a:r>
              <a:rPr lang="ru-RU" sz="2800" dirty="0"/>
              <a:t>.</a:t>
            </a:r>
          </a:p>
          <a:p>
            <a:pPr>
              <a:spcBef>
                <a:spcPts val="0"/>
              </a:spcBef>
            </a:pPr>
            <a:r>
              <a:rPr lang="ru-RU" sz="2800" b="1" dirty="0" err="1" smtClean="0"/>
              <a:t>Деплой</a:t>
            </a:r>
            <a:r>
              <a:rPr lang="ru-RU" sz="2800" b="1" dirty="0" smtClean="0"/>
              <a:t> </a:t>
            </a:r>
            <a:r>
              <a:rPr lang="ru-RU" sz="2800" b="1" dirty="0"/>
              <a:t>в </a:t>
            </a:r>
            <a:r>
              <a:rPr lang="ru-RU" sz="2800" b="1" dirty="0" err="1"/>
              <a:t>прод</a:t>
            </a:r>
            <a:endParaRPr lang="ru-RU" sz="2800" b="1" dirty="0"/>
          </a:p>
          <a:p>
            <a:pPr>
              <a:spcBef>
                <a:spcPts val="0"/>
              </a:spcBef>
            </a:pPr>
            <a:r>
              <a:rPr lang="ru-RU" dirty="0"/>
              <a:t>— Обновление </a:t>
            </a:r>
            <a:r>
              <a:rPr lang="ru-RU" dirty="0" err="1"/>
              <a:t>продакшен</a:t>
            </a:r>
            <a:r>
              <a:rPr lang="ru-RU" dirty="0"/>
              <a:t>-серверов новой версией кода.</a:t>
            </a:r>
          </a:p>
          <a:p>
            <a:pPr>
              <a:spcBef>
                <a:spcPts val="0"/>
              </a:spcBef>
            </a:pPr>
            <a:r>
              <a:rPr lang="ru-RU" sz="2800" b="1" dirty="0" smtClean="0"/>
              <a:t>Откат </a:t>
            </a:r>
            <a:r>
              <a:rPr lang="ru-RU" sz="2800" b="1" dirty="0"/>
              <a:t>(</a:t>
            </a:r>
            <a:r>
              <a:rPr lang="ru-RU" sz="2800" b="1" dirty="0" err="1"/>
              <a:t>Rollback</a:t>
            </a:r>
            <a:r>
              <a:rPr lang="ru-RU" sz="2800" b="1" dirty="0"/>
              <a:t>)</a:t>
            </a:r>
          </a:p>
          <a:p>
            <a:pPr>
              <a:spcBef>
                <a:spcPts val="0"/>
              </a:spcBef>
            </a:pPr>
            <a:r>
              <a:rPr lang="ru-RU" dirty="0"/>
              <a:t>— Если что-то пошло не так, автоматически возвращается предыдущая стабильная версия.</a:t>
            </a:r>
          </a:p>
        </p:txBody>
      </p:sp>
    </p:spTree>
    <p:extLst>
      <p:ext uri="{BB962C8B-B14F-4D97-AF65-F5344CB8AC3E}">
        <p14:creationId xmlns:p14="http://schemas.microsoft.com/office/powerpoint/2010/main" val="21248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32522" y="258417"/>
            <a:ext cx="11288202" cy="93392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</a:t>
            </a:r>
            <a:r>
              <a:rPr lang="en-US" b="1" dirty="0" smtClean="0"/>
              <a:t>CD-</a:t>
            </a:r>
            <a:r>
              <a:rPr lang="ru-RU" b="1" dirty="0" err="1"/>
              <a:t>пайплайна</a:t>
            </a:r>
            <a:r>
              <a:rPr lang="ru-RU" b="1" dirty="0"/>
              <a:t> </a:t>
            </a:r>
            <a:r>
              <a:rPr lang="en-US" b="1" dirty="0"/>
              <a:t>(GitHub Actions + AWS</a:t>
            </a:r>
            <a:r>
              <a:rPr lang="en-US" b="1" dirty="0" smtClean="0"/>
              <a:t>):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6" y="675861"/>
            <a:ext cx="5290772" cy="618162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111" y="944581"/>
            <a:ext cx="8590889" cy="157333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353878" y="3092180"/>
            <a:ext cx="668042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Важно:</a:t>
            </a:r>
          </a:p>
          <a:p>
            <a:r>
              <a:rPr lang="ru-RU" dirty="0" smtClean="0"/>
              <a:t>Секреты </a:t>
            </a:r>
            <a:r>
              <a:rPr lang="ru-RU" dirty="0"/>
              <a:t>(AWS_ACCESS_KEY и AWS_SECRET_KEY) нужно заранее добавить в настройках </a:t>
            </a:r>
            <a:r>
              <a:rPr lang="ru-RU" dirty="0" err="1"/>
              <a:t>репозитория</a:t>
            </a:r>
            <a:r>
              <a:rPr lang="ru-RU" dirty="0"/>
              <a:t> (</a:t>
            </a:r>
            <a:r>
              <a:rPr lang="ru-RU" dirty="0" err="1"/>
              <a:t>Settings</a:t>
            </a:r>
            <a:r>
              <a:rPr lang="ru-RU" dirty="0"/>
              <a:t> → </a:t>
            </a:r>
            <a:r>
              <a:rPr lang="ru-RU" dirty="0" err="1"/>
              <a:t>Secrets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 err="1"/>
              <a:t>Бакет</a:t>
            </a:r>
            <a:r>
              <a:rPr lang="ru-RU" dirty="0"/>
              <a:t> S3 (</a:t>
            </a:r>
            <a:r>
              <a:rPr lang="ru-RU" dirty="0" err="1"/>
              <a:t>my-bucket</a:t>
            </a:r>
            <a:r>
              <a:rPr lang="ru-RU" dirty="0"/>
              <a:t>) должен быть создан в AWS, а у ключей доступа — права на запись в него.</a:t>
            </a:r>
          </a:p>
          <a:p>
            <a:endParaRPr lang="ru-RU" dirty="0"/>
          </a:p>
          <a:p>
            <a:r>
              <a:rPr lang="ru-RU" dirty="0"/>
              <a:t>Папка </a:t>
            </a:r>
            <a:r>
              <a:rPr lang="ru-RU" dirty="0" err="1"/>
              <a:t>dist</a:t>
            </a:r>
            <a:r>
              <a:rPr lang="ru-RU" dirty="0"/>
              <a:t>/ должна существовать после сборки (если у вас другой путь, исправьте команду).</a:t>
            </a:r>
          </a:p>
          <a:p>
            <a:endParaRPr lang="ru-RU" dirty="0"/>
          </a:p>
          <a:p>
            <a:r>
              <a:rPr lang="ru-RU" dirty="0"/>
              <a:t>Если всё настроено правильно, ваш статический сайт (например, на </a:t>
            </a:r>
            <a:r>
              <a:rPr lang="ru-RU" dirty="0" err="1"/>
              <a:t>React</a:t>
            </a:r>
            <a:r>
              <a:rPr lang="ru-RU" dirty="0"/>
              <a:t> или </a:t>
            </a:r>
            <a:r>
              <a:rPr lang="ru-RU" dirty="0" err="1"/>
              <a:t>Vue</a:t>
            </a:r>
            <a:r>
              <a:rPr lang="ru-RU" dirty="0"/>
              <a:t>) будет автоматически обновляться при каждом </a:t>
            </a:r>
            <a:r>
              <a:rPr lang="ru-RU" dirty="0" err="1"/>
              <a:t>пуше</a:t>
            </a:r>
            <a:r>
              <a:rPr lang="ru-RU" dirty="0"/>
              <a:t> в </a:t>
            </a:r>
            <a:r>
              <a:rPr lang="ru-RU" dirty="0" err="1" smtClean="0"/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488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4" y="1179443"/>
            <a:ext cx="11232591" cy="455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5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8" y="1603512"/>
            <a:ext cx="10524244" cy="37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4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6603"/>
            <a:ext cx="11753850" cy="780197"/>
          </a:xfrm>
        </p:spPr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r>
              <a:rPr lang="ru-RU" dirty="0" smtClean="0"/>
              <a:t> –</a:t>
            </a:r>
            <a:r>
              <a:rPr lang="ru-RU" dirty="0"/>
              <a:t> </a:t>
            </a:r>
            <a:r>
              <a:rPr lang="ru-RU" dirty="0" smtClean="0"/>
              <a:t>преимущества и недостатки</a:t>
            </a:r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613665"/>
              </p:ext>
            </p:extLst>
          </p:nvPr>
        </p:nvGraphicFramePr>
        <p:xfrm>
          <a:off x="1096963" y="1846262"/>
          <a:ext cx="10058400" cy="405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66745"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 smtClean="0"/>
                        <a:t>Преимущества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 smtClean="0"/>
                        <a:t>Недостатки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2493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Сокращение сроков разработки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Отбор перспективных вариантов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Качество тестирования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Высокие требования к опыту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Сложность постоянного взаимодействия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83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753850" cy="780197"/>
          </a:xfrm>
        </p:spPr>
        <p:txBody>
          <a:bodyPr>
            <a:normAutofit/>
          </a:bodyPr>
          <a:lstStyle/>
          <a:p>
            <a:r>
              <a:rPr lang="ru-RU" dirty="0" smtClean="0"/>
              <a:t>Основы </a:t>
            </a:r>
            <a:r>
              <a:rPr lang="en-US" dirty="0" smtClean="0"/>
              <a:t>CI/CD</a:t>
            </a:r>
            <a:r>
              <a:rPr lang="ru-RU" dirty="0" smtClean="0"/>
              <a:t> –</a:t>
            </a:r>
            <a:r>
              <a:rPr lang="ru-RU" dirty="0"/>
              <a:t> и</a:t>
            </a:r>
            <a:r>
              <a:rPr lang="ru-RU" dirty="0" smtClean="0"/>
              <a:t>нструменты</a:t>
            </a:r>
            <a:r>
              <a:rPr lang="ru-RU" b="1" dirty="0"/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780" y="1371600"/>
            <a:ext cx="3112770" cy="50673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 err="1" smtClean="0"/>
              <a:t>GitLab</a:t>
            </a:r>
            <a:endParaRPr lang="ru-RU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Docker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Travis-CI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Jenkins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PHP </a:t>
            </a:r>
            <a:r>
              <a:rPr lang="en-US" sz="2800" dirty="0" smtClean="0"/>
              <a:t>Censor</a:t>
            </a:r>
            <a:endParaRPr lang="ru-RU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/>
              <a:t>Buddy</a:t>
            </a:r>
            <a:endParaRPr lang="ru-RU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Bamboo </a:t>
            </a:r>
            <a:r>
              <a:rPr lang="en-US" sz="2800" dirty="0" smtClean="0"/>
              <a:t>CI</a:t>
            </a:r>
            <a:endParaRPr lang="ru-RU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Circle </a:t>
            </a:r>
            <a:r>
              <a:rPr lang="en-US" sz="2800" dirty="0" smtClean="0"/>
              <a:t>CI</a:t>
            </a:r>
            <a:endParaRPr lang="ru-RU" sz="2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CodeShip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21" y="3409947"/>
            <a:ext cx="57158" cy="3810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1" y="1049754"/>
            <a:ext cx="9829800" cy="538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8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4250" y="458053"/>
            <a:ext cx="4495800" cy="780197"/>
          </a:xfrm>
        </p:spPr>
        <p:txBody>
          <a:bodyPr>
            <a:normAutofit/>
          </a:bodyPr>
          <a:lstStyle/>
          <a:p>
            <a:r>
              <a:rPr lang="en-US" dirty="0" smtClean="0"/>
              <a:t>CI/CD</a:t>
            </a:r>
            <a:r>
              <a:rPr lang="ru-RU" dirty="0" smtClean="0"/>
              <a:t> </a:t>
            </a:r>
            <a:r>
              <a:rPr lang="en-US" dirty="0" smtClean="0"/>
              <a:t> vs DevOps</a:t>
            </a:r>
            <a:r>
              <a:rPr lang="ru-RU" b="1" dirty="0"/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6256" y="2262592"/>
            <a:ext cx="10709238" cy="3291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 err="1" smtClean="0"/>
              <a:t>DevOps</a:t>
            </a:r>
            <a:r>
              <a:rPr lang="ru-RU" sz="2800" dirty="0" smtClean="0"/>
              <a:t> </a:t>
            </a:r>
            <a:r>
              <a:rPr lang="ru-RU" sz="2800" dirty="0"/>
              <a:t>— это набор идей, методов, процессов и технологий, которые позволяют группам разработки и эксплуатации работать вместе для оптимизации разработки продукта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marL="0" indent="0">
              <a:buNone/>
            </a:pPr>
            <a:r>
              <a:rPr lang="ru-RU" sz="2800" b="1" dirty="0"/>
              <a:t>CI/CD</a:t>
            </a:r>
            <a:r>
              <a:rPr lang="ru-RU" sz="2800" dirty="0"/>
              <a:t> — это не просто инструмент, а практика, реализующая философию </a:t>
            </a:r>
            <a:r>
              <a:rPr lang="ru-RU" sz="2800" dirty="0" err="1"/>
              <a:t>DevOps</a:t>
            </a:r>
            <a:r>
              <a:rPr lang="ru-RU" sz="2800" dirty="0"/>
              <a:t> через автоматизацию и непрерывное улучшение процессов.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21" y="3409947"/>
            <a:ext cx="57158" cy="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647" y="458053"/>
            <a:ext cx="11335871" cy="78019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Другие </a:t>
            </a:r>
            <a:r>
              <a:rPr lang="ru-RU" dirty="0" err="1"/>
              <a:t>DevOps</a:t>
            </a:r>
            <a:r>
              <a:rPr lang="ru-RU" dirty="0"/>
              <a:t>-практики, связанные с CI/CD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0174" y="2114675"/>
            <a:ext cx="10816815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000" b="1" dirty="0" smtClean="0"/>
              <a:t>Инфраструктура </a:t>
            </a:r>
            <a:r>
              <a:rPr lang="ru-RU" sz="3000" b="1" dirty="0"/>
              <a:t>как код (</a:t>
            </a:r>
            <a:r>
              <a:rPr lang="ru-RU" sz="3000" b="1" dirty="0" err="1"/>
              <a:t>IaC</a:t>
            </a:r>
            <a:r>
              <a:rPr lang="ru-RU" sz="3000" b="1" dirty="0"/>
              <a:t>) </a:t>
            </a:r>
            <a:r>
              <a:rPr lang="ru-RU" sz="3000" dirty="0"/>
              <a:t>— автоматизация настройки серверов через код (например, с помощью </a:t>
            </a:r>
            <a:r>
              <a:rPr lang="ru-RU" sz="3000" dirty="0" err="1"/>
              <a:t>Terraform</a:t>
            </a:r>
            <a:r>
              <a:rPr lang="ru-RU" sz="3000" dirty="0"/>
              <a:t>).</a:t>
            </a:r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3000" b="1" dirty="0"/>
              <a:t>Мониторинг и </a:t>
            </a:r>
            <a:r>
              <a:rPr lang="ru-RU" sz="3000" b="1" dirty="0" err="1"/>
              <a:t>логирование</a:t>
            </a:r>
            <a:r>
              <a:rPr lang="ru-RU" sz="3000" b="1" dirty="0"/>
              <a:t> </a:t>
            </a:r>
            <a:r>
              <a:rPr lang="ru-RU" sz="3000" dirty="0"/>
              <a:t>— сбор данных о работе приложения после </a:t>
            </a:r>
            <a:r>
              <a:rPr lang="ru-RU" sz="3000" dirty="0" err="1"/>
              <a:t>деплоя</a:t>
            </a:r>
            <a:r>
              <a:rPr lang="ru-RU" sz="3000" dirty="0"/>
              <a:t> (например, через </a:t>
            </a:r>
            <a:r>
              <a:rPr lang="ru-RU" sz="3000" dirty="0" err="1"/>
              <a:t>Prometheus</a:t>
            </a:r>
            <a:r>
              <a:rPr lang="ru-RU" sz="3000" dirty="0"/>
              <a:t> или ELK-стек).</a:t>
            </a:r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3000" b="1" dirty="0"/>
              <a:t>Управление конфигурациями </a:t>
            </a:r>
            <a:r>
              <a:rPr lang="ru-RU" sz="3000" dirty="0"/>
              <a:t>— инструменты вроде </a:t>
            </a:r>
            <a:r>
              <a:rPr lang="ru-RU" sz="3000" dirty="0" err="1"/>
              <a:t>Ansible</a:t>
            </a:r>
            <a:r>
              <a:rPr lang="ru-RU" sz="3000" dirty="0"/>
              <a:t>, </a:t>
            </a:r>
            <a:r>
              <a:rPr lang="ru-RU" sz="3000" dirty="0" err="1"/>
              <a:t>Chef</a:t>
            </a:r>
            <a:r>
              <a:rPr lang="ru-RU" sz="3000" dirty="0"/>
              <a:t>, </a:t>
            </a:r>
            <a:r>
              <a:rPr lang="ru-RU" sz="3000" dirty="0" err="1"/>
              <a:t>Puppet</a:t>
            </a:r>
            <a:r>
              <a:rPr lang="ru-RU" sz="3000" dirty="0"/>
              <a:t>.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21" y="3409947"/>
            <a:ext cx="57158" cy="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2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Полезные ссылки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500" y="1845734"/>
            <a:ext cx="11194676" cy="4326466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ru-RU" sz="2800" dirty="0" smtClean="0"/>
              <a:t> </a:t>
            </a:r>
            <a:r>
              <a:rPr lang="en-US" sz="2800" dirty="0">
                <a:hlinkClick r:id="rId3"/>
              </a:rPr>
              <a:t>https://</a:t>
            </a:r>
            <a:r>
              <a:rPr lang="en-US" sz="2800" dirty="0" smtClean="0">
                <a:hlinkClick r:id="rId3"/>
              </a:rPr>
              <a:t>katalon.com/resources-center/blog/ci-cd-tools</a:t>
            </a:r>
            <a:endParaRPr lang="ru-RU" sz="2800" dirty="0" smtClean="0"/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sz="2800" dirty="0">
                <a:hlinkClick r:id="rId4"/>
              </a:rPr>
              <a:t>https://</a:t>
            </a:r>
            <a:r>
              <a:rPr lang="en-US" sz="2800" dirty="0" smtClean="0">
                <a:hlinkClick r:id="rId4"/>
              </a:rPr>
              <a:t>katalon.com/resources-center/blog/ci-cd-introduction</a:t>
            </a:r>
            <a:r>
              <a:rPr lang="ru-RU" sz="2800" dirty="0" smtClean="0"/>
              <a:t> 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hlinkClick r:id="rId5"/>
              </a:rPr>
              <a:t>https</a:t>
            </a:r>
            <a:r>
              <a:rPr lang="en-US" sz="2800" dirty="0">
                <a:hlinkClick r:id="rId5"/>
              </a:rPr>
              <a:t>://</a:t>
            </a:r>
            <a:r>
              <a:rPr lang="en-US" sz="2800" dirty="0" smtClean="0">
                <a:hlinkClick r:id="rId5"/>
              </a:rPr>
              <a:t>www.spiceworks.com/tech/devops/articles/cicd-vs-devops/</a:t>
            </a:r>
            <a:r>
              <a:rPr lang="ru-RU" sz="2800" dirty="0"/>
              <a:t> </a:t>
            </a:r>
            <a:endParaRPr lang="ru-RU" sz="2800" dirty="0" smtClean="0"/>
          </a:p>
          <a:p>
            <a:pPr marL="514350" indent="-514350">
              <a:buAutoNum type="arabicPeriod"/>
            </a:pPr>
            <a:r>
              <a:rPr lang="en-US" sz="2800" dirty="0" smtClean="0">
                <a:hlinkClick r:id="rId6"/>
              </a:rPr>
              <a:t>https</a:t>
            </a:r>
            <a:r>
              <a:rPr lang="en-US" sz="2800" dirty="0">
                <a:hlinkClick r:id="rId6"/>
              </a:rPr>
              <a:t>://</a:t>
            </a:r>
            <a:r>
              <a:rPr lang="en-US" sz="2800" dirty="0" smtClean="0">
                <a:hlinkClick r:id="rId6"/>
              </a:rPr>
              <a:t>cloud.yandex.ru/blog/posts/2022/10/ci-cd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ru-RU" sz="2800" dirty="0" smtClean="0"/>
              <a:t> </a:t>
            </a:r>
            <a:r>
              <a:rPr lang="en-US" sz="2800" dirty="0">
                <a:hlinkClick r:id="rId7"/>
              </a:rPr>
              <a:t>https://habr.com/ru/company/otus/blog/515078</a:t>
            </a:r>
            <a:r>
              <a:rPr lang="en-US" sz="2800" dirty="0" smtClean="0">
                <a:hlinkClick r:id="rId7"/>
              </a:rPr>
              <a:t>/</a:t>
            </a:r>
            <a:r>
              <a:rPr lang="en-US" sz="2800" dirty="0" smtClean="0"/>
              <a:t> </a:t>
            </a:r>
          </a:p>
          <a:p>
            <a:pPr marL="514350" indent="-514350">
              <a:buAutoNum type="arabicPeriod"/>
            </a:pPr>
            <a:r>
              <a:rPr lang="en-US" sz="2800" dirty="0">
                <a:hlinkClick r:id="rId8"/>
              </a:rPr>
              <a:t>https://</a:t>
            </a:r>
            <a:r>
              <a:rPr lang="en-US" sz="2800" dirty="0" smtClean="0">
                <a:hlinkClick r:id="rId8"/>
              </a:rPr>
              <a:t>mcs.mail.ru/blog/chto-takoe-metodologiya-devops</a:t>
            </a:r>
            <a:endParaRPr lang="en-US" sz="2800" dirty="0" smtClean="0"/>
          </a:p>
          <a:p>
            <a:pPr marL="514350" indent="-514350">
              <a:buAutoNum type="arabicPeriod"/>
            </a:pPr>
            <a:r>
              <a:rPr lang="en-US" sz="2800" dirty="0">
                <a:hlinkClick r:id="rId9"/>
              </a:rPr>
              <a:t>https://</a:t>
            </a:r>
            <a:r>
              <a:rPr lang="en-US" sz="2800" dirty="0" smtClean="0">
                <a:hlinkClick r:id="rId9"/>
              </a:rPr>
              <a:t>proglib.io/p/osnovy-metodologii-devops-2021-02-20</a:t>
            </a:r>
            <a:r>
              <a:rPr lang="en-US" sz="2800" dirty="0" smtClean="0"/>
              <a:t>   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sz="2800" dirty="0">
                <a:hlinkClick r:id="rId10"/>
              </a:rPr>
              <a:t>https://</a:t>
            </a:r>
            <a:r>
              <a:rPr lang="en-US" sz="2800" dirty="0" smtClean="0">
                <a:hlinkClick r:id="rId10"/>
              </a:rPr>
              <a:t>intuit.ru/studies/courses/3680/922/lecture/32689?page=1</a:t>
            </a:r>
            <a:r>
              <a:rPr lang="en-US" sz="2800" dirty="0" smtClean="0"/>
              <a:t> </a:t>
            </a:r>
            <a:endParaRPr lang="ru-RU" sz="2800" dirty="0"/>
          </a:p>
          <a:p>
            <a:pPr marL="514350" indent="-514350">
              <a:buAutoNum type="arabicPeriod"/>
            </a:pPr>
            <a:endParaRPr lang="ru-RU" sz="2800" dirty="0"/>
          </a:p>
          <a:p>
            <a:pPr marL="514350" indent="-514350">
              <a:buAutoNum type="arabicPeriod"/>
            </a:pP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514350" indent="-514350">
              <a:buAutoNum type="arabicPeriod"/>
            </a:pP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52594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и системы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226733"/>
            <a:ext cx="10058400" cy="2624667"/>
          </a:xfrm>
        </p:spPr>
        <p:txBody>
          <a:bodyPr>
            <a:normAutofit/>
          </a:bodyPr>
          <a:lstStyle/>
          <a:p>
            <a:r>
              <a:rPr lang="ru-RU" sz="3200" dirty="0" smtClean="0"/>
              <a:t> </a:t>
            </a:r>
            <a:r>
              <a:rPr lang="ru-RU" sz="3200" dirty="0"/>
              <a:t>Система контроля версий </a:t>
            </a:r>
            <a:r>
              <a:rPr lang="ru-RU" sz="3200" dirty="0" smtClean="0"/>
              <a:t>(СКВ, англ</a:t>
            </a:r>
            <a:r>
              <a:rPr lang="ru-RU" sz="3200" dirty="0"/>
              <a:t>. </a:t>
            </a:r>
            <a:r>
              <a:rPr lang="ru-RU" sz="3200" dirty="0" err="1"/>
              <a:t>Version</a:t>
            </a:r>
            <a:r>
              <a:rPr lang="ru-RU" sz="3200" dirty="0"/>
              <a:t> </a:t>
            </a:r>
            <a:r>
              <a:rPr lang="ru-RU" sz="3200" dirty="0" err="1"/>
              <a:t>Control</a:t>
            </a:r>
            <a:r>
              <a:rPr lang="ru-RU" sz="3200" dirty="0"/>
              <a:t> </a:t>
            </a:r>
            <a:r>
              <a:rPr lang="ru-RU" sz="3200" dirty="0" err="1"/>
              <a:t>System</a:t>
            </a:r>
            <a:r>
              <a:rPr lang="ru-RU" sz="3200" dirty="0"/>
              <a:t>) - программное обеспечение </a:t>
            </a:r>
            <a:r>
              <a:rPr lang="ru-RU" sz="3200" dirty="0" smtClean="0"/>
              <a:t>хранящее</a:t>
            </a:r>
            <a:r>
              <a:rPr lang="en-US" sz="3200" dirty="0" smtClean="0"/>
              <a:t> </a:t>
            </a:r>
            <a:r>
              <a:rPr lang="ru-RU" sz="3200" dirty="0" smtClean="0"/>
              <a:t>все </a:t>
            </a:r>
            <a:r>
              <a:rPr lang="ru-RU" sz="3200" dirty="0"/>
              <a:t>версии возможного файла, и дающее возможность получить к ним доступ.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32118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Системы </a:t>
            </a:r>
            <a:r>
              <a:rPr lang="ru-RU" dirty="0">
                <a:solidFill>
                  <a:schemeClr val="tx1"/>
                </a:solidFill>
              </a:rPr>
              <a:t>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531534"/>
            <a:ext cx="10058400" cy="282786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Существуют системы контроля версий:</a:t>
            </a:r>
            <a:r>
              <a:rPr lang="ru-RU" sz="3200" dirty="0"/>
              <a:t> </a:t>
            </a:r>
            <a:endParaRPr lang="ru-RU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Локальные (</a:t>
            </a:r>
            <a:r>
              <a:rPr lang="ru-RU" sz="3200" dirty="0" smtClean="0">
                <a:hlinkClick r:id="rId3"/>
              </a:rPr>
              <a:t>RCS</a:t>
            </a:r>
            <a:r>
              <a:rPr lang="ru-RU" sz="3200" dirty="0" smtClean="0"/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Централизованные (</a:t>
            </a:r>
            <a:r>
              <a:rPr lang="en-US" sz="3200" dirty="0"/>
              <a:t>CVS, </a:t>
            </a:r>
            <a:r>
              <a:rPr lang="en-US" sz="3200" dirty="0" smtClean="0"/>
              <a:t>Subversion</a:t>
            </a:r>
            <a:r>
              <a:rPr lang="ru-RU" sz="3200" dirty="0" smtClean="0"/>
              <a:t>, </a:t>
            </a:r>
            <a:r>
              <a:rPr lang="en-US" sz="3200" dirty="0"/>
              <a:t>Perforce</a:t>
            </a:r>
            <a:r>
              <a:rPr lang="ru-RU" sz="3200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smtClean="0"/>
              <a:t>Распределенные (</a:t>
            </a:r>
            <a:r>
              <a:rPr lang="en-US" sz="3200" dirty="0" err="1" smtClean="0"/>
              <a:t>Git</a:t>
            </a:r>
            <a:r>
              <a:rPr lang="en-US" sz="3200" dirty="0"/>
              <a:t>, Mercurial, </a:t>
            </a:r>
            <a:r>
              <a:rPr lang="en-US" sz="3200" dirty="0" smtClean="0"/>
              <a:t>Bazaar</a:t>
            </a:r>
            <a:r>
              <a:rPr lang="ru-RU" sz="3200" dirty="0" smtClean="0"/>
              <a:t>, </a:t>
            </a:r>
            <a:r>
              <a:rPr lang="en-US" sz="3200" dirty="0" err="1"/>
              <a:t>Darcs</a:t>
            </a:r>
            <a:r>
              <a:rPr lang="en-US" sz="3200" dirty="0"/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4802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35343"/>
            <a:ext cx="10058400" cy="82296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Локальная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9581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 smtClean="0">
                <a:hlinkClick r:id="rId3"/>
              </a:rPr>
              <a:t>RCS</a:t>
            </a:r>
            <a:r>
              <a:rPr lang="ru-RU" sz="3200" dirty="0" smtClean="0"/>
              <a:t> - </a:t>
            </a:r>
            <a:r>
              <a:rPr lang="ru-RU" sz="3200" dirty="0"/>
              <a:t>хранит не целую новую версию, а только указания к изменению первоначального файла</a:t>
            </a:r>
            <a:endParaRPr lang="ru-RU" sz="3200" dirty="0" smtClean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695475"/>
            <a:ext cx="6217920" cy="40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3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Локальная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653043"/>
              </p:ext>
            </p:extLst>
          </p:nvPr>
        </p:nvGraphicFramePr>
        <p:xfrm>
          <a:off x="1097280" y="2163503"/>
          <a:ext cx="1005840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Позволяет хранить историю изменения файлов локально, без интернета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 можете потерять все файлы, если с вашем компьютером что-то случится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 независимы от сторонних серверов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 не можете работать в команде, поскольку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доступен только вам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37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Централизованная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92" y="1761757"/>
            <a:ext cx="7539134" cy="4618128"/>
          </a:xfrm>
        </p:spPr>
      </p:pic>
      <p:sp>
        <p:nvSpPr>
          <p:cNvPr id="5" name="Прямоугольник 4"/>
          <p:cNvSpPr/>
          <p:nvPr/>
        </p:nvSpPr>
        <p:spPr>
          <a:xfrm>
            <a:off x="8490856" y="2620643"/>
            <a:ext cx="34336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хранит все данные на сервере, а сотрудники получают к ним доступ</a:t>
            </a:r>
          </a:p>
        </p:txBody>
      </p:sp>
    </p:spTree>
    <p:extLst>
      <p:ext uri="{BB962C8B-B14F-4D97-AF65-F5344CB8AC3E}">
        <p14:creationId xmlns:p14="http://schemas.microsoft.com/office/powerpoint/2010/main" val="256335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Централизованная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93186"/>
              </p:ext>
            </p:extLst>
          </p:nvPr>
        </p:nvGraphicFramePr>
        <p:xfrm>
          <a:off x="261258" y="1883585"/>
          <a:ext cx="1166326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96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03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Можно работать в команде с другими разработчиками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Если с сервером что-то случится, а копий данных нет, то весь проект может быть потерян.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Проще контроль над разработчиками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 данные хранятся только на одном сервере. Если он выключится, то работу всей компании парализует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Проще администрирование и контроль доступа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Для работы необходим хороший интернет на протяжении целого дня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84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Распределенная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490856" y="2620643"/>
            <a:ext cx="343366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Клиенты хранят</a:t>
            </a:r>
            <a:r>
              <a:rPr lang="ru-RU" sz="2800" dirty="0"/>
              <a:t> </a:t>
            </a:r>
            <a:r>
              <a:rPr lang="ru-RU" sz="2800" b="1" dirty="0"/>
              <a:t>полную копию</a:t>
            </a:r>
            <a:r>
              <a:rPr lang="ru-RU" sz="2800" dirty="0"/>
              <a:t> всех версий </a:t>
            </a:r>
            <a:r>
              <a:rPr lang="ru-RU" sz="2800" dirty="0" smtClean="0"/>
              <a:t>проекта,</a:t>
            </a:r>
          </a:p>
          <a:p>
            <a:endParaRPr lang="ru-RU" sz="2800" dirty="0" smtClean="0"/>
          </a:p>
          <a:p>
            <a:r>
              <a:rPr lang="ru-RU" sz="2800" dirty="0" smtClean="0"/>
              <a:t>серверов </a:t>
            </a:r>
            <a:r>
              <a:rPr lang="ru-RU" sz="2800" dirty="0"/>
              <a:t>может быть сколько угодно</a:t>
            </a:r>
          </a:p>
        </p:txBody>
      </p:sp>
      <p:pic>
        <p:nvPicPr>
          <p:cNvPr id="6" name="Объект 5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5522"/>
            <a:ext cx="7570875" cy="4427955"/>
          </a:xfrm>
        </p:spPr>
      </p:pic>
    </p:spTree>
    <p:extLst>
      <p:ext uri="{BB962C8B-B14F-4D97-AF65-F5344CB8AC3E}">
        <p14:creationId xmlns:p14="http://schemas.microsoft.com/office/powerpoint/2010/main" val="339571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Распределенная </a:t>
            </a:r>
            <a:r>
              <a:rPr lang="ru-RU" dirty="0" smtClean="0">
                <a:solidFill>
                  <a:schemeClr val="tx1"/>
                </a:solidFill>
              </a:rPr>
              <a:t>система </a:t>
            </a:r>
            <a:r>
              <a:rPr lang="ru-RU" dirty="0">
                <a:solidFill>
                  <a:schemeClr val="tx1"/>
                </a:solidFill>
              </a:rPr>
              <a:t>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672111"/>
              </p:ext>
            </p:extLst>
          </p:nvPr>
        </p:nvGraphicFramePr>
        <p:xfrm>
          <a:off x="261258" y="1250302"/>
          <a:ext cx="11663264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6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135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компании теперь не зависит от работы сервера. Если сервер отключится, то каждый сотрудник продолжит работу с локальной копией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репозитория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а после загрузит ее на сервер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нет встроенного контроля доступа и поддержки двоичных файлов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>
                          <a:solidFill>
                            <a:schemeClr val="dk1"/>
                          </a:solidFill>
                        </a:rPr>
                        <a:t>Работа компании теперь не зависит от работы сервера. Если сервер отключится, то каждый сотрудник продолжит работу с локальной копией </a:t>
                      </a:r>
                      <a:r>
                        <a:rPr lang="ru-RU" sz="2800" dirty="0" err="1" smtClean="0">
                          <a:solidFill>
                            <a:schemeClr val="dk1"/>
                          </a:solidFill>
                        </a:rPr>
                        <a:t>репозитория</a:t>
                      </a:r>
                      <a:r>
                        <a:rPr lang="ru-RU" sz="2800" dirty="0" smtClean="0">
                          <a:solidFill>
                            <a:schemeClr val="dk1"/>
                          </a:solidFill>
                        </a:rPr>
                        <a:t>, а после загрузит ее на сервер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не предлагает механизмы контроля доступа в случае проблем с безопасностью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не отслеживает пустые папки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8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1" y="201133"/>
            <a:ext cx="11327363" cy="782637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Системы </a:t>
            </a:r>
            <a:r>
              <a:rPr lang="ru-RU" dirty="0">
                <a:solidFill>
                  <a:schemeClr val="tx1"/>
                </a:solidFill>
              </a:rPr>
              <a:t>контроля </a:t>
            </a:r>
            <a:r>
              <a:rPr lang="ru-RU" dirty="0" smtClean="0">
                <a:solidFill>
                  <a:schemeClr val="tx1"/>
                </a:solidFill>
              </a:rPr>
              <a:t>версий</a:t>
            </a:r>
            <a:r>
              <a:rPr lang="en-US" dirty="0" smtClean="0">
                <a:solidFill>
                  <a:schemeClr val="tx1"/>
                </a:solidFill>
              </a:rPr>
              <a:t> - </a:t>
            </a:r>
            <a:r>
              <a:rPr lang="ru-RU" dirty="0" smtClean="0">
                <a:solidFill>
                  <a:schemeClr val="tx1"/>
                </a:solidFill>
              </a:rPr>
              <a:t>возможности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3853" y="1268964"/>
            <a:ext cx="10398968" cy="4739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1. Сохранять все изменения в файлах в хронологическом порядке, при этом не путаясь в именах </a:t>
            </a:r>
            <a:r>
              <a:rPr lang="ru-RU" sz="3200" dirty="0" smtClean="0"/>
              <a:t>копий.</a:t>
            </a:r>
            <a:endParaRPr lang="ru-RU" sz="3200" dirty="0"/>
          </a:p>
          <a:p>
            <a:pPr marL="0" indent="0">
              <a:buNone/>
            </a:pPr>
            <a:r>
              <a:rPr lang="ru-RU" sz="3200" dirty="0"/>
              <a:t>2. Избегать неприятных ошибок в коде, вызванных непредвиденным поведением новых функций.</a:t>
            </a:r>
          </a:p>
          <a:p>
            <a:pPr marL="0" indent="0">
              <a:buNone/>
            </a:pPr>
            <a:r>
              <a:rPr lang="ru-RU" sz="3200" dirty="0"/>
              <a:t>3. Отслеживать, над какими файлами вы </a:t>
            </a:r>
            <a:r>
              <a:rPr lang="ru-RU" sz="3200" dirty="0" smtClean="0"/>
              <a:t>работаете.</a:t>
            </a:r>
            <a:endParaRPr lang="ru-RU" sz="3200" dirty="0"/>
          </a:p>
          <a:p>
            <a:pPr marL="0" indent="0">
              <a:buNone/>
            </a:pPr>
            <a:r>
              <a:rPr lang="ru-RU" sz="3200" dirty="0"/>
              <a:t>4. Работать параллельно над одним и тем же проектом вместе с </a:t>
            </a:r>
            <a:r>
              <a:rPr lang="ru-RU" sz="3200" dirty="0" smtClean="0"/>
              <a:t>командой.</a:t>
            </a:r>
            <a:endParaRPr lang="ru-RU" sz="3200" dirty="0"/>
          </a:p>
          <a:p>
            <a:pPr marL="0" indent="0">
              <a:buNone/>
            </a:pPr>
            <a:r>
              <a:rPr lang="ru-RU" sz="3200" dirty="0"/>
              <a:t>5. Делиться своим кодом. </a:t>
            </a:r>
          </a:p>
        </p:txBody>
      </p:sp>
    </p:spTree>
    <p:extLst>
      <p:ext uri="{BB962C8B-B14F-4D97-AF65-F5344CB8AC3E}">
        <p14:creationId xmlns:p14="http://schemas.microsoft.com/office/powerpoint/2010/main" val="44694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и системы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r>
              <a:rPr lang="ru-RU" sz="3200" i="1" dirty="0" err="1"/>
              <a:t>Git</a:t>
            </a:r>
            <a:r>
              <a:rPr lang="ru-RU" sz="3200" dirty="0"/>
              <a:t> – распределенная система контроля версий, разработанная </a:t>
            </a:r>
            <a:r>
              <a:rPr lang="ru-RU" sz="3200" dirty="0" err="1"/>
              <a:t>Линусом</a:t>
            </a:r>
            <a:r>
              <a:rPr lang="ru-RU" sz="3200" dirty="0"/>
              <a:t> </a:t>
            </a:r>
            <a:r>
              <a:rPr lang="ru-RU" sz="3200" dirty="0" err="1"/>
              <a:t>Торвальдсем</a:t>
            </a:r>
            <a:r>
              <a:rPr lang="ru-RU" sz="3200" dirty="0"/>
              <a:t> для работы над ядром операционной системы </a:t>
            </a:r>
            <a:r>
              <a:rPr lang="ru-RU" sz="3200" i="1" dirty="0" err="1"/>
              <a:t>Linux</a:t>
            </a:r>
            <a:r>
              <a:rPr lang="ru-RU" sz="3200" dirty="0" smtClean="0"/>
              <a:t>.</a:t>
            </a:r>
          </a:p>
          <a:p>
            <a:endParaRPr lang="ru-RU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200" i="1" dirty="0" err="1" smtClean="0">
                <a:solidFill>
                  <a:schemeClr val="tx1"/>
                </a:solidFill>
              </a:rPr>
              <a:t>Linux</a:t>
            </a:r>
            <a:r>
              <a:rPr lang="ru-RU" sz="3200" dirty="0">
                <a:solidFill>
                  <a:schemeClr val="tx1"/>
                </a:solidFill>
              </a:rPr>
              <a:t>, </a:t>
            </a:r>
            <a:endParaRPr lang="ru-RU" sz="3200" dirty="0" smtClean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i="1" dirty="0" err="1" smtClean="0">
                <a:solidFill>
                  <a:schemeClr val="tx1"/>
                </a:solidFill>
              </a:rPr>
              <a:t>Qt</a:t>
            </a:r>
            <a:r>
              <a:rPr lang="ru-RU" sz="3200" dirty="0">
                <a:solidFill>
                  <a:schemeClr val="tx1"/>
                </a:solidFill>
              </a:rPr>
              <a:t>, </a:t>
            </a:r>
            <a:endParaRPr lang="ru-RU" sz="3200" dirty="0" smtClean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i="1" dirty="0" err="1" smtClean="0">
                <a:solidFill>
                  <a:schemeClr val="tx1"/>
                </a:solidFill>
              </a:rPr>
              <a:t>Android</a:t>
            </a:r>
            <a:endParaRPr lang="ru-RU" sz="3200" dirty="0" smtClean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9344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- </a:t>
            </a:r>
            <a:r>
              <a:rPr lang="ru-RU" dirty="0" smtClean="0"/>
              <a:t>Полезные ссылки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500" y="1845734"/>
            <a:ext cx="11194676" cy="432646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hlinkClick r:id="rId3"/>
              </a:rPr>
              <a:t>https://</a:t>
            </a:r>
            <a:r>
              <a:rPr lang="en-US" sz="3200" dirty="0" smtClean="0">
                <a:hlinkClick r:id="rId3"/>
              </a:rPr>
              <a:t>smartiqa.ru/courses/git</a:t>
            </a:r>
            <a:endParaRPr lang="ru-RU" sz="3200" dirty="0" smtClean="0">
              <a:hlinkClick r:id="rId3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hlinkClick r:id="rId3"/>
              </a:rPr>
              <a:t>https</a:t>
            </a:r>
            <a:r>
              <a:rPr lang="ru-RU" sz="3200" dirty="0">
                <a:hlinkClick r:id="rId3"/>
              </a:rPr>
              <a:t>://learngitbranching.js.org</a:t>
            </a:r>
            <a:r>
              <a:rPr lang="ru-RU" sz="3200" dirty="0" smtClean="0">
                <a:hlinkClick r:id="rId3"/>
              </a:rPr>
              <a:t>/</a:t>
            </a:r>
            <a:r>
              <a:rPr lang="en-US" sz="3200" dirty="0" smtClean="0"/>
              <a:t> </a:t>
            </a:r>
            <a:r>
              <a:rPr lang="ru-RU" sz="3200" dirty="0" smtClean="0"/>
              <a:t> </a:t>
            </a:r>
            <a:r>
              <a:rPr lang="en-US" sz="3200" dirty="0" smtClean="0"/>
              <a:t> </a:t>
            </a:r>
            <a:endParaRPr lang="ru-RU" sz="3200" dirty="0"/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hlinkClick r:id="rId4"/>
              </a:rPr>
              <a:t>https</a:t>
            </a:r>
            <a:r>
              <a:rPr lang="ru-RU" sz="3200" dirty="0">
                <a:hlinkClick r:id="rId4"/>
              </a:rPr>
              <a:t>://</a:t>
            </a:r>
            <a:r>
              <a:rPr lang="ru-RU" sz="3200" dirty="0" smtClean="0">
                <a:hlinkClick r:id="rId4"/>
              </a:rPr>
              <a:t>githowto.com/ru</a:t>
            </a:r>
            <a:r>
              <a:rPr lang="en-US" sz="3200" dirty="0" smtClean="0"/>
              <a:t> </a:t>
            </a:r>
            <a:r>
              <a:rPr lang="ru-RU" sz="3200" dirty="0" smtClean="0"/>
              <a:t> </a:t>
            </a:r>
            <a:endParaRPr lang="en-US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hlinkClick r:id="rId5"/>
              </a:rPr>
              <a:t>https</a:t>
            </a:r>
            <a:r>
              <a:rPr lang="en-US" sz="3200" dirty="0">
                <a:hlinkClick r:id="rId5"/>
              </a:rPr>
              <a:t>://git-scm.com/book/ru/v2</a:t>
            </a:r>
            <a:r>
              <a:rPr lang="en-US" sz="3200" dirty="0" smtClean="0">
                <a:hlinkClick r:id="rId5"/>
              </a:rPr>
              <a:t>/</a:t>
            </a:r>
            <a:r>
              <a:rPr lang="en-US" sz="3200" dirty="0" smtClean="0"/>
              <a:t> 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hlinkClick r:id="rId6"/>
              </a:rPr>
              <a:t>https://www.udemy.com/course/git-expert-4-hours</a:t>
            </a:r>
            <a:r>
              <a:rPr lang="ru-RU" sz="3200" dirty="0" smtClean="0">
                <a:hlinkClick r:id="rId6"/>
              </a:rPr>
              <a:t>/</a:t>
            </a:r>
            <a:r>
              <a:rPr lang="en-US" sz="3200" dirty="0" smtClean="0"/>
              <a:t> </a:t>
            </a:r>
            <a:endParaRPr lang="ru-RU" sz="3200" dirty="0"/>
          </a:p>
          <a:p>
            <a:pPr marL="514350" indent="-514350">
              <a:buAutoNum type="arabicPeriod"/>
            </a:pP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514350" indent="-514350">
              <a:buAutoNum type="arabicPeriod"/>
            </a:pP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96604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установка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209800"/>
            <a:ext cx="9404350" cy="3151294"/>
          </a:xfrm>
        </p:spPr>
        <p:txBody>
          <a:bodyPr>
            <a:noAutofit/>
          </a:bodyPr>
          <a:lstStyle/>
          <a:p>
            <a:r>
              <a:rPr lang="ru-RU" sz="3200" b="1" dirty="0"/>
              <a:t>Варианты установки</a:t>
            </a:r>
            <a:r>
              <a:rPr lang="ru-RU" sz="3200" dirty="0"/>
              <a:t>:</a:t>
            </a:r>
          </a:p>
          <a:p>
            <a:r>
              <a:rPr lang="ru-RU" sz="3200" dirty="0"/>
              <a:t>● через пакетный менеджер</a:t>
            </a:r>
          </a:p>
          <a:p>
            <a:r>
              <a:rPr lang="ru-RU" sz="3200" dirty="0"/>
              <a:t>● установщик, скачанный с официального сайта (</a:t>
            </a:r>
            <a:r>
              <a:rPr lang="ru-RU" sz="3200" dirty="0">
                <a:hlinkClick r:id="rId3"/>
              </a:rPr>
              <a:t>https://</a:t>
            </a:r>
            <a:r>
              <a:rPr lang="ru-RU" sz="3200" dirty="0" smtClean="0">
                <a:hlinkClick r:id="rId3"/>
              </a:rPr>
              <a:t>git-scm.com/downloads</a:t>
            </a:r>
            <a:r>
              <a:rPr lang="ru-RU" sz="3200" dirty="0" smtClean="0"/>
              <a:t> )</a:t>
            </a:r>
          </a:p>
          <a:p>
            <a:r>
              <a:rPr lang="en-US" sz="3200" dirty="0" smtClean="0">
                <a:hlinkClick r:id="rId4"/>
              </a:rPr>
              <a:t>https</a:t>
            </a:r>
            <a:r>
              <a:rPr lang="en-US" sz="3200" dirty="0">
                <a:hlinkClick r:id="rId4"/>
              </a:rPr>
              <a:t>://</a:t>
            </a:r>
            <a:r>
              <a:rPr lang="en-US" sz="3200" dirty="0" smtClean="0">
                <a:hlinkClick r:id="rId4"/>
              </a:rPr>
              <a:t>smartiqa.ru/courses/git/lesson-1</a:t>
            </a:r>
            <a:r>
              <a:rPr lang="ru-RU" sz="3200" dirty="0" smtClean="0"/>
              <a:t>  - об установке: выбор имени основной ветки и настройка запуска </a:t>
            </a:r>
            <a:r>
              <a:rPr lang="en-US" sz="3200" dirty="0" err="1" smtClean="0"/>
              <a:t>git</a:t>
            </a:r>
            <a:r>
              <a:rPr lang="en-US" sz="3200" dirty="0" smtClean="0"/>
              <a:t> </a:t>
            </a:r>
            <a:r>
              <a:rPr lang="ru-RU" sz="3200" dirty="0" smtClean="0"/>
              <a:t>из консоли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7570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основные понятия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0160" y="2110584"/>
            <a:ext cx="10612639" cy="4140926"/>
          </a:xfrm>
        </p:spPr>
        <p:txBody>
          <a:bodyPr>
            <a:noAutofit/>
          </a:bodyPr>
          <a:lstStyle/>
          <a:p>
            <a:r>
              <a:rPr lang="ru-RU" sz="3200" dirty="0"/>
              <a:t>Репозиторий </a:t>
            </a:r>
            <a:r>
              <a:rPr lang="ru-RU" sz="2400" dirty="0"/>
              <a:t>– папка проекта, отслеживаемого </a:t>
            </a:r>
            <a:r>
              <a:rPr lang="ru-RU" sz="2400" dirty="0" err="1"/>
              <a:t>Git</a:t>
            </a:r>
            <a:r>
              <a:rPr lang="ru-RU" sz="2400" dirty="0"/>
              <a:t>, содержащая дерево изменений проекта в хронологическом порядке. Все файлы истории хранятся в специальной папке .</a:t>
            </a:r>
            <a:r>
              <a:rPr lang="ru-RU" sz="2400" dirty="0" err="1"/>
              <a:t>git</a:t>
            </a:r>
            <a:r>
              <a:rPr lang="ru-RU" sz="2400" dirty="0"/>
              <a:t>/ внутри папки проекта.</a:t>
            </a:r>
          </a:p>
          <a:p>
            <a:r>
              <a:rPr lang="ru-RU" sz="3200" dirty="0"/>
              <a:t>Индекс – </a:t>
            </a:r>
            <a:r>
              <a:rPr lang="ru-RU" sz="2400" dirty="0"/>
              <a:t>файл, в котором содержатся изменения, подготовленные для добавления в </a:t>
            </a:r>
            <a:r>
              <a:rPr lang="ru-RU" sz="2400" dirty="0" err="1"/>
              <a:t>коммит</a:t>
            </a:r>
            <a:r>
              <a:rPr lang="ru-RU" sz="2400" dirty="0"/>
              <a:t>. Вы можете добавлять и убирать файлы из индекса.</a:t>
            </a:r>
          </a:p>
          <a:p>
            <a:r>
              <a:rPr lang="ru-RU" sz="3200" dirty="0"/>
              <a:t>Коммит – </a:t>
            </a:r>
            <a:r>
              <a:rPr lang="ru-RU" sz="2400" dirty="0"/>
              <a:t>фиксация изменений, внесенных в индекс. Другими словами, </a:t>
            </a:r>
            <a:r>
              <a:rPr lang="ru-RU" sz="2400" dirty="0" err="1"/>
              <a:t>коммит</a:t>
            </a:r>
            <a:r>
              <a:rPr lang="ru-RU" sz="2400" dirty="0"/>
              <a:t> – это единица изменений в вашем проекте. Коммит хранит измененные файлы, имя автора </a:t>
            </a:r>
            <a:r>
              <a:rPr lang="ru-RU" sz="2400" dirty="0" err="1"/>
              <a:t>коммита</a:t>
            </a:r>
            <a:r>
              <a:rPr lang="ru-RU" sz="2400" dirty="0"/>
              <a:t> и время, в которое был сделан </a:t>
            </a:r>
            <a:r>
              <a:rPr lang="ru-RU" sz="2400" dirty="0" err="1"/>
              <a:t>коммит</a:t>
            </a:r>
            <a:r>
              <a:rPr lang="ru-RU" sz="2400" dirty="0"/>
              <a:t>. Кроме того, каждый </a:t>
            </a:r>
            <a:r>
              <a:rPr lang="ru-RU" sz="2400" dirty="0" err="1"/>
              <a:t>коммит</a:t>
            </a:r>
            <a:r>
              <a:rPr lang="ru-RU" sz="2400" dirty="0"/>
              <a:t> имеет уникальный идентификатор, который позволяет в любое время к нему откатиться.</a:t>
            </a:r>
          </a:p>
        </p:txBody>
      </p:sp>
    </p:spTree>
    <p:extLst>
      <p:ext uri="{BB962C8B-B14F-4D97-AF65-F5344CB8AC3E}">
        <p14:creationId xmlns:p14="http://schemas.microsoft.com/office/powerpoint/2010/main" val="196611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основные понятия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8943" y="2185229"/>
            <a:ext cx="10276737" cy="3623734"/>
          </a:xfrm>
        </p:spPr>
        <p:txBody>
          <a:bodyPr>
            <a:noAutofit/>
          </a:bodyPr>
          <a:lstStyle/>
          <a:p>
            <a:r>
              <a:rPr lang="ru-RU" sz="3200" dirty="0"/>
              <a:t>Указатели HEAD, </a:t>
            </a:r>
            <a:r>
              <a:rPr lang="ru-RU" sz="3200" dirty="0" smtClean="0"/>
              <a:t>ORIGHEAD</a:t>
            </a:r>
            <a:r>
              <a:rPr lang="ru-RU" sz="2400" dirty="0" smtClean="0"/>
              <a:t>– </a:t>
            </a:r>
            <a:r>
              <a:rPr lang="ru-RU" sz="2400" dirty="0"/>
              <a:t>это ссылка на определенный </a:t>
            </a:r>
            <a:r>
              <a:rPr lang="ru-RU" sz="2400" dirty="0" err="1"/>
              <a:t>коммит</a:t>
            </a:r>
            <a:r>
              <a:rPr lang="ru-RU" sz="2400" dirty="0"/>
              <a:t>. Ссылка – это некоторая метка, которую использует </a:t>
            </a:r>
            <a:r>
              <a:rPr lang="ru-RU" sz="2400" dirty="0" err="1"/>
              <a:t>Git</a:t>
            </a:r>
            <a:r>
              <a:rPr lang="ru-RU" sz="2400" dirty="0"/>
              <a:t> или сам пользователь, чтобы указать на </a:t>
            </a:r>
            <a:r>
              <a:rPr lang="ru-RU" sz="2400" dirty="0" err="1"/>
              <a:t>коммит</a:t>
            </a:r>
            <a:r>
              <a:rPr lang="ru-RU" sz="2400" dirty="0"/>
              <a:t>.</a:t>
            </a:r>
          </a:p>
          <a:p>
            <a:r>
              <a:rPr lang="ru-RU" sz="3200" dirty="0"/>
              <a:t>Ветка</a:t>
            </a:r>
            <a:r>
              <a:rPr lang="ru-RU" sz="2400" dirty="0"/>
              <a:t> – это последовательность </a:t>
            </a:r>
            <a:r>
              <a:rPr lang="ru-RU" sz="2400" dirty="0" err="1"/>
              <a:t>коммитов</a:t>
            </a:r>
            <a:r>
              <a:rPr lang="ru-RU" sz="2400" dirty="0"/>
              <a:t>. Технически же, ветка – это ссылка на последний </a:t>
            </a:r>
            <a:r>
              <a:rPr lang="ru-RU" sz="2400" dirty="0" err="1"/>
              <a:t>коммит</a:t>
            </a:r>
            <a:r>
              <a:rPr lang="ru-RU" sz="2400" dirty="0"/>
              <a:t> в этой ветке. Преимущество веток в их независимости. </a:t>
            </a:r>
          </a:p>
          <a:p>
            <a:r>
              <a:rPr lang="ru-RU" sz="3200" dirty="0"/>
              <a:t>Рабочая копия. </a:t>
            </a:r>
            <a:r>
              <a:rPr lang="ru-RU" sz="2400" dirty="0"/>
              <a:t>Директория .</a:t>
            </a:r>
            <a:r>
              <a:rPr lang="ru-RU" sz="2400" dirty="0" err="1"/>
              <a:t>git</a:t>
            </a:r>
            <a:r>
              <a:rPr lang="ru-RU" sz="2400" dirty="0"/>
              <a:t>/ с её содержимым относится к </a:t>
            </a:r>
            <a:r>
              <a:rPr lang="ru-RU" sz="2400" dirty="0" err="1"/>
              <a:t>Git</a:t>
            </a:r>
            <a:r>
              <a:rPr lang="ru-RU" sz="2400" dirty="0"/>
              <a:t>. Все остальные файлы называются рабочей копией и принадлежат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87829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настройка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Объект 5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" y="1964361"/>
            <a:ext cx="12126315" cy="3354087"/>
          </a:xfrm>
        </p:spPr>
      </p:pic>
      <p:sp>
        <p:nvSpPr>
          <p:cNvPr id="5" name="Прямоугольник 4"/>
          <p:cNvSpPr/>
          <p:nvPr/>
        </p:nvSpPr>
        <p:spPr>
          <a:xfrm>
            <a:off x="420467" y="5977468"/>
            <a:ext cx="4931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Расположение файлов настроек (зависит от OS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271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настройка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1424"/>
            <a:ext cx="9886950" cy="1176866"/>
          </a:xfrm>
        </p:spPr>
        <p:txBody>
          <a:bodyPr>
            <a:noAutofit/>
          </a:bodyPr>
          <a:lstStyle/>
          <a:p>
            <a:r>
              <a:rPr lang="ru-RU" sz="2800" dirty="0" smtClean="0"/>
              <a:t>Конфигурирование</a:t>
            </a:r>
            <a:r>
              <a:rPr lang="ru-RU" sz="2800" dirty="0"/>
              <a:t> </a:t>
            </a:r>
            <a:r>
              <a:rPr lang="ru-RU" sz="2800" i="1" dirty="0" err="1"/>
              <a:t>Git</a:t>
            </a:r>
            <a:r>
              <a:rPr lang="ru-RU" sz="2800" dirty="0"/>
              <a:t> с помощью утилиты командной </a:t>
            </a:r>
            <a:r>
              <a:rPr lang="ru-RU" sz="2800" dirty="0" smtClean="0"/>
              <a:t>строки:</a:t>
            </a:r>
          </a:p>
          <a:p>
            <a:r>
              <a:rPr lang="ru-RU" sz="3200" b="1" i="1" dirty="0" err="1" smtClean="0"/>
              <a:t>git</a:t>
            </a:r>
            <a:r>
              <a:rPr lang="ru-RU" sz="3200" b="1" i="1" dirty="0" smtClean="0"/>
              <a:t> </a:t>
            </a:r>
            <a:r>
              <a:rPr lang="ru-RU" sz="3200" b="1" i="1" dirty="0" err="1" smtClean="0"/>
              <a:t>config</a:t>
            </a:r>
            <a:endParaRPr lang="ru-RU" sz="3200" b="1" i="1" dirty="0" smtClean="0"/>
          </a:p>
          <a:p>
            <a:endParaRPr lang="ru-RU" sz="2800" b="1" i="1" dirty="0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083435"/>
              </p:ext>
            </p:extLst>
          </p:nvPr>
        </p:nvGraphicFramePr>
        <p:xfrm>
          <a:off x="1097280" y="3122354"/>
          <a:ext cx="9226550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978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287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На уровне </a:t>
                      </a:r>
                      <a:r>
                        <a:rPr lang="ru-RU" sz="3200" b="1" dirty="0" smtClean="0"/>
                        <a:t>системы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 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config</a:t>
                      </a:r>
                      <a:r>
                        <a:rPr lang="en-US" sz="3200" dirty="0" smtClean="0"/>
                        <a:t> --system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На уровне </a:t>
                      </a:r>
                      <a:r>
                        <a:rPr lang="ru-RU" sz="3200" b="1" dirty="0" smtClean="0"/>
                        <a:t>пользователя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 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config</a:t>
                      </a:r>
                      <a:r>
                        <a:rPr lang="en-US" sz="3200" dirty="0" smtClean="0"/>
                        <a:t> --global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На уровне </a:t>
                      </a:r>
                      <a:r>
                        <a:rPr lang="ru-RU" sz="3200" b="1" dirty="0" smtClean="0"/>
                        <a:t>приложения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 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config</a:t>
                      </a:r>
                      <a:r>
                        <a:rPr lang="en-US" sz="3200" dirty="0" smtClean="0"/>
                        <a:t>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09600" y="4963778"/>
            <a:ext cx="11099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name value</a:t>
            </a:r>
          </a:p>
          <a:p>
            <a:r>
              <a:rPr lang="ru-RU" sz="2800" dirty="0"/>
              <a:t>где </a:t>
            </a:r>
            <a:r>
              <a:rPr lang="ru-RU" sz="2800" dirty="0" err="1"/>
              <a:t>name</a:t>
            </a:r>
            <a:r>
              <a:rPr lang="ru-RU" sz="2800" dirty="0"/>
              <a:t> это название параметра, а </a:t>
            </a:r>
            <a:r>
              <a:rPr lang="ru-RU" sz="2800" dirty="0" err="1"/>
              <a:t>value</a:t>
            </a:r>
            <a:r>
              <a:rPr lang="ru-RU" sz="2800" dirty="0"/>
              <a:t> его значение, для того чтобы задать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303937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591403"/>
            <a:ext cx="11404600" cy="983397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настройка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628731"/>
              </p:ext>
            </p:extLst>
          </p:nvPr>
        </p:nvGraphicFramePr>
        <p:xfrm>
          <a:off x="0" y="1574800"/>
          <a:ext cx="12192000" cy="518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65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Задать имя и </a:t>
                      </a:r>
                      <a:r>
                        <a:rPr lang="ru-RU" sz="26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26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ru-RU" sz="26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ail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разработчика для уровня пользователя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--global user.name "User"</a:t>
                      </a:r>
                    </a:p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--global </a:t>
                      </a:r>
                      <a:r>
                        <a:rPr lang="en-US" sz="2800" dirty="0" err="1" smtClean="0"/>
                        <a:t>user.email</a:t>
                      </a:r>
                      <a:r>
                        <a:rPr lang="en-US" sz="2800" dirty="0" smtClean="0"/>
                        <a:t> "user@company.com"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Просмотреть все установленные настройки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–list</a:t>
                      </a:r>
                      <a:endParaRPr lang="ru-RU" sz="2800" dirty="0" smtClean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--list --show-origin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600" dirty="0" smtClean="0"/>
                        <a:t>Указать текстовый редактор, который будет запускать </a:t>
                      </a:r>
                      <a:r>
                        <a:rPr lang="ru-RU" sz="2600" dirty="0" err="1" smtClean="0"/>
                        <a:t>Git</a:t>
                      </a:r>
                      <a:r>
                        <a:rPr lang="ru-RU" sz="2600" dirty="0" smtClean="0"/>
                        <a:t> (модифицировать параметр </a:t>
                      </a:r>
                      <a:r>
                        <a:rPr lang="en-US" sz="2600" dirty="0" err="1" smtClean="0"/>
                        <a:t>core.editor</a:t>
                      </a:r>
                      <a:r>
                        <a:rPr lang="ru-RU" sz="2600" dirty="0" smtClean="0"/>
                        <a:t>)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для </a:t>
                      </a:r>
                      <a:r>
                        <a:rPr lang="en-US" sz="2800" b="1" dirty="0" smtClean="0"/>
                        <a:t>Linux</a:t>
                      </a:r>
                      <a:r>
                        <a:rPr lang="en-US" sz="2800" dirty="0" smtClean="0"/>
                        <a:t>:</a:t>
                      </a:r>
                    </a:p>
                    <a:p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--global </a:t>
                      </a:r>
                      <a:r>
                        <a:rPr lang="en-US" sz="2800" dirty="0" err="1" smtClean="0"/>
                        <a:t>core.editor</a:t>
                      </a:r>
                      <a:r>
                        <a:rPr lang="en-US" sz="2800" dirty="0" smtClean="0"/>
                        <a:t> "</a:t>
                      </a:r>
                      <a:r>
                        <a:rPr lang="en-US" sz="2800" dirty="0" err="1" smtClean="0"/>
                        <a:t>nano</a:t>
                      </a:r>
                      <a:r>
                        <a:rPr lang="en-US" sz="2800" dirty="0" smtClean="0"/>
                        <a:t>"</a:t>
                      </a:r>
                    </a:p>
                    <a:p>
                      <a:r>
                        <a:rPr lang="ru-RU" sz="2800" dirty="0" smtClean="0"/>
                        <a:t>для </a:t>
                      </a:r>
                      <a:r>
                        <a:rPr lang="en-US" sz="2800" b="1" dirty="0" smtClean="0"/>
                        <a:t>Windows</a:t>
                      </a:r>
                      <a:r>
                        <a:rPr lang="en-US" sz="2800" dirty="0" smtClean="0"/>
                        <a:t>:</a:t>
                      </a:r>
                    </a:p>
                    <a:p>
                      <a:r>
                        <a:rPr lang="en-US" sz="2800" baseline="0" dirty="0" smtClean="0"/>
                        <a:t> </a:t>
                      </a:r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--global </a:t>
                      </a:r>
                      <a:r>
                        <a:rPr lang="en-US" sz="2800" dirty="0" err="1" smtClean="0"/>
                        <a:t>core.editor</a:t>
                      </a:r>
                      <a:r>
                        <a:rPr lang="en-US" sz="2800" dirty="0" smtClean="0"/>
                        <a:t> "notepad.exe"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установить имя </a:t>
                      </a:r>
                      <a:r>
                        <a:rPr lang="ru-RU" sz="26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</a:t>
                      </a:r>
                      <a:r>
                        <a:rPr lang="ru-RU" sz="2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 вашей ветки по умолчанию</a:t>
                      </a:r>
                      <a:endParaRPr lang="ru-RU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smtClean="0"/>
                        <a:t> </a:t>
                      </a:r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config</a:t>
                      </a:r>
                      <a:r>
                        <a:rPr lang="en-US" sz="2800" dirty="0" smtClean="0"/>
                        <a:t> --global </a:t>
                      </a:r>
                      <a:r>
                        <a:rPr lang="en-US" sz="2800" dirty="0" err="1" smtClean="0"/>
                        <a:t>init.defaultBranch</a:t>
                      </a:r>
                      <a:r>
                        <a:rPr lang="en-US" sz="2800" dirty="0" smtClean="0"/>
                        <a:t> main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03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help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183181"/>
              </p:ext>
            </p:extLst>
          </p:nvPr>
        </p:nvGraphicFramePr>
        <p:xfrm>
          <a:off x="271780" y="1963072"/>
          <a:ext cx="11709400" cy="417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6356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737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 smtClean="0"/>
                        <a:t>Открыть руководство по команде </a:t>
                      </a:r>
                      <a:r>
                        <a:rPr lang="ru-RU" sz="3200" baseline="0" dirty="0" smtClean="0"/>
                        <a:t>(откроется </a:t>
                      </a:r>
                      <a:r>
                        <a:rPr lang="en-US" sz="3200" baseline="0" dirty="0" smtClean="0"/>
                        <a:t>html c</a:t>
                      </a:r>
                      <a:r>
                        <a:rPr lang="ru-RU" sz="3200" baseline="0" dirty="0" err="1" smtClean="0"/>
                        <a:t>траница</a:t>
                      </a:r>
                      <a:r>
                        <a:rPr lang="ru-RU" sz="3200" baseline="0" dirty="0" smtClean="0"/>
                        <a:t>)</a:t>
                      </a:r>
                      <a:endParaRPr lang="ru-RU" sz="3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git</a:t>
                      </a:r>
                      <a:r>
                        <a:rPr lang="ru-RU" sz="3200" dirty="0" smtClean="0"/>
                        <a:t> &lt;команда&gt; --</a:t>
                      </a:r>
                      <a:r>
                        <a:rPr lang="ru-RU" sz="3200" dirty="0" err="1" smtClean="0"/>
                        <a:t>help</a:t>
                      </a:r>
                      <a:endParaRPr lang="ru-RU" sz="3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add --help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git</a:t>
                      </a: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help</a:t>
                      </a:r>
                      <a:r>
                        <a:rPr lang="ru-RU" sz="3200" dirty="0" smtClean="0"/>
                        <a:t> &lt;команда&gt;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git</a:t>
                      </a: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help</a:t>
                      </a: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config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O</a:t>
                      </a:r>
                      <a:r>
                        <a:rPr lang="ru-RU" sz="3200" dirty="0" err="1" smtClean="0"/>
                        <a:t>пция</a:t>
                      </a:r>
                      <a:r>
                        <a:rPr lang="ru-RU" sz="3200" dirty="0" smtClean="0"/>
                        <a:t> -h для вывода краткой инструкции по использованию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git</a:t>
                      </a:r>
                      <a:r>
                        <a:rPr lang="ru-RU" sz="3200" dirty="0" smtClean="0"/>
                        <a:t> &lt;команда&gt; -h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git</a:t>
                      </a:r>
                      <a:r>
                        <a:rPr lang="ru-RU" sz="3200" dirty="0" smtClean="0"/>
                        <a:t> </a:t>
                      </a:r>
                      <a:r>
                        <a:rPr lang="ru-RU" sz="3200" dirty="0" err="1" smtClean="0"/>
                        <a:t>add</a:t>
                      </a:r>
                      <a:r>
                        <a:rPr lang="ru-RU" sz="3200" dirty="0" smtClean="0"/>
                        <a:t> </a:t>
                      </a:r>
                      <a:r>
                        <a:rPr lang="en-US" sz="3200" dirty="0" smtClean="0"/>
                        <a:t>-</a:t>
                      </a:r>
                      <a:r>
                        <a:rPr lang="ru-RU" sz="3200" dirty="0" smtClean="0"/>
                        <a:t>h</a:t>
                      </a:r>
                      <a:r>
                        <a:rPr lang="en-US" sz="3200" dirty="0" smtClean="0"/>
                        <a:t>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Узнать</a:t>
                      </a:r>
                      <a:r>
                        <a:rPr lang="ru-RU" sz="3200" baseline="0" dirty="0" smtClean="0"/>
                        <a:t> версию установленного </a:t>
                      </a:r>
                      <a:r>
                        <a:rPr lang="en-US" sz="3200" baseline="0" dirty="0" err="1" smtClean="0"/>
                        <a:t>git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--version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16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286603"/>
            <a:ext cx="11677650" cy="121682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/>
              <a:t>н</a:t>
            </a:r>
            <a:r>
              <a:rPr lang="ru-RU" dirty="0" smtClean="0"/>
              <a:t>ачало </a:t>
            </a:r>
            <a:r>
              <a:rPr lang="ru-RU" dirty="0"/>
              <a:t>работы.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Создание удаленного </a:t>
            </a:r>
            <a:r>
              <a:rPr lang="ru-RU" dirty="0" err="1" smtClean="0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1450" y="1845734"/>
            <a:ext cx="11677650" cy="1087966"/>
          </a:xfrm>
        </p:spPr>
        <p:txBody>
          <a:bodyPr>
            <a:noAutofit/>
          </a:bodyPr>
          <a:lstStyle/>
          <a:p>
            <a:r>
              <a:rPr lang="ru-RU" sz="2800" dirty="0"/>
              <a:t>В самом начале заходим на </a:t>
            </a:r>
            <a:r>
              <a:rPr lang="ru-RU" sz="2800" b="1" dirty="0"/>
              <a:t>https://github.com </a:t>
            </a:r>
            <a:r>
              <a:rPr lang="ru-RU" sz="2800" dirty="0"/>
              <a:t>(https://bitbucket.org/ ,</a:t>
            </a:r>
          </a:p>
          <a:p>
            <a:r>
              <a:rPr lang="ru-RU" sz="2800" dirty="0"/>
              <a:t>https://gitlab.com/) и создаем пустой </a:t>
            </a:r>
            <a:r>
              <a:rPr lang="ru-RU" sz="2800" dirty="0" err="1"/>
              <a:t>репозиторий</a:t>
            </a:r>
            <a:r>
              <a:rPr lang="ru-RU" sz="2800" dirty="0"/>
              <a:t>.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20" y="3655484"/>
            <a:ext cx="8240667" cy="2446108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3276004"/>
            <a:ext cx="2997898" cy="256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6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742945"/>
            <a:ext cx="10497820" cy="452572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71450" y="286603"/>
            <a:ext cx="11677650" cy="12168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solidFill>
                  <a:schemeClr val="tx1"/>
                </a:solidFill>
              </a:rPr>
              <a:t>G</a:t>
            </a:r>
            <a:r>
              <a:rPr lang="ru-RU" smtClean="0">
                <a:solidFill>
                  <a:schemeClr val="tx1"/>
                </a:solidFill>
              </a:rPr>
              <a:t>it </a:t>
            </a:r>
            <a:r>
              <a:rPr lang="en-US" smtClean="0">
                <a:solidFill>
                  <a:schemeClr val="tx1"/>
                </a:solidFill>
              </a:rPr>
              <a:t>– </a:t>
            </a:r>
            <a:r>
              <a:rPr lang="ru-RU" smtClean="0"/>
              <a:t>начало работы. </a:t>
            </a:r>
            <a:br>
              <a:rPr lang="ru-RU" smtClean="0"/>
            </a:br>
            <a:r>
              <a:rPr lang="ru-RU" smtClean="0"/>
              <a:t>Создание удаленного репозитория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48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752598" cy="111298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smtClean="0"/>
              <a:t>локального </a:t>
            </a:r>
            <a:r>
              <a:rPr lang="ru-RU" dirty="0" err="1" smtClean="0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75871"/>
              </p:ext>
            </p:extLst>
          </p:nvPr>
        </p:nvGraphicFramePr>
        <p:xfrm>
          <a:off x="1097280" y="2245360"/>
          <a:ext cx="10053320" cy="2987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66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666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mkdir</a:t>
                      </a:r>
                      <a:r>
                        <a:rPr lang="en-US" sz="3200" dirty="0" smtClean="0"/>
                        <a:t> repo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3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оздать</a:t>
                      </a:r>
                      <a:r>
                        <a:rPr lang="ru-RU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папку, в которой будет располагаться </a:t>
                      </a:r>
                      <a:r>
                        <a:rPr lang="ru-RU" sz="3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cd repo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Перейти</a:t>
                      </a:r>
                      <a:r>
                        <a:rPr lang="ru-RU" sz="3200" baseline="0" dirty="0" smtClean="0"/>
                        <a:t> в каталог </a:t>
                      </a:r>
                      <a:r>
                        <a:rPr lang="en-US" sz="3200" baseline="0" dirty="0" smtClean="0"/>
                        <a:t>repo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</a:t>
                      </a:r>
                      <a:r>
                        <a:rPr lang="en-US" sz="3200" dirty="0" err="1" smtClean="0"/>
                        <a:t>init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Создать в текущем каталоге пустой </a:t>
                      </a:r>
                      <a:r>
                        <a:rPr lang="ru-RU" sz="32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ru-RU" sz="32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32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22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4"/>
            <a:ext cx="10808581" cy="9450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smtClean="0"/>
              <a:t>локального </a:t>
            </a:r>
            <a:r>
              <a:rPr lang="ru-RU" dirty="0" err="1" smtClean="0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6" y="2209358"/>
            <a:ext cx="12017588" cy="37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9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4"/>
            <a:ext cx="10808581" cy="9450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smtClean="0"/>
              <a:t>локального </a:t>
            </a:r>
            <a:r>
              <a:rPr lang="ru-RU" dirty="0" err="1" smtClean="0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81" y="1426315"/>
            <a:ext cx="2793266" cy="51554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7279" y="1426315"/>
            <a:ext cx="2155001" cy="30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3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20800" y="44250"/>
            <a:ext cx="10058400" cy="72231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архитектура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6562"/>
            <a:ext cx="7241112" cy="4257138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380" y="1746276"/>
            <a:ext cx="4980620" cy="51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1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состояния файлов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333582"/>
              </p:ext>
            </p:extLst>
          </p:nvPr>
        </p:nvGraphicFramePr>
        <p:xfrm>
          <a:off x="449579" y="1193800"/>
          <a:ext cx="113538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131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406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/>
                        <a:t>git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status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Просмотр состояния файлов</a:t>
                      </a:r>
                      <a:r>
                        <a:rPr lang="ru-RU" sz="2800" baseline="0" dirty="0" smtClean="0"/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рабочего каталога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61" y="1888985"/>
            <a:ext cx="7444118" cy="470229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276408" y="2273951"/>
            <a:ext cx="352697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1.Неотслеживаемый.</a:t>
            </a:r>
          </a:p>
          <a:p>
            <a:endParaRPr lang="ru-RU" sz="2800" dirty="0" smtClean="0"/>
          </a:p>
          <a:p>
            <a:r>
              <a:rPr lang="ru-RU" sz="2800" dirty="0" smtClean="0"/>
              <a:t>2.Отслеживаемый: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Неизмененный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Измененный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Подготовленный к </a:t>
            </a:r>
            <a:r>
              <a:rPr lang="ru-RU" sz="2800" dirty="0" err="1" smtClean="0"/>
              <a:t>коммиту</a:t>
            </a:r>
            <a:endParaRPr lang="ru-RU" sz="2800" dirty="0" smtClean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0267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состояния файлов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23" y="2062948"/>
            <a:ext cx="2778812" cy="227049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37" y="2062948"/>
            <a:ext cx="8826809" cy="41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6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объекты (</a:t>
            </a:r>
            <a:r>
              <a:rPr lang="en-US" dirty="0"/>
              <a:t>.</a:t>
            </a:r>
            <a:r>
              <a:rPr lang="en-US" dirty="0" err="1"/>
              <a:t>git</a:t>
            </a:r>
            <a:r>
              <a:rPr lang="en-US" dirty="0"/>
              <a:t>/objects/</a:t>
            </a:r>
            <a:r>
              <a:rPr lang="ru-RU" dirty="0" smtClean="0"/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6612" y="1625502"/>
            <a:ext cx="12005388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/>
              <a:t>Blob</a:t>
            </a:r>
            <a:r>
              <a:rPr lang="ru-RU" sz="2800" dirty="0"/>
              <a:t> (англ. </a:t>
            </a:r>
            <a:r>
              <a:rPr lang="ru-RU" sz="2800" dirty="0" err="1"/>
              <a:t>binary</a:t>
            </a:r>
            <a:r>
              <a:rPr lang="ru-RU" sz="2800" dirty="0"/>
              <a:t> </a:t>
            </a:r>
            <a:r>
              <a:rPr lang="ru-RU" sz="2800" dirty="0" err="1"/>
              <a:t>large</a:t>
            </a:r>
            <a:r>
              <a:rPr lang="ru-RU" sz="2800" dirty="0"/>
              <a:t> </a:t>
            </a:r>
            <a:r>
              <a:rPr lang="ru-RU" sz="2800" dirty="0" err="1"/>
              <a:t>object</a:t>
            </a:r>
            <a:r>
              <a:rPr lang="ru-RU" sz="2800" dirty="0"/>
              <a:t>) </a:t>
            </a:r>
            <a:r>
              <a:rPr lang="ru-RU" sz="2800" dirty="0" smtClean="0"/>
              <a:t>– бинарный файл, формируемый для </a:t>
            </a:r>
            <a:r>
              <a:rPr lang="ru-RU" sz="2800" dirty="0"/>
              <a:t>каждого файла в </a:t>
            </a:r>
            <a:r>
              <a:rPr lang="ru-RU" sz="2800" dirty="0" err="1"/>
              <a:t>репозитории</a:t>
            </a:r>
            <a:r>
              <a:rPr lang="ru-RU" sz="2800" dirty="0"/>
              <a:t> </a:t>
            </a:r>
            <a:r>
              <a:rPr lang="ru-RU" sz="2800" dirty="0" smtClean="0"/>
              <a:t>при добавлении файла в индекс (</a:t>
            </a:r>
            <a:r>
              <a:rPr lang="en-US" sz="2800" dirty="0" err="1" smtClean="0"/>
              <a:t>git</a:t>
            </a:r>
            <a:r>
              <a:rPr lang="en-US" sz="2800" dirty="0" smtClean="0"/>
              <a:t> add</a:t>
            </a:r>
            <a:r>
              <a:rPr lang="ru-RU" sz="2800" dirty="0" smtClean="0"/>
              <a:t>), содержит </a:t>
            </a:r>
            <a:r>
              <a:rPr lang="ru-RU" sz="2800" dirty="0"/>
              <a:t>его имя и сжатое содержимое. </a:t>
            </a:r>
            <a:endParaRPr lang="en-US" sz="2800" dirty="0" smtClean="0"/>
          </a:p>
          <a:p>
            <a:endParaRPr lang="en-US" sz="1100" dirty="0"/>
          </a:p>
          <a:p>
            <a:r>
              <a:rPr lang="ru-RU" sz="2800" b="1" dirty="0" err="1" smtClean="0"/>
              <a:t>Tree</a:t>
            </a:r>
            <a:r>
              <a:rPr lang="en-US" sz="2800" dirty="0" smtClean="0"/>
              <a:t>  - </a:t>
            </a:r>
            <a:r>
              <a:rPr lang="ru-RU" sz="2800" dirty="0" smtClean="0"/>
              <a:t>формируются </a:t>
            </a:r>
            <a:r>
              <a:rPr lang="ru-RU" sz="2800" dirty="0"/>
              <a:t>для каждой директории </a:t>
            </a:r>
            <a:r>
              <a:rPr lang="ru-RU" sz="2800" dirty="0" err="1"/>
              <a:t>репозитория</a:t>
            </a:r>
            <a:r>
              <a:rPr lang="ru-RU" sz="2800" dirty="0"/>
              <a:t> </a:t>
            </a:r>
            <a:r>
              <a:rPr lang="en-US" sz="2800" dirty="0" smtClean="0"/>
              <a:t> </a:t>
            </a:r>
            <a:r>
              <a:rPr lang="ru-RU" sz="2800" dirty="0" smtClean="0"/>
              <a:t> </a:t>
            </a:r>
            <a:r>
              <a:rPr lang="ru-RU" sz="2800" dirty="0"/>
              <a:t>во время </a:t>
            </a:r>
            <a:r>
              <a:rPr lang="ru-RU" sz="2800" dirty="0" err="1"/>
              <a:t>коммита</a:t>
            </a:r>
            <a:r>
              <a:rPr lang="ru-RU" sz="2800" dirty="0"/>
              <a:t> и </a:t>
            </a:r>
            <a:r>
              <a:rPr lang="ru-RU" sz="2800" dirty="0" smtClean="0"/>
              <a:t>показывают</a:t>
            </a:r>
            <a:r>
              <a:rPr lang="en-US" sz="2800" dirty="0" smtClean="0"/>
              <a:t> </a:t>
            </a:r>
            <a:r>
              <a:rPr lang="ru-RU" sz="2800" dirty="0" smtClean="0"/>
              <a:t>связи </a:t>
            </a:r>
            <a:r>
              <a:rPr lang="ru-RU" sz="2800" dirty="0"/>
              <a:t>между файлами в </a:t>
            </a:r>
            <a:r>
              <a:rPr lang="ru-RU" sz="2800" dirty="0" err="1"/>
              <a:t>репозитории</a:t>
            </a:r>
            <a:r>
              <a:rPr lang="ru-RU" sz="2800" dirty="0"/>
              <a:t>. </a:t>
            </a:r>
            <a:r>
              <a:rPr lang="en-US" sz="2800" dirty="0" smtClean="0"/>
              <a:t> Tree </a:t>
            </a:r>
            <a:r>
              <a:rPr lang="ru-RU" sz="2800" dirty="0" smtClean="0"/>
              <a:t>состоит </a:t>
            </a:r>
            <a:r>
              <a:rPr lang="ru-RU" sz="2800" dirty="0"/>
              <a:t>из имен 1) </a:t>
            </a:r>
            <a:r>
              <a:rPr lang="ru-RU" sz="2800" dirty="0" err="1"/>
              <a:t>blob</a:t>
            </a:r>
            <a:r>
              <a:rPr lang="ru-RU" sz="2800" dirty="0"/>
              <a:t>-объектов для файлов, которые лежат в данной директории, и 2) других деревьев для всех поддиректорий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endParaRPr lang="ru-RU" sz="1600" dirty="0"/>
          </a:p>
          <a:p>
            <a:r>
              <a:rPr lang="en-US" sz="2800" b="1" dirty="0" smtClean="0"/>
              <a:t>Commit </a:t>
            </a:r>
            <a:r>
              <a:rPr lang="ru-RU" sz="2800" dirty="0" smtClean="0"/>
              <a:t>- </a:t>
            </a:r>
            <a:r>
              <a:rPr lang="ru-RU" sz="2800" dirty="0"/>
              <a:t>содержит в себе имя автора </a:t>
            </a:r>
            <a:r>
              <a:rPr lang="ru-RU" sz="2800" dirty="0" err="1"/>
              <a:t>коммита</a:t>
            </a:r>
            <a:r>
              <a:rPr lang="ru-RU" sz="2800" dirty="0"/>
              <a:t>, время </a:t>
            </a:r>
            <a:r>
              <a:rPr lang="ru-RU" sz="2800" dirty="0" err="1"/>
              <a:t>коммита</a:t>
            </a:r>
            <a:r>
              <a:rPr lang="ru-RU" sz="2800" dirty="0"/>
              <a:t> и объект дерева корневой директории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73559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0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индексирование файлов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258010"/>
              </p:ext>
            </p:extLst>
          </p:nvPr>
        </p:nvGraphicFramePr>
        <p:xfrm>
          <a:off x="449580" y="1037798"/>
          <a:ext cx="7148806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604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883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/>
                        <a:t>git</a:t>
                      </a:r>
                      <a:r>
                        <a:rPr lang="ru-RU" sz="2800" dirty="0" smtClean="0"/>
                        <a:t> </a:t>
                      </a:r>
                      <a:r>
                        <a:rPr lang="en-US" sz="2800" dirty="0" smtClean="0"/>
                        <a:t>add 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Добавление</a:t>
                      </a:r>
                      <a:r>
                        <a:rPr lang="en-US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файлов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ru-RU" sz="28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pic>
        <p:nvPicPr>
          <p:cNvPr id="3" name="Рисунок 2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0" t="3598" r="1829"/>
          <a:stretch/>
        </p:blipFill>
        <p:spPr>
          <a:xfrm>
            <a:off x="132340" y="1711960"/>
            <a:ext cx="7348761" cy="464244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987005" y="898004"/>
            <a:ext cx="420499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2800" dirty="0">
                <a:solidFill>
                  <a:srgbClr val="252525"/>
                </a:solidFill>
              </a:rPr>
              <a:t>Сжимает содержимое этого файла и создает </a:t>
            </a:r>
            <a:r>
              <a:rPr lang="ru-RU" sz="2800" b="1" dirty="0" err="1">
                <a:solidFill>
                  <a:srgbClr val="007C77"/>
                </a:solidFill>
              </a:rPr>
              <a:t>blob</a:t>
            </a:r>
            <a:r>
              <a:rPr lang="ru-RU" sz="2800" b="1" dirty="0">
                <a:solidFill>
                  <a:srgbClr val="007C77"/>
                </a:solidFill>
              </a:rPr>
              <a:t>-объект</a:t>
            </a:r>
            <a:r>
              <a:rPr lang="ru-RU" sz="2800" dirty="0">
                <a:solidFill>
                  <a:srgbClr val="252525"/>
                </a:solidFill>
              </a:rPr>
              <a:t>. Имя </a:t>
            </a:r>
            <a:r>
              <a:rPr lang="ru-RU" sz="2800" dirty="0" err="1" smtClean="0">
                <a:solidFill>
                  <a:srgbClr val="252525"/>
                </a:solidFill>
              </a:rPr>
              <a:t>blob</a:t>
            </a:r>
            <a:r>
              <a:rPr lang="ru-RU" sz="2800" dirty="0" smtClean="0">
                <a:solidFill>
                  <a:srgbClr val="252525"/>
                </a:solidFill>
              </a:rPr>
              <a:t>-объекта(40-символьный </a:t>
            </a:r>
            <a:r>
              <a:rPr lang="ru-RU" sz="2800" dirty="0" err="1">
                <a:solidFill>
                  <a:srgbClr val="252525"/>
                </a:solidFill>
              </a:rPr>
              <a:t>хэш</a:t>
            </a:r>
            <a:r>
              <a:rPr lang="ru-RU" sz="2800" dirty="0">
                <a:solidFill>
                  <a:srgbClr val="252525"/>
                </a:solidFill>
              </a:rPr>
              <a:t> содержимого файла, причем первые две буквы </a:t>
            </a:r>
            <a:r>
              <a:rPr lang="ru-RU" sz="2800" dirty="0" err="1">
                <a:solidFill>
                  <a:srgbClr val="252525"/>
                </a:solidFill>
              </a:rPr>
              <a:t>хэша</a:t>
            </a:r>
            <a:r>
              <a:rPr lang="ru-RU" sz="2800" dirty="0">
                <a:solidFill>
                  <a:srgbClr val="252525"/>
                </a:solidFill>
              </a:rPr>
              <a:t> отводятся под имя поддиректории в папке .</a:t>
            </a:r>
            <a:r>
              <a:rPr lang="ru-RU" sz="2800" dirty="0" err="1">
                <a:solidFill>
                  <a:srgbClr val="252525"/>
                </a:solidFill>
              </a:rPr>
              <a:t>git</a:t>
            </a:r>
            <a:r>
              <a:rPr lang="ru-RU" sz="2800" dirty="0">
                <a:solidFill>
                  <a:srgbClr val="252525"/>
                </a:solidFill>
              </a:rPr>
              <a:t>/</a:t>
            </a:r>
            <a:r>
              <a:rPr lang="ru-RU" sz="2800" dirty="0" err="1">
                <a:solidFill>
                  <a:srgbClr val="252525"/>
                </a:solidFill>
              </a:rPr>
              <a:t>objects</a:t>
            </a:r>
            <a:r>
              <a:rPr lang="ru-RU" sz="2800" dirty="0">
                <a:solidFill>
                  <a:srgbClr val="252525"/>
                </a:solidFill>
              </a:rPr>
              <a:t>, а остальные 38 – под имя самого </a:t>
            </a:r>
            <a:r>
              <a:rPr lang="ru-RU" sz="2800" dirty="0" smtClean="0">
                <a:solidFill>
                  <a:srgbClr val="252525"/>
                </a:solidFill>
              </a:rPr>
              <a:t>файла) </a:t>
            </a:r>
            <a:r>
              <a:rPr lang="ru-RU" sz="2800" dirty="0"/>
              <a:t>записывается в индекс (</a:t>
            </a:r>
            <a:r>
              <a:rPr lang="ru-RU" sz="2800" b="1" dirty="0"/>
              <a:t>.</a:t>
            </a:r>
            <a:r>
              <a:rPr lang="en-US" sz="2800" b="1" dirty="0" err="1"/>
              <a:t>git</a:t>
            </a:r>
            <a:r>
              <a:rPr lang="en-US" sz="2800" b="1" dirty="0"/>
              <a:t>/index</a:t>
            </a:r>
            <a:r>
              <a:rPr lang="en-US" sz="2800" dirty="0"/>
              <a:t>)</a:t>
            </a:r>
            <a:r>
              <a:rPr lang="ru-RU" sz="2800" dirty="0" smtClean="0">
                <a:solidFill>
                  <a:srgbClr val="252525"/>
                </a:solidFill>
              </a:rPr>
              <a:t> </a:t>
            </a:r>
            <a:endParaRPr lang="en-US" sz="2800" dirty="0" smtClean="0">
              <a:solidFill>
                <a:srgbClr val="2525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61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индексирование файлов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9" y="1193800"/>
            <a:ext cx="3544081" cy="543427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77" y="1882530"/>
            <a:ext cx="7648952" cy="464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3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индексирование файлов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474499"/>
              </p:ext>
            </p:extLst>
          </p:nvPr>
        </p:nvGraphicFramePr>
        <p:xfrm>
          <a:off x="240523" y="1684695"/>
          <a:ext cx="11709400" cy="23214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062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031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96324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add filename</a:t>
                      </a:r>
                      <a:endParaRPr lang="ru-RU" sz="2800" dirty="0" smtClean="0"/>
                    </a:p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add README.md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Добавление</a:t>
                      </a:r>
                      <a:r>
                        <a:rPr lang="en-US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файла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README.md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(индекс)</a:t>
                      </a:r>
                      <a:r>
                        <a:rPr lang="en-US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2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</a:t>
                      </a:r>
                      <a:r>
                        <a:rPr lang="ru-RU" sz="2400" b="0" i="1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файлов несколько вместо </a:t>
                      </a:r>
                      <a:r>
                        <a:rPr lang="en-US" sz="2400" dirty="0" smtClean="0"/>
                        <a:t>filename</a:t>
                      </a:r>
                      <a:r>
                        <a:rPr lang="ru-RU" sz="2400" dirty="0" smtClean="0"/>
                        <a:t> использовать точку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10793">
                <a:tc>
                  <a:txBody>
                    <a:bodyPr/>
                    <a:lstStyle/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add -A</a:t>
                      </a:r>
                    </a:p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add --all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Добавляем все измененные файлы в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(индекс)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22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431943"/>
              </p:ext>
            </p:extLst>
          </p:nvPr>
        </p:nvGraphicFramePr>
        <p:xfrm>
          <a:off x="203200" y="863601"/>
          <a:ext cx="11709400" cy="60047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779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314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010793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commit -m “message”</a:t>
                      </a:r>
                      <a:endParaRPr lang="ru-RU" sz="2800" dirty="0" smtClean="0"/>
                    </a:p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commit -m "[create repository]"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отправка в локальный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 описанием в комментарии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5678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git</a:t>
                      </a:r>
                      <a:r>
                        <a:rPr lang="en-US" sz="2800" b="0" dirty="0" smtClean="0"/>
                        <a:t> commit </a:t>
                      </a:r>
                      <a:r>
                        <a:rPr lang="ru-RU" sz="2800" b="0" dirty="0" smtClean="0"/>
                        <a:t> 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 &lt;commit&gt;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Берет описание, и информацию об авторе из переданного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коммита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когда создает новый. Открывает редактор, давая возможность отредактировать описание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коммита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6324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touch README.md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Создать в текущем каталоге пустой файл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10793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log</a:t>
                      </a:r>
                      <a:endParaRPr lang="ru-RU" sz="2800" dirty="0" smtClean="0"/>
                    </a:p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log –</a:t>
                      </a:r>
                      <a:r>
                        <a:rPr lang="en-US" sz="2800" dirty="0" err="1" smtClean="0"/>
                        <a:t>oneline</a:t>
                      </a:r>
                      <a:endParaRPr lang="ru-RU" sz="2800" dirty="0" smtClean="0"/>
                    </a:p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baseline="0" dirty="0" smtClean="0"/>
                        <a:t> log -p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Просмотреть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список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коммитов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Сокращенный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вариант</a:t>
                      </a:r>
                      <a:endParaRPr lang="en-US" sz="2800" b="0" i="0" kern="1200" baseline="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отображением изменений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10793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commit -a -m «Created a bad feature»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Индексируем все изменения и одновременно создаем из них </a:t>
                      </a:r>
                      <a:r>
                        <a:rPr lang="ru-RU" sz="2800" dirty="0" err="1" smtClean="0"/>
                        <a:t>коммит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3913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96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/>
          <a:srcRect r="53987"/>
          <a:stretch/>
        </p:blipFill>
        <p:spPr>
          <a:xfrm>
            <a:off x="609600" y="863599"/>
            <a:ext cx="9257775" cy="580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3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8" y="881337"/>
            <a:ext cx="10975843" cy="1501413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55" y="2495356"/>
            <a:ext cx="9727992" cy="214505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09599" y="4753013"/>
            <a:ext cx="98033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252525"/>
                </a:solidFill>
                <a:latin typeface="Roboto"/>
              </a:rPr>
              <a:t>Режим доступа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 это одно из следующих чисел: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>
                <a:solidFill>
                  <a:srgbClr val="252525"/>
                </a:solidFill>
                <a:latin typeface="Roboto"/>
              </a:rPr>
              <a:t>1. 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100644 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– обычный файл.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>
                <a:solidFill>
                  <a:srgbClr val="252525"/>
                </a:solidFill>
                <a:latin typeface="Roboto"/>
              </a:rPr>
              <a:t>2. 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100755 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– исполняемый файл.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>
                <a:solidFill>
                  <a:srgbClr val="252525"/>
                </a:solidFill>
                <a:latin typeface="Roboto"/>
              </a:rPr>
              <a:t>3. 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120000 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– символическая ссылка (напр.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HEAD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7937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 smtClean="0">
                <a:solidFill>
                  <a:schemeClr val="tx1"/>
                </a:solidFill>
              </a:rPr>
              <a:t>it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878225"/>
              </p:ext>
            </p:extLst>
          </p:nvPr>
        </p:nvGraphicFramePr>
        <p:xfrm>
          <a:off x="449578" y="1990906"/>
          <a:ext cx="11080782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9279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528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/>
                        <a:t>git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remote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add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origin</a:t>
                      </a:r>
                      <a:r>
                        <a:rPr lang="ru-RU" sz="2400" dirty="0" smtClean="0"/>
                        <a:t>&lt;</a:t>
                      </a:r>
                      <a:r>
                        <a:rPr lang="ru-RU" sz="2400" dirty="0" err="1" smtClean="0"/>
                        <a:t>адрес.удаленного.сервера</a:t>
                      </a:r>
                      <a:r>
                        <a:rPr lang="ru-RU" sz="2400" dirty="0" smtClean="0"/>
                        <a:t>&gt;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подключить локальный </a:t>
                      </a:r>
                      <a:r>
                        <a:rPr lang="ru-RU" sz="2800" dirty="0" err="1" smtClean="0"/>
                        <a:t>репозиторий</a:t>
                      </a:r>
                      <a:r>
                        <a:rPr lang="ru-RU" sz="2800" dirty="0" smtClean="0"/>
                        <a:t> к удаленному серверу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err="1" smtClean="0"/>
                        <a:t>git</a:t>
                      </a:r>
                      <a:r>
                        <a:rPr lang="ru-RU" sz="2800" dirty="0" smtClean="0"/>
                        <a:t> </a:t>
                      </a:r>
                      <a:r>
                        <a:rPr lang="ru-RU" sz="2800" dirty="0" err="1" smtClean="0"/>
                        <a:t>remote</a:t>
                      </a:r>
                      <a:r>
                        <a:rPr lang="ru-RU" sz="2800" dirty="0" smtClean="0"/>
                        <a:t> -v 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список удаленных </a:t>
                      </a:r>
                      <a:r>
                        <a:rPr lang="ru-RU" sz="2800" dirty="0" err="1" smtClean="0"/>
                        <a:t>репозиториев</a:t>
                      </a:r>
                      <a:r>
                        <a:rPr lang="ru-RU" sz="2800" dirty="0" smtClean="0"/>
                        <a:t>, настроенных в данный момент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echo "# igi-python-2023" &gt;&gt; README.md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запись заголовка в файл</a:t>
                      </a:r>
                      <a:r>
                        <a:rPr lang="en-US" sz="2800" dirty="0" smtClean="0"/>
                        <a:t> README.md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03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863601"/>
            <a:ext cx="10191386" cy="6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1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426111"/>
              </p:ext>
            </p:extLst>
          </p:nvPr>
        </p:nvGraphicFramePr>
        <p:xfrm>
          <a:off x="180897" y="863600"/>
          <a:ext cx="11709400" cy="573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920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73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247010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попытка запушить изменения. Не сработало, так как у</a:t>
                      </a:r>
                    </a:p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текущей локальной ветки не настроена удаленная ветка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20412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--set-upstream origin master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установка удаленной ветки для</a:t>
                      </a:r>
                    </a:p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текущей локальной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(master –</a:t>
                      </a:r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имя ветки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33237">
                <a:tc>
                  <a:txBody>
                    <a:bodyPr/>
                    <a:lstStyle/>
                    <a:p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dirname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/somefile.js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dirname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/*.html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Удалит</a:t>
                      </a:r>
                      <a:r>
                        <a:rPr lang="ru-RU" sz="3200" baseline="0" dirty="0" smtClean="0"/>
                        <a:t>ь файлы из текущего рабочего дерева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33237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effectLst/>
                        </a:rPr>
                        <a:t>ls -la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Просмотреть</a:t>
                      </a:r>
                      <a:r>
                        <a:rPr lang="ru-RU" sz="3200" baseline="0" dirty="0" smtClean="0"/>
                        <a:t> содержимое каталога с </a:t>
                      </a:r>
                      <a:r>
                        <a:rPr lang="ru-RU" sz="3200" baseline="0" dirty="0" err="1" smtClean="0"/>
                        <a:t>репозиторием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7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0" y="863600"/>
            <a:ext cx="8794594" cy="2556346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0" y="3943169"/>
            <a:ext cx="8794594" cy="23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2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3417" y="480122"/>
            <a:ext cx="11552265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Устранить</a:t>
            </a:r>
            <a:r>
              <a:rPr kumimoji="0" lang="ru-RU" altLang="ru-RU" sz="3200" b="0" i="0" u="none" strike="noStrike" cap="none" normalizeH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ошибку: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232629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 </a:t>
            </a:r>
            <a:r>
              <a:rPr kumimoji="0" lang="ru-RU" altLang="ru-RU" sz="3200" b="0" i="1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git</a:t>
            </a:r>
            <a:r>
              <a:rPr kumimoji="0" lang="ru-RU" altLang="ru-RU" sz="3200" b="0" i="1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0" i="1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config</a:t>
            </a:r>
            <a:r>
              <a:rPr kumimoji="0" lang="ru-RU" altLang="ru-RU" sz="3200" b="0" i="1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-l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 </a:t>
            </a:r>
          </a:p>
          <a:p>
            <a:pPr lvl="0">
              <a:spcAft>
                <a:spcPts val="1200"/>
              </a:spcAft>
            </a:pPr>
            <a:r>
              <a:rPr lang="ru-RU" altLang="ru-RU" sz="3200" dirty="0">
                <a:solidFill>
                  <a:srgbClr val="232629"/>
                </a:solidFill>
              </a:rPr>
              <a:t>если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результат выполнения команды: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remote.origin.url=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git@github.com:</a:t>
            </a:r>
            <a:r>
              <a:rPr kumimoji="0" lang="ru-RU" altLang="ru-RU" sz="3200" b="0" i="1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login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/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репозиторий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232629"/>
              </a:solidFill>
              <a:effectLst/>
              <a:latin typeface="+mn-lt"/>
            </a:endParaRPr>
          </a:p>
          <a:p>
            <a:pPr lvl="0">
              <a:spcAft>
                <a:spcPts val="1200"/>
              </a:spcAft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то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нужно изменить адрес таким способом: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git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config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remote.origin.url https://github.com/_login_/репозиторий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после этого выполнить команду 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git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push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-u -f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origin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master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r>
              <a:rPr lang="ru-RU" sz="3200" dirty="0">
                <a:latin typeface="+mn-lt"/>
              </a:rPr>
              <a:t>изменить </a:t>
            </a:r>
            <a:r>
              <a:rPr lang="en-US" sz="3200" i="1" dirty="0" err="1">
                <a:latin typeface="+mn-lt"/>
              </a:rPr>
              <a:t>url</a:t>
            </a:r>
            <a:r>
              <a:rPr lang="en-US" sz="3200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удалённого </a:t>
            </a:r>
            <a:r>
              <a:rPr lang="ru-RU" sz="3200" dirty="0" err="1">
                <a:latin typeface="+mn-lt"/>
              </a:rPr>
              <a:t>репозитория</a:t>
            </a:r>
            <a:r>
              <a:rPr lang="ru-RU" sz="3200" dirty="0">
                <a:latin typeface="+mn-lt"/>
              </a:rPr>
              <a:t> </a:t>
            </a:r>
            <a:r>
              <a:rPr lang="en-US" sz="3200" dirty="0" smtClean="0">
                <a:latin typeface="+mn-lt"/>
              </a:rPr>
              <a:t>:</a:t>
            </a:r>
            <a:endParaRPr lang="en-US" sz="3200" dirty="0">
              <a:latin typeface="+mn-lt"/>
            </a:endParaRPr>
          </a:p>
          <a:p>
            <a:r>
              <a:rPr lang="en-US" sz="3200" dirty="0">
                <a:latin typeface="+mn-lt"/>
              </a:rPr>
              <a:t>$ </a:t>
            </a:r>
            <a:r>
              <a:rPr lang="en-US" sz="3200" dirty="0" err="1">
                <a:latin typeface="+mn-lt"/>
              </a:rPr>
              <a:t>git</a:t>
            </a:r>
            <a:r>
              <a:rPr lang="en-US" sz="3200" dirty="0">
                <a:latin typeface="+mn-lt"/>
              </a:rPr>
              <a:t> remote set-</a:t>
            </a:r>
            <a:r>
              <a:rPr lang="en-US" sz="3200" dirty="0" err="1">
                <a:latin typeface="+mn-lt"/>
              </a:rPr>
              <a:t>url</a:t>
            </a:r>
            <a:r>
              <a:rPr lang="en-US" sz="3200" dirty="0">
                <a:latin typeface="+mn-lt"/>
              </a:rPr>
              <a:t> origin </a:t>
            </a:r>
            <a:r>
              <a:rPr lang="en-US" sz="3200" dirty="0" err="1">
                <a:latin typeface="+mn-lt"/>
              </a:rPr>
              <a:t>url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 smtClean="0">
                <a:latin typeface="+mn-lt"/>
              </a:rPr>
              <a:t>нового-</a:t>
            </a:r>
            <a:r>
              <a:rPr lang="ru-RU" sz="3200" dirty="0" err="1" smtClean="0">
                <a:latin typeface="+mn-lt"/>
              </a:rPr>
              <a:t>репозитория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016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6252"/>
            <a:ext cx="11968970" cy="4672968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229"/>
            <a:ext cx="8408020" cy="8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6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 smtClean="0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10" y="1596647"/>
            <a:ext cx="5292566" cy="365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4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9580" y="1764102"/>
            <a:ext cx="11353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Ветка в </a:t>
            </a:r>
            <a:r>
              <a:rPr lang="ru-RU" sz="3200" dirty="0" err="1" smtClean="0"/>
              <a:t>Git</a:t>
            </a:r>
            <a:r>
              <a:rPr lang="ru-RU" sz="3200" dirty="0" smtClean="0"/>
              <a:t>:</a:t>
            </a:r>
          </a:p>
          <a:p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последовательность </a:t>
            </a:r>
            <a:r>
              <a:rPr lang="ru-RU" sz="3200" dirty="0" err="1" smtClean="0"/>
              <a:t>коммитов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ссылка </a:t>
            </a:r>
            <a:r>
              <a:rPr lang="ru-RU" sz="3200" dirty="0"/>
              <a:t>на последний </a:t>
            </a:r>
            <a:r>
              <a:rPr lang="ru-RU" sz="3200" dirty="0" err="1"/>
              <a:t>коммит</a:t>
            </a:r>
            <a:r>
              <a:rPr lang="ru-RU" sz="3200" dirty="0"/>
              <a:t> в этой ветке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перемещаемый указатель(ссылка) </a:t>
            </a:r>
            <a:r>
              <a:rPr lang="ru-RU" sz="3200" dirty="0"/>
              <a:t>на один из </a:t>
            </a:r>
            <a:r>
              <a:rPr lang="ru-RU" sz="3200" dirty="0" err="1"/>
              <a:t>коммитов</a:t>
            </a:r>
            <a:r>
              <a:rPr lang="ru-RU" sz="3200" dirty="0"/>
              <a:t>. </a:t>
            </a:r>
            <a:endParaRPr lang="ru-RU" sz="3200" dirty="0" smtClean="0"/>
          </a:p>
          <a:p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330275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2915"/>
            <a:ext cx="5902638" cy="3913403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38" y="1852914"/>
            <a:ext cx="6252183" cy="391340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5912408"/>
            <a:ext cx="11961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52525"/>
                </a:solidFill>
                <a:latin typeface="Roboto"/>
              </a:rPr>
              <a:t>ветка-ссылка указывает на </a:t>
            </a:r>
            <a:r>
              <a:rPr lang="ru-RU" dirty="0" err="1">
                <a:solidFill>
                  <a:srgbClr val="252525"/>
                </a:solidFill>
                <a:latin typeface="Roboto"/>
              </a:rPr>
              <a:t>коммит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, который является последним в "потоке" </a:t>
            </a:r>
            <a:r>
              <a:rPr lang="ru-RU" dirty="0" err="1">
                <a:solidFill>
                  <a:srgbClr val="252525"/>
                </a:solidFill>
                <a:latin typeface="Roboto"/>
              </a:rPr>
              <a:t>коммитов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 в данной ветке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93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9580" y="1764102"/>
            <a:ext cx="11353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/>
              <a:t>Git</a:t>
            </a:r>
            <a:r>
              <a:rPr lang="ru-RU" sz="3200" dirty="0"/>
              <a:t> хранит специальный указатель </a:t>
            </a:r>
            <a:r>
              <a:rPr lang="ru-RU" sz="3200" b="1" dirty="0"/>
              <a:t>HEAD</a:t>
            </a:r>
            <a:r>
              <a:rPr lang="ru-RU" sz="3200" dirty="0"/>
              <a:t> (указатель на текущую локальную ветку, </a:t>
            </a:r>
            <a:r>
              <a:rPr lang="ru-RU" sz="3200" dirty="0" smtClean="0"/>
              <a:t>на </a:t>
            </a:r>
            <a:r>
              <a:rPr lang="ru-RU" sz="3200" dirty="0" err="1" smtClean="0"/>
              <a:t>коммит</a:t>
            </a:r>
            <a:r>
              <a:rPr lang="ru-RU" sz="3200" dirty="0" smtClean="0"/>
              <a:t> из которого </a:t>
            </a:r>
            <a:r>
              <a:rPr lang="ru-RU" sz="3200" dirty="0"/>
              <a:t>загружаются файлы</a:t>
            </a:r>
            <a:r>
              <a:rPr lang="ru-RU" sz="3200" dirty="0" smtClean="0"/>
              <a:t>).</a:t>
            </a:r>
          </a:p>
          <a:p>
            <a:endParaRPr lang="ru-RU" sz="3200" dirty="0"/>
          </a:p>
          <a:p>
            <a:r>
              <a:rPr lang="ru-RU" sz="3200" b="1" dirty="0"/>
              <a:t>ORIG_HEAD</a:t>
            </a:r>
            <a:r>
              <a:rPr lang="ru-RU" sz="3200" dirty="0"/>
              <a:t> – указатель, который </a:t>
            </a:r>
            <a:r>
              <a:rPr lang="ru-RU" sz="3200" dirty="0" smtClean="0"/>
              <a:t>появляется при передвижении </a:t>
            </a:r>
            <a:r>
              <a:rPr lang="ru-RU" sz="3200" b="1" dirty="0" smtClean="0"/>
              <a:t>HEAD </a:t>
            </a:r>
            <a:r>
              <a:rPr lang="ru-RU" sz="3200" dirty="0" smtClean="0"/>
              <a:t>вручную на НЕ </a:t>
            </a:r>
            <a:r>
              <a:rPr lang="ru-RU" sz="3200" dirty="0"/>
              <a:t>последний </a:t>
            </a:r>
            <a:r>
              <a:rPr lang="ru-RU" sz="3200" dirty="0" err="1"/>
              <a:t>коммит</a:t>
            </a:r>
            <a:r>
              <a:rPr lang="ru-RU" sz="3200" dirty="0"/>
              <a:t>. </a:t>
            </a:r>
            <a:r>
              <a:rPr lang="ru-RU" sz="3200" b="1" dirty="0"/>
              <a:t>ORIG_HEAD</a:t>
            </a:r>
            <a:r>
              <a:rPr lang="ru-RU" sz="3200" dirty="0"/>
              <a:t> указывает на тот же </a:t>
            </a:r>
            <a:r>
              <a:rPr lang="ru-RU" sz="3200" dirty="0" err="1"/>
              <a:t>коммит</a:t>
            </a:r>
            <a:r>
              <a:rPr lang="ru-RU" sz="3200" dirty="0"/>
              <a:t>, на который указывал </a:t>
            </a:r>
            <a:r>
              <a:rPr lang="ru-RU" sz="3200" b="1" dirty="0"/>
              <a:t>HEAD </a:t>
            </a:r>
            <a:r>
              <a:rPr lang="ru-RU" sz="3200" dirty="0"/>
              <a:t>до передвижения назад. Нужен он, чтобы мы имели возможность вернуться на хронологически последний </a:t>
            </a:r>
            <a:r>
              <a:rPr lang="ru-RU" sz="3200" dirty="0" err="1"/>
              <a:t>коммит</a:t>
            </a:r>
            <a:r>
              <a:rPr lang="ru-RU" sz="3200" dirty="0"/>
              <a:t> без существенных затрат</a:t>
            </a:r>
          </a:p>
        </p:txBody>
      </p:sp>
    </p:spTree>
    <p:extLst>
      <p:ext uri="{BB962C8B-B14F-4D97-AF65-F5344CB8AC3E}">
        <p14:creationId xmlns:p14="http://schemas.microsoft.com/office/powerpoint/2010/main" val="33441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65" y="1326083"/>
            <a:ext cx="11272036" cy="412299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2765" y="5749311"/>
            <a:ext cx="1135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007C77"/>
                </a:solidFill>
                <a:latin typeface="Roboto"/>
              </a:rPr>
              <a:t>main</a:t>
            </a:r>
            <a:r>
              <a:rPr lang="ru-RU" b="1" dirty="0">
                <a:solidFill>
                  <a:srgbClr val="007C77"/>
                </a:solidFill>
                <a:latin typeface="Roboto"/>
              </a:rPr>
              <a:t> 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– ветка по умолчанию и в то же время указатель на </a:t>
            </a:r>
            <a:r>
              <a:rPr lang="ru-RU" dirty="0" err="1">
                <a:solidFill>
                  <a:srgbClr val="252525"/>
                </a:solidFill>
                <a:latin typeface="Roboto"/>
              </a:rPr>
              <a:t>коммит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 </a:t>
            </a:r>
            <a:r>
              <a:rPr lang="ru-RU" b="1" dirty="0">
                <a:solidFill>
                  <a:srgbClr val="007C77"/>
                </a:solidFill>
                <a:latin typeface="Roboto"/>
              </a:rPr>
              <a:t>62aa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, а </a:t>
            </a:r>
            <a:r>
              <a:rPr lang="ru-RU" b="1" dirty="0">
                <a:solidFill>
                  <a:srgbClr val="007C77"/>
                </a:solidFill>
                <a:latin typeface="Roboto"/>
              </a:rPr>
              <a:t>HEAD 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– указатель на ветку, с которой мы сейчас работаем, то есть на ветку </a:t>
            </a:r>
            <a:r>
              <a:rPr lang="ru-RU" b="1" dirty="0" err="1">
                <a:solidFill>
                  <a:srgbClr val="007C77"/>
                </a:solidFill>
                <a:latin typeface="Roboto"/>
              </a:rPr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91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71308"/>
              </p:ext>
            </p:extLst>
          </p:nvPr>
        </p:nvGraphicFramePr>
        <p:xfrm>
          <a:off x="363065" y="1193800"/>
          <a:ext cx="11526830" cy="5425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113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155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branch </a:t>
                      </a:r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новой ветки (но не переключение на нее)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checkout </a:t>
                      </a:r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32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checkout </a:t>
                      </a:r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переключение на ветку </a:t>
                      </a:r>
                      <a:r>
                        <a:rPr lang="en-US" sz="32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32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переключение на предыдущую ветку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checkout -b </a:t>
                      </a:r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новой ветки и переключение на нее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branch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просмотр локальных веток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branch</a:t>
                      </a:r>
                      <a:r>
                        <a:rPr lang="ru-RU" sz="3200" dirty="0" smtClean="0"/>
                        <a:t> -</a:t>
                      </a:r>
                      <a:r>
                        <a:rPr lang="en-US" sz="3200" dirty="0" smtClean="0"/>
                        <a:t>a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просмотр локальных</a:t>
                      </a:r>
                      <a:r>
                        <a:rPr lang="en-US" sz="3200" dirty="0" smtClean="0"/>
                        <a:t> </a:t>
                      </a:r>
                      <a:r>
                        <a:rPr lang="ru-RU" sz="3200" dirty="0" smtClean="0"/>
                        <a:t>и</a:t>
                      </a:r>
                      <a:r>
                        <a:rPr lang="ru-RU" sz="3200" baseline="0" dirty="0" smtClean="0"/>
                        <a:t> удаленных</a:t>
                      </a:r>
                      <a:r>
                        <a:rPr lang="ru-RU" sz="3200" dirty="0" smtClean="0"/>
                        <a:t> веток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branch</a:t>
                      </a:r>
                      <a:r>
                        <a:rPr lang="ru-RU" sz="3200" dirty="0" smtClean="0"/>
                        <a:t> -</a:t>
                      </a:r>
                      <a:r>
                        <a:rPr lang="en-US" sz="3200" dirty="0" smtClean="0"/>
                        <a:t>r</a:t>
                      </a:r>
                      <a:endParaRPr lang="ru-RU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 smtClean="0"/>
                        <a:t>просмотр </a:t>
                      </a:r>
                      <a:r>
                        <a:rPr lang="ru-RU" sz="3200" baseline="0" dirty="0" smtClean="0"/>
                        <a:t>удаленных</a:t>
                      </a:r>
                      <a:r>
                        <a:rPr lang="ru-RU" sz="3200" dirty="0" smtClean="0"/>
                        <a:t> веток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02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0"/>
            <a:ext cx="11353800" cy="8898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 smtClean="0"/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889831"/>
            <a:ext cx="6441874" cy="596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8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191933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 smtClean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" y="1742744"/>
            <a:ext cx="12019728" cy="287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8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191933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r>
              <a:rPr lang="ru-RU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 smtClean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673" y="279838"/>
            <a:ext cx="7076436" cy="1078314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057"/>
            <a:ext cx="6654155" cy="3499167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150" y="3504732"/>
            <a:ext cx="537285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9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6363"/>
            <a:ext cx="10058400" cy="7889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0022501"/>
              </p:ext>
            </p:extLst>
          </p:nvPr>
        </p:nvGraphicFramePr>
        <p:xfrm>
          <a:off x="51881" y="1360818"/>
          <a:ext cx="11895280" cy="5120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630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322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--set-upstream origin iss53</a:t>
                      </a:r>
                    </a:p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-u origin br1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Отправить</a:t>
                      </a:r>
                      <a:r>
                        <a:rPr lang="ru-RU" sz="2800" baseline="0" dirty="0" smtClean="0"/>
                        <a:t> ветку 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iss53 (br1)</a:t>
                      </a: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aseline="0" dirty="0" smtClean="0"/>
                        <a:t>на удаленный сервер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Отправить</a:t>
                      </a:r>
                      <a:r>
                        <a:rPr lang="ru-RU" sz="2800" baseline="0" dirty="0" smtClean="0"/>
                        <a:t> все локальные ветки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fetch origin 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pull origin 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br1</a:t>
                      </a:r>
                      <a:endParaRPr lang="ru-RU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получение всех последних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изменений с удаленной ветки 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связывается с удалённым </a:t>
                      </a:r>
                      <a:r>
                        <a:rPr lang="ru-RU" sz="20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репозиторием</a:t>
                      </a:r>
                      <a:r>
                        <a:rPr lang="ru-RU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забирает из него все изменения, которых у вас пока нет и сохраняет их локально</a:t>
                      </a:r>
                      <a:endParaRPr lang="en-US" sz="20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2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автоматически сливает </a:t>
                      </a:r>
                      <a:r>
                        <a:rPr lang="ru-RU" sz="2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коммиты</a:t>
                      </a:r>
                      <a:r>
                        <a:rPr lang="ru-RU" sz="2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не давая вам сначала просмотреть их</a:t>
                      </a:r>
                      <a:endParaRPr lang="ru-RU" sz="2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origin 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iss53</a:t>
                      </a: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отправка изменений из локальной ветки 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iss53 </a:t>
                      </a:r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удаленную ветку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0" y="895350"/>
            <a:ext cx="119471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Удалённые ссылки — это ссылки (указатели) в ваших </a:t>
            </a:r>
            <a:r>
              <a:rPr lang="ru-RU" sz="2000" dirty="0" smtClean="0"/>
              <a:t>удалённых </a:t>
            </a:r>
            <a:r>
              <a:rPr lang="ru-RU" sz="2000" dirty="0" err="1" smtClean="0"/>
              <a:t>репозиториях</a:t>
            </a:r>
            <a:r>
              <a:rPr lang="ru-RU" sz="2000" dirty="0"/>
              <a:t>, включая ветки, теги и т.д.</a:t>
            </a:r>
          </a:p>
        </p:txBody>
      </p:sp>
    </p:spTree>
    <p:extLst>
      <p:ext uri="{BB962C8B-B14F-4D97-AF65-F5344CB8AC3E}">
        <p14:creationId xmlns:p14="http://schemas.microsoft.com/office/powerpoint/2010/main" val="251796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6363"/>
            <a:ext cx="10058400" cy="7889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17743066"/>
              </p:ext>
            </p:extLst>
          </p:nvPr>
        </p:nvGraphicFramePr>
        <p:xfrm>
          <a:off x="124924" y="1818018"/>
          <a:ext cx="11895280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381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570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stash</a:t>
                      </a:r>
                      <a:endParaRPr lang="ru-RU" sz="320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stash</a:t>
                      </a:r>
                      <a:r>
                        <a:rPr lang="ru-RU" sz="3200" baseline="0" dirty="0" smtClean="0"/>
                        <a:t> </a:t>
                      </a:r>
                      <a:r>
                        <a:rPr lang="en-US" sz="3200" baseline="0" dirty="0" smtClean="0"/>
                        <a:t>list</a:t>
                      </a:r>
                      <a:endParaRPr lang="ru-RU" sz="3200" baseline="0" dirty="0" smtClean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 smtClean="0"/>
                        <a:t>git</a:t>
                      </a:r>
                      <a:r>
                        <a:rPr lang="en-US" sz="3200" dirty="0" smtClean="0"/>
                        <a:t> stash pop</a:t>
                      </a:r>
                      <a:endParaRPr lang="ru-RU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 smtClean="0"/>
                        <a:t>Отложить</a:t>
                      </a:r>
                      <a:r>
                        <a:rPr lang="ru-RU" sz="3200" baseline="0" dirty="0" smtClean="0"/>
                        <a:t> изменения, не добавляя их в </a:t>
                      </a:r>
                      <a:r>
                        <a:rPr lang="ru-RU" sz="3200" baseline="0" dirty="0" err="1" smtClean="0"/>
                        <a:t>коммит</a:t>
                      </a:r>
                      <a:endParaRPr lang="en-US" sz="3200" baseline="0" dirty="0" smtClean="0"/>
                    </a:p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писок всех отложенных изменений</a:t>
                      </a:r>
                      <a:endParaRPr lang="en-US" sz="32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3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Возврат отложенных изменений в рабочую копию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47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70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7477" y="216132"/>
            <a:ext cx="10058400" cy="10224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Просмотр состояния ветки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977404"/>
              </p:ext>
            </p:extLst>
          </p:nvPr>
        </p:nvGraphicFramePr>
        <p:xfrm>
          <a:off x="0" y="1772050"/>
          <a:ext cx="12192000" cy="4419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180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739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status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Просмотр состояния файлов ветки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log</a:t>
                      </a: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&lt;ключи&gt;  </a:t>
                      </a:r>
                    </a:p>
                    <a:p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Ключи: -&lt;число&gt;, </a:t>
                      </a:r>
                    </a:p>
                    <a:p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--pretty=&lt;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значение&gt; , 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-p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--graph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--all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Просмотр истории </a:t>
                      </a:r>
                      <a:r>
                        <a:rPr lang="ru-RU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коммитов</a:t>
                      </a:r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ветки в различных форматах</a:t>
                      </a:r>
                      <a:endParaRPr lang="en-US" sz="2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8055">
                <a:tc>
                  <a:txBody>
                    <a:bodyPr/>
                    <a:lstStyle/>
                    <a:p>
                      <a:r>
                        <a:rPr lang="en-US" sz="2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diff</a:t>
                      </a: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&lt;ключи&gt; &lt;путь до файла&gt; &lt;путь до файла&gt;</a:t>
                      </a:r>
                    </a:p>
                    <a:p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Ключи: 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--diff-filter=&lt;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метка&gt;, 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--word-diff=color</a:t>
                      </a:r>
                    </a:p>
                    <a:p>
                      <a:endParaRPr lang="en-US" sz="2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400" dirty="0" err="1" smtClean="0"/>
                        <a:t>git</a:t>
                      </a:r>
                      <a:r>
                        <a:rPr lang="en-US" sz="2400" dirty="0" smtClean="0"/>
                        <a:t> diff HEAD^</a:t>
                      </a:r>
                      <a:endParaRPr lang="ru-RU" sz="2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Просмотр различий между двумя </a:t>
                      </a:r>
                      <a:r>
                        <a:rPr lang="ru-RU" sz="2800" dirty="0" err="1" smtClean="0"/>
                        <a:t>коммитами</a:t>
                      </a:r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endParaRPr lang="en-US" sz="2800" dirty="0" smtClean="0"/>
                    </a:p>
                    <a:p>
                      <a:r>
                        <a:rPr lang="ru-RU" sz="2800" dirty="0" smtClean="0"/>
                        <a:t>Просмотр</a:t>
                      </a:r>
                      <a:r>
                        <a:rPr lang="ru-RU" sz="2800" baseline="0" dirty="0" smtClean="0"/>
                        <a:t> изменений после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ru-RU" sz="2800" baseline="0" dirty="0" smtClean="0"/>
                        <a:t>команды </a:t>
                      </a:r>
                      <a:r>
                        <a:rPr lang="en-US" sz="2800" baseline="0" dirty="0" smtClean="0"/>
                        <a:t>commit</a:t>
                      </a:r>
                      <a:r>
                        <a:rPr lang="ru-RU" sz="2800" baseline="0" dirty="0" smtClean="0"/>
                        <a:t> или</a:t>
                      </a:r>
                      <a:r>
                        <a:rPr lang="en-US" sz="2800" baseline="0" dirty="0" smtClean="0"/>
                        <a:t>  pull</a:t>
                      </a:r>
                      <a:endParaRPr lang="ru-RU" sz="2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21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7477" y="216132"/>
            <a:ext cx="10058400" cy="10224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165497"/>
              </p:ext>
            </p:extLst>
          </p:nvPr>
        </p:nvGraphicFramePr>
        <p:xfrm>
          <a:off x="0" y="1451620"/>
          <a:ext cx="12192000" cy="5059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180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739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branch -m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oldname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newname</a:t>
                      </a:r>
                      <a:endParaRPr lang="en-US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push origin :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oldname</a:t>
                      </a:r>
                      <a:endParaRPr lang="ru-RU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push origin -u </a:t>
                      </a:r>
                      <a:r>
                        <a:rPr lang="en-US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newname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Переименовать</a:t>
                      </a:r>
                      <a:r>
                        <a:rPr lang="ru-RU" sz="2800" baseline="0" dirty="0" smtClean="0"/>
                        <a:t> удаленную ветку</a:t>
                      </a:r>
                      <a:r>
                        <a:rPr lang="en-US" sz="2800" baseline="0" dirty="0" smtClean="0"/>
                        <a:t>: </a:t>
                      </a:r>
                      <a:endParaRPr lang="ru-RU" sz="2800" baseline="0" dirty="0" smtClean="0"/>
                    </a:p>
                    <a:p>
                      <a:r>
                        <a:rPr lang="ru-RU" sz="2800" baseline="0" dirty="0" smtClean="0"/>
                        <a:t>Переименовать локальную ветку</a:t>
                      </a:r>
                    </a:p>
                    <a:p>
                      <a:r>
                        <a:rPr lang="ru-RU" sz="2800" baseline="0" dirty="0" smtClean="0"/>
                        <a:t>Удалить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ветку 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oldname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которую вы хотите переименовать</a:t>
                      </a:r>
                    </a:p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Загрузить (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push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ветку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newname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 удаленный </a:t>
                      </a:r>
                      <a:r>
                        <a:rPr lang="ru-RU" sz="2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merge fix_bug_001 </a:t>
                      </a:r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мержим</a:t>
                      </a:r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ветки (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fix_bug_001 c master)</a:t>
                      </a:r>
                      <a:r>
                        <a:rPr lang="ru-RU" sz="2800" dirty="0" smtClean="0"/>
                        <a:t> -объединение ветки с активной веткой</a:t>
                      </a:r>
                      <a:endParaRPr lang="en-US" sz="2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8055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branch -d fix_bug_001</a:t>
                      </a:r>
                      <a:endParaRPr lang="ru-RU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удаляем ветку</a:t>
                      </a:r>
                      <a:endParaRPr lang="ru-RU" sz="2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8055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git</a:t>
                      </a:r>
                      <a:r>
                        <a:rPr lang="en-US" sz="2800" dirty="0" smtClean="0"/>
                        <a:t> reset --hard ORIG_HEAD </a:t>
                      </a:r>
                      <a:endParaRPr lang="ru-RU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smtClean="0"/>
                        <a:t>сброс произошедшего слияния, ветки вернулись в исходное до состояние</a:t>
                      </a:r>
                      <a:endParaRPr lang="ru-RU" sz="2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2345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57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7869" b="73284"/>
          <a:stretch/>
        </p:blipFill>
        <p:spPr>
          <a:xfrm>
            <a:off x="590338" y="1971073"/>
            <a:ext cx="10735861" cy="358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9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80" b="31994"/>
          <a:stretch/>
        </p:blipFill>
        <p:spPr>
          <a:xfrm>
            <a:off x="46907" y="1906546"/>
            <a:ext cx="12159145" cy="36821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479685" y="5869712"/>
            <a:ext cx="9311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Загрузить (</a:t>
            </a:r>
            <a:r>
              <a:rPr lang="ru-RU" dirty="0" err="1"/>
              <a:t>push</a:t>
            </a:r>
            <a:r>
              <a:rPr lang="ru-RU" dirty="0"/>
              <a:t>) ветку </a:t>
            </a:r>
            <a:r>
              <a:rPr lang="en-US" dirty="0" smtClean="0"/>
              <a:t>iss53 </a:t>
            </a:r>
            <a:r>
              <a:rPr lang="ru-RU" dirty="0" smtClean="0"/>
              <a:t>в</a:t>
            </a:r>
            <a:r>
              <a:rPr lang="ru-RU" dirty="0"/>
              <a:t> удаленный </a:t>
            </a:r>
            <a:r>
              <a:rPr lang="ru-RU" dirty="0" err="1"/>
              <a:t>репозиторий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9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24" r="40747"/>
          <a:stretch/>
        </p:blipFill>
        <p:spPr>
          <a:xfrm>
            <a:off x="954873" y="1737360"/>
            <a:ext cx="9210906" cy="363992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 flipH="1">
            <a:off x="306750" y="5729435"/>
            <a:ext cx="5689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Получить список локальных и удаленных веток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4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76" y="1737360"/>
            <a:ext cx="8004335" cy="482962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 flipH="1">
            <a:off x="9090986" y="2990538"/>
            <a:ext cx="19642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Загрузить (</a:t>
            </a:r>
            <a:r>
              <a:rPr lang="ru-RU" dirty="0" err="1"/>
              <a:t>push</a:t>
            </a:r>
            <a:r>
              <a:rPr lang="ru-RU" dirty="0"/>
              <a:t>) ветку </a:t>
            </a:r>
            <a:r>
              <a:rPr lang="ru-RU" dirty="0" smtClean="0"/>
              <a:t>в</a:t>
            </a:r>
            <a:r>
              <a:rPr lang="ru-RU" dirty="0"/>
              <a:t> удаленный </a:t>
            </a:r>
            <a:r>
              <a:rPr lang="ru-RU" dirty="0" err="1"/>
              <a:t>репозиторий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0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87" y="1583219"/>
            <a:ext cx="4125941" cy="527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4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7" y="1737360"/>
            <a:ext cx="7733949" cy="47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7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12226487" cy="439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8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59" y="2143072"/>
            <a:ext cx="11659051" cy="245123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89612" y="5271914"/>
            <a:ext cx="90790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ru-RU" dirty="0"/>
              <a:t>отправка изменений из локальной ветки </a:t>
            </a:r>
            <a:r>
              <a:rPr lang="en-US" dirty="0"/>
              <a:t>iss53 </a:t>
            </a:r>
            <a:r>
              <a:rPr lang="ru-RU" dirty="0"/>
              <a:t>в удаленную ветку</a:t>
            </a:r>
            <a:r>
              <a:rPr lang="en-US" dirty="0"/>
              <a:t> br1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550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675" y="0"/>
            <a:ext cx="9920125" cy="58319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28" y="595238"/>
            <a:ext cx="7129389" cy="617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8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0"/>
            <a:ext cx="10058400" cy="56089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/>
              <a:t>Файл конфигурации .</a:t>
            </a:r>
            <a:r>
              <a:rPr lang="en-US" dirty="0" err="1"/>
              <a:t>gitignore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4741" y="804844"/>
            <a:ext cx="98360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можно описывать шаблоны игнорируемых </a:t>
            </a:r>
            <a:r>
              <a:rPr lang="ru-RU" sz="2800" dirty="0" smtClean="0"/>
              <a:t>в сводке </a:t>
            </a:r>
            <a:r>
              <a:rPr lang="en-US" sz="2800" dirty="0" err="1" smtClean="0"/>
              <a:t>git</a:t>
            </a:r>
            <a:r>
              <a:rPr lang="en-US" sz="2800" dirty="0" smtClean="0"/>
              <a:t> status </a:t>
            </a:r>
            <a:r>
              <a:rPr lang="ru-RU" sz="2800" dirty="0" smtClean="0"/>
              <a:t>файлов </a:t>
            </a:r>
            <a:r>
              <a:rPr lang="ru-RU" sz="2800" dirty="0"/>
              <a:t>определенного </a:t>
            </a:r>
            <a:r>
              <a:rPr lang="ru-RU" sz="2800" dirty="0" smtClean="0"/>
              <a:t>формата</a:t>
            </a:r>
            <a:r>
              <a:rPr lang="en-US" sz="2800" dirty="0"/>
              <a:t>: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17" y="1865443"/>
            <a:ext cx="4148139" cy="426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6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0"/>
            <a:ext cx="10058400" cy="56089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– </a:t>
            </a:r>
            <a:r>
              <a:rPr lang="ru-RU" dirty="0" smtClean="0">
                <a:solidFill>
                  <a:schemeClr val="tx1"/>
                </a:solidFill>
              </a:rPr>
              <a:t>основные команды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967949"/>
              </p:ext>
            </p:extLst>
          </p:nvPr>
        </p:nvGraphicFramePr>
        <p:xfrm>
          <a:off x="0" y="746760"/>
          <a:ext cx="11951970" cy="6111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451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068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</a:rPr>
                        <a:t> </a:t>
                      </a:r>
                      <a:endParaRPr lang="ru-RU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 pull </a:t>
                      </a:r>
                      <a:endParaRPr lang="ru-RU" sz="2800" b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забрать изменения с удалённого сервера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 push </a:t>
                      </a:r>
                      <a:endParaRPr lang="ru-RU" sz="2800" b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отправить локальные изменения на удалённый сервер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 branch </a:t>
                      </a:r>
                      <a:endParaRPr lang="ru-RU" sz="2800" b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показать текущую ветку/список веток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err="1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merge</a:t>
                      </a:r>
                      <a:r>
                        <a:rPr lang="en-US" sz="2800" b="0" dirty="0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smtClean="0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ru-RU" sz="2800" b="0" dirty="0" err="1" smtClean="0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branch_name</a:t>
                      </a:r>
                      <a:r>
                        <a:rPr lang="ru-RU" sz="2800" b="0" dirty="0" smtClean="0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влить в текущую ветку </a:t>
                      </a:r>
                      <a:r>
                        <a:rPr lang="ru-RU" sz="2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указанную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b="0" dirty="0" err="1" smtClean="0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branch_name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добавить в текущее состояние изменённые файлы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commit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зафиксировать изменения и сделать </a:t>
                      </a:r>
                      <a:r>
                        <a:rPr lang="ru-RU" sz="2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коммит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kern="12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stash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временно сохранить 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локальные изменения не создавая </a:t>
                      </a:r>
                      <a:r>
                        <a:rPr lang="ru-RU" sz="2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коммит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24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вернуться в чистый рабочий каталог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1200" dirty="0" err="1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en-US" sz="2800" b="0" kern="1200" dirty="0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rebase</a:t>
                      </a:r>
                      <a:r>
                        <a:rPr lang="ru-RU" sz="2800" b="0" kern="1200" dirty="0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&lt;</a:t>
                      </a:r>
                      <a:r>
                        <a:rPr lang="ru-RU" sz="2800" b="0" kern="1200" dirty="0" err="1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branch_name</a:t>
                      </a:r>
                      <a:r>
                        <a:rPr lang="ru-RU" sz="2800" b="0" kern="1200" dirty="0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&gt;</a:t>
                      </a:r>
                      <a:endParaRPr lang="ru-RU" sz="2800" b="0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удалит и последовательно переместит </a:t>
                      </a:r>
                      <a:r>
                        <a:rPr lang="ru-RU" sz="240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коммиты</a:t>
                      </a:r>
                      <a:r>
                        <a:rPr lang="en-US" sz="24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ru-RU" sz="24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из текущей ветки в указанную</a:t>
                      </a:r>
                      <a:endParaRPr lang="ru-RU" sz="2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1200" dirty="0" err="1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en-US" sz="2800" b="0" kern="1200" baseline="0" dirty="0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reset</a:t>
                      </a:r>
                      <a:endParaRPr lang="ru-RU" sz="2800" b="0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отмен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локальных изменений в </a:t>
                      </a:r>
                      <a:r>
                        <a:rPr lang="ru-RU" sz="24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репозитории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--soft, --mixed, --hard</a:t>
                      </a: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1200" dirty="0" err="1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en-US" sz="2800" b="0" kern="1200" dirty="0" smtClean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revert</a:t>
                      </a:r>
                      <a:endParaRPr lang="ru-RU" sz="2800" b="0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отменяет внесенные в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коммите</a:t>
                      </a:r>
                      <a:r>
                        <a:rPr lang="ru-RU" sz="2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изменения и добавляет новый </a:t>
                      </a:r>
                      <a:r>
                        <a:rPr lang="ru-RU" sz="2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 полученным содержимым</a:t>
                      </a:r>
                      <a:endParaRPr lang="ru-RU" sz="2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47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- </a:t>
            </a:r>
            <a:r>
              <a:rPr lang="ru-RU" dirty="0" smtClean="0"/>
              <a:t>Рекомендации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500" y="1845734"/>
            <a:ext cx="11194676" cy="4326466"/>
          </a:xfrm>
        </p:spPr>
        <p:txBody>
          <a:bodyPr>
            <a:noAutofit/>
          </a:bodyPr>
          <a:lstStyle/>
          <a:p>
            <a:r>
              <a:rPr lang="ru-RU" sz="3200" dirty="0"/>
              <a:t>Хорошие манеры:</a:t>
            </a:r>
          </a:p>
          <a:p>
            <a:r>
              <a:rPr lang="ru-RU" sz="3200" dirty="0"/>
              <a:t>● </a:t>
            </a:r>
            <a:r>
              <a:rPr lang="ru-RU" sz="3200" dirty="0" err="1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3200" dirty="0" smtClean="0"/>
              <a:t>понятные </a:t>
            </a:r>
            <a:r>
              <a:rPr lang="ru-RU" sz="3200" dirty="0"/>
              <a:t>и цельные изменения</a:t>
            </a:r>
          </a:p>
          <a:p>
            <a:r>
              <a:rPr lang="ru-RU" sz="3200" dirty="0"/>
              <a:t>●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3200" dirty="0" smtClean="0"/>
              <a:t>чаще</a:t>
            </a:r>
            <a:r>
              <a:rPr lang="ru-RU" sz="3200" dirty="0"/>
              <a:t>, но не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3200" dirty="0" smtClean="0"/>
              <a:t>недоделанную </a:t>
            </a:r>
            <a:r>
              <a:rPr lang="ru-RU" sz="3200" dirty="0"/>
              <a:t>работу</a:t>
            </a:r>
          </a:p>
          <a:p>
            <a:r>
              <a:rPr lang="ru-RU" sz="3200" dirty="0"/>
              <a:t>● тестируйте ваш код перед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  <a:p>
            <a:r>
              <a:rPr lang="ru-RU" sz="3200" dirty="0"/>
              <a:t>● пишите понятные сообщения к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  <a:p>
            <a:r>
              <a:rPr lang="ru-RU" sz="3200" dirty="0"/>
              <a:t>● используйте </a:t>
            </a:r>
            <a:r>
              <a:rPr lang="en-US" sz="3200" dirty="0" err="1"/>
              <a:t>git</a:t>
            </a:r>
            <a:r>
              <a:rPr lang="en-US" sz="3200" dirty="0"/>
              <a:t> flow</a:t>
            </a:r>
          </a:p>
          <a:p>
            <a:r>
              <a:rPr lang="ru-RU" sz="3200" dirty="0"/>
              <a:t>● помечать релизы с помощью тегов (почитайте про </a:t>
            </a:r>
            <a:r>
              <a:rPr lang="ru-RU" sz="3200" dirty="0" err="1"/>
              <a:t>semver</a:t>
            </a:r>
            <a:r>
              <a:rPr lang="ru-RU" sz="3200" dirty="0"/>
              <a:t>)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514350" indent="-514350">
              <a:buAutoNum type="arabicPeriod"/>
            </a:pP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16176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9274</TotalTime>
  <Words>4020</Words>
  <Application>Microsoft Office PowerPoint</Application>
  <PresentationFormat>Широкоэкранный</PresentationFormat>
  <Paragraphs>1152</Paragraphs>
  <Slides>89</Slides>
  <Notes>83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89</vt:i4>
      </vt:variant>
    </vt:vector>
  </HeadingPairs>
  <TitlesOfParts>
    <vt:vector size="99" baseType="lpstr">
      <vt:lpstr>Arial</vt:lpstr>
      <vt:lpstr>Calibri</vt:lpstr>
      <vt:lpstr>Calibri Light</vt:lpstr>
      <vt:lpstr>Courier New</vt:lpstr>
      <vt:lpstr>Inter</vt:lpstr>
      <vt:lpstr>Roboto</vt:lpstr>
      <vt:lpstr>Times New Roman</vt:lpstr>
      <vt:lpstr>TT Norms Pro</vt:lpstr>
      <vt:lpstr>Wingdings</vt:lpstr>
      <vt:lpstr>Retrospect</vt:lpstr>
      <vt:lpstr>Избранные главы информатики</vt:lpstr>
      <vt:lpstr>Основы CI/CD, Git</vt:lpstr>
      <vt:lpstr>Waterfall</vt:lpstr>
      <vt:lpstr>Agile ( SCRUM, Kanban, Lean…)</vt:lpstr>
      <vt:lpstr>DevOps - модель CAMS</vt:lpstr>
      <vt:lpstr>Жизненный цикл DevOps</vt:lpstr>
      <vt:lpstr>Основы CI/CD</vt:lpstr>
      <vt:lpstr>Основы CI/CD - задачи</vt:lpstr>
      <vt:lpstr>Основы CI/CD - принципы</vt:lpstr>
      <vt:lpstr>Основы CI/CD – этапы</vt:lpstr>
      <vt:lpstr>Основы CI/CD – этапы</vt:lpstr>
      <vt:lpstr>CI-пайплайн (Continuous Integration Pipeline</vt:lpstr>
      <vt:lpstr>Из чего состоит CI-пайплайн?</vt:lpstr>
      <vt:lpstr>Пример CI-пайплайна на GitHub Actions </vt:lpstr>
      <vt:lpstr>CD-пайплайн (Continuous Delivery/Deployment Pipeline)</vt:lpstr>
      <vt:lpstr>Два варианта CD: </vt:lpstr>
      <vt:lpstr>Из чего состоит CD-пайплайн? </vt:lpstr>
      <vt:lpstr>Пример CD-пайплайна (GitHub Actions + AWS): </vt:lpstr>
      <vt:lpstr>Презентация PowerPoint</vt:lpstr>
      <vt:lpstr>Презентация PowerPoint</vt:lpstr>
      <vt:lpstr>Основы CI/CD – преимущества и недостатки</vt:lpstr>
      <vt:lpstr>Основы CI/CD – инструменты </vt:lpstr>
      <vt:lpstr>CI/CD  vs DevOps </vt:lpstr>
      <vt:lpstr>Другие DevOps-практики, связанные с CI/CD</vt:lpstr>
      <vt:lpstr>Полезные ссылки</vt:lpstr>
      <vt:lpstr>Git и системы контроля версий</vt:lpstr>
      <vt:lpstr>Системы контроля версий</vt:lpstr>
      <vt:lpstr>Локальная система контроля версий</vt:lpstr>
      <vt:lpstr>Локальная система контроля версий</vt:lpstr>
      <vt:lpstr>Централизованная система контроля версий</vt:lpstr>
      <vt:lpstr>Централизованная система контроля версий</vt:lpstr>
      <vt:lpstr>Распределенная система контроля версий</vt:lpstr>
      <vt:lpstr>Распределенная система контроля версий</vt:lpstr>
      <vt:lpstr>Системы контроля версий - возможности</vt:lpstr>
      <vt:lpstr>Git и системы контроля версий</vt:lpstr>
      <vt:lpstr>Git - Полезные ссылки</vt:lpstr>
      <vt:lpstr>Git – установка  </vt:lpstr>
      <vt:lpstr>Git – основные понятия</vt:lpstr>
      <vt:lpstr>Git – основные понятия</vt:lpstr>
      <vt:lpstr>Git – настройка</vt:lpstr>
      <vt:lpstr>Git – настройка</vt:lpstr>
      <vt:lpstr>Git – настройка</vt:lpstr>
      <vt:lpstr>Git – help  </vt:lpstr>
      <vt:lpstr>Git – начало работы.  Создание удаленного репозитория</vt:lpstr>
      <vt:lpstr>Презентация PowerPoint</vt:lpstr>
      <vt:lpstr>Git –  Создание локального репозитория</vt:lpstr>
      <vt:lpstr>Git –  Создание локального репозитория</vt:lpstr>
      <vt:lpstr>Git –  Создание локального репозитория</vt:lpstr>
      <vt:lpstr>Git – архитектура</vt:lpstr>
      <vt:lpstr>Git – состояния файлов</vt:lpstr>
      <vt:lpstr>Git – состояния файлов</vt:lpstr>
      <vt:lpstr>Git – объекты (.git/objects/)</vt:lpstr>
      <vt:lpstr>Git – индексирование файлов</vt:lpstr>
      <vt:lpstr>Git – индексирование файлов</vt:lpstr>
      <vt:lpstr>Git –  индексирование файлов</vt:lpstr>
      <vt:lpstr>Git –  Создание коммита</vt:lpstr>
      <vt:lpstr>Git –  Создание коммита</vt:lpstr>
      <vt:lpstr>Git –  Создание коммита</vt:lpstr>
      <vt:lpstr>Git</vt:lpstr>
      <vt:lpstr>Git </vt:lpstr>
      <vt:lpstr>Git –  Создание коммита</vt:lpstr>
      <vt:lpstr>Git –  Создание коммита</vt:lpstr>
      <vt:lpstr>Презентация PowerPoint</vt:lpstr>
      <vt:lpstr>Git –  Создание коммита</vt:lpstr>
      <vt:lpstr>Git –  Создание коммита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Работа с удаленными ветками</vt:lpstr>
      <vt:lpstr>Git – Работа с удаленными ветками</vt:lpstr>
      <vt:lpstr>Git – Просмотр состояния ветки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Файл конфигурации .gitignore</vt:lpstr>
      <vt:lpstr>Git – основные команды</vt:lpstr>
      <vt:lpstr>Git - Рекомендации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Zhvakina</dc:creator>
  <cp:lastModifiedBy>ANNA</cp:lastModifiedBy>
  <cp:revision>624</cp:revision>
  <cp:lastPrinted>2016-01-26T13:20:45Z</cp:lastPrinted>
  <dcterms:created xsi:type="dcterms:W3CDTF">2015-03-09T11:51:14Z</dcterms:created>
  <dcterms:modified xsi:type="dcterms:W3CDTF">2025-02-10T20:48:27Z</dcterms:modified>
</cp:coreProperties>
</file>